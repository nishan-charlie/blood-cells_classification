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notesMasterIdLst>
    <p:notesMasterId r:id="rId47"/>
  </p:notesMasterIdLst>
  <p:sldIdLst>
    <p:sldId id="559" r:id="rId5"/>
    <p:sldId id="591" r:id="rId6"/>
    <p:sldId id="2648" r:id="rId7"/>
    <p:sldId id="588" r:id="rId8"/>
    <p:sldId id="2623" r:id="rId9"/>
    <p:sldId id="332" r:id="rId10"/>
    <p:sldId id="595" r:id="rId11"/>
    <p:sldId id="634" r:id="rId12"/>
    <p:sldId id="381" r:id="rId13"/>
    <p:sldId id="392" r:id="rId14"/>
    <p:sldId id="2624" r:id="rId15"/>
    <p:sldId id="393" r:id="rId16"/>
    <p:sldId id="599" r:id="rId17"/>
    <p:sldId id="590" r:id="rId18"/>
    <p:sldId id="2653" r:id="rId19"/>
    <p:sldId id="375" r:id="rId20"/>
    <p:sldId id="317" r:id="rId21"/>
    <p:sldId id="330" r:id="rId22"/>
    <p:sldId id="605" r:id="rId23"/>
    <p:sldId id="2654" r:id="rId24"/>
    <p:sldId id="291" r:id="rId25"/>
    <p:sldId id="373" r:id="rId26"/>
    <p:sldId id="2645" r:id="rId27"/>
    <p:sldId id="606" r:id="rId28"/>
    <p:sldId id="350" r:id="rId29"/>
    <p:sldId id="351" r:id="rId30"/>
    <p:sldId id="623" r:id="rId31"/>
    <p:sldId id="369" r:id="rId32"/>
    <p:sldId id="270" r:id="rId33"/>
    <p:sldId id="273" r:id="rId34"/>
    <p:sldId id="2650" r:id="rId35"/>
    <p:sldId id="2652" r:id="rId36"/>
    <p:sldId id="611" r:id="rId37"/>
    <p:sldId id="290" r:id="rId38"/>
    <p:sldId id="550" r:id="rId39"/>
    <p:sldId id="597" r:id="rId40"/>
    <p:sldId id="292" r:id="rId41"/>
    <p:sldId id="645" r:id="rId42"/>
    <p:sldId id="287" r:id="rId43"/>
    <p:sldId id="2639" r:id="rId44"/>
    <p:sldId id="2651" r:id="rId45"/>
    <p:sldId id="268"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731" autoAdjust="0"/>
    <p:restoredTop sz="94328"/>
  </p:normalViewPr>
  <p:slideViewPr>
    <p:cSldViewPr snapToGrid="0" snapToObjects="1">
      <p:cViewPr varScale="1">
        <p:scale>
          <a:sx n="65" d="100"/>
          <a:sy n="65" d="100"/>
        </p:scale>
        <p:origin x="84" y="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hyperlink" Target="https://www.phrasebank.manchester.ac.uk/" TargetMode="Externa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hyperlink" Target="https://www.phrasebank.manchester.ac.uk/" TargetMode="External"/><Relationship Id="rId7" Type="http://schemas.openxmlformats.org/officeDocument/2006/relationships/image" Target="../media/image26.sv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B1370C6-F452-411A-80D2-EBFA17D2566F}"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BCA1E304-E889-4B8C-BE2D-6FDE0C4A62F6}">
      <dgm:prSet/>
      <dgm:spPr/>
      <dgm:t>
        <a:bodyPr/>
        <a:lstStyle/>
        <a:p>
          <a:pPr>
            <a:lnSpc>
              <a:spcPct val="100000"/>
            </a:lnSpc>
          </a:pPr>
          <a:r>
            <a:rPr lang="en-GB" dirty="0"/>
            <a:t>Your  literature review, should be   organized around ideas, not the sources themselves as an annotated bibliography would be organized. This means that you will not just simply list your sources and go into detail about each one of them, one at a time. As you read widely but selectively in your topic area, consider instead what themes or issues connect your sources together.</a:t>
          </a:r>
          <a:endParaRPr lang="en-US" dirty="0"/>
        </a:p>
      </dgm:t>
    </dgm:pt>
    <dgm:pt modelId="{E7AA4971-1DFF-4982-BC19-C3515F2515E2}" type="parTrans" cxnId="{DF4BC617-86F6-45E1-96A6-56ED651138A4}">
      <dgm:prSet/>
      <dgm:spPr/>
      <dgm:t>
        <a:bodyPr/>
        <a:lstStyle/>
        <a:p>
          <a:endParaRPr lang="en-US"/>
        </a:p>
      </dgm:t>
    </dgm:pt>
    <dgm:pt modelId="{A7C4A701-E2C2-4D74-B241-4896D2F0A354}" type="sibTrans" cxnId="{DF4BC617-86F6-45E1-96A6-56ED651138A4}">
      <dgm:prSet/>
      <dgm:spPr/>
      <dgm:t>
        <a:bodyPr/>
        <a:lstStyle/>
        <a:p>
          <a:endParaRPr lang="en-US"/>
        </a:p>
      </dgm:t>
    </dgm:pt>
    <dgm:pt modelId="{E70B668E-EDD9-4AD5-81AA-EDB08D1B8160}">
      <dgm:prSet/>
      <dgm:spPr/>
      <dgm:t>
        <a:bodyPr/>
        <a:lstStyle/>
        <a:p>
          <a:pPr>
            <a:lnSpc>
              <a:spcPct val="100000"/>
            </a:lnSpc>
          </a:pPr>
          <a:r>
            <a:rPr lang="en-GB" dirty="0"/>
            <a:t>Consider what is the most effective way of presenting the information? What are the most important topics, subtopics, etc., that your review needs to include? And in what order should you present them? Develop an organization for your review early, (it can be changed as your work develops but you must have a guiding organisation from the start).</a:t>
          </a:r>
          <a:endParaRPr lang="en-US" dirty="0"/>
        </a:p>
      </dgm:t>
    </dgm:pt>
    <dgm:pt modelId="{61CFB5CE-2A04-4B4C-BB62-EB0E5F5417C7}" type="parTrans" cxnId="{B93D7331-E02D-445F-A724-A68AA021998F}">
      <dgm:prSet/>
      <dgm:spPr/>
      <dgm:t>
        <a:bodyPr/>
        <a:lstStyle/>
        <a:p>
          <a:endParaRPr lang="en-US"/>
        </a:p>
      </dgm:t>
    </dgm:pt>
    <dgm:pt modelId="{D0DDA0EA-F197-43FD-A342-FFF3766D11C5}" type="sibTrans" cxnId="{B93D7331-E02D-445F-A724-A68AA021998F}">
      <dgm:prSet/>
      <dgm:spPr/>
      <dgm:t>
        <a:bodyPr/>
        <a:lstStyle/>
        <a:p>
          <a:endParaRPr lang="en-US"/>
        </a:p>
      </dgm:t>
    </dgm:pt>
    <dgm:pt modelId="{6B3EF100-FC08-49E3-AB91-FEAB57319D7F}" type="pres">
      <dgm:prSet presAssocID="{2B1370C6-F452-411A-80D2-EBFA17D2566F}" presName="vert0" presStyleCnt="0">
        <dgm:presLayoutVars>
          <dgm:dir/>
          <dgm:animOne val="branch"/>
          <dgm:animLvl val="lvl"/>
        </dgm:presLayoutVars>
      </dgm:prSet>
      <dgm:spPr/>
    </dgm:pt>
    <dgm:pt modelId="{9A213909-BFAA-4FD3-85B4-3EE62257795E}" type="pres">
      <dgm:prSet presAssocID="{BCA1E304-E889-4B8C-BE2D-6FDE0C4A62F6}" presName="thickLine" presStyleLbl="alignNode1" presStyleIdx="0" presStyleCnt="2"/>
      <dgm:spPr/>
    </dgm:pt>
    <dgm:pt modelId="{F4FCFFF9-FD8B-453C-B523-2373B94B6306}" type="pres">
      <dgm:prSet presAssocID="{BCA1E304-E889-4B8C-BE2D-6FDE0C4A62F6}" presName="horz1" presStyleCnt="0"/>
      <dgm:spPr/>
    </dgm:pt>
    <dgm:pt modelId="{58A41235-117C-48CA-8F12-DE7B4E707FE6}" type="pres">
      <dgm:prSet presAssocID="{BCA1E304-E889-4B8C-BE2D-6FDE0C4A62F6}" presName="tx1" presStyleLbl="revTx" presStyleIdx="0" presStyleCnt="2"/>
      <dgm:spPr/>
    </dgm:pt>
    <dgm:pt modelId="{51A82FD8-2ED5-49A6-BE2B-A27920E9935A}" type="pres">
      <dgm:prSet presAssocID="{BCA1E304-E889-4B8C-BE2D-6FDE0C4A62F6}" presName="vert1" presStyleCnt="0"/>
      <dgm:spPr/>
    </dgm:pt>
    <dgm:pt modelId="{0C7996EA-6712-437D-95DA-E070EB66CA3B}" type="pres">
      <dgm:prSet presAssocID="{E70B668E-EDD9-4AD5-81AA-EDB08D1B8160}" presName="thickLine" presStyleLbl="alignNode1" presStyleIdx="1" presStyleCnt="2"/>
      <dgm:spPr/>
    </dgm:pt>
    <dgm:pt modelId="{AA423C83-E889-420D-9159-BC3817FEC4D8}" type="pres">
      <dgm:prSet presAssocID="{E70B668E-EDD9-4AD5-81AA-EDB08D1B8160}" presName="horz1" presStyleCnt="0"/>
      <dgm:spPr/>
    </dgm:pt>
    <dgm:pt modelId="{8061F3A1-A67D-44E5-B137-4F68869FEDF7}" type="pres">
      <dgm:prSet presAssocID="{E70B668E-EDD9-4AD5-81AA-EDB08D1B8160}" presName="tx1" presStyleLbl="revTx" presStyleIdx="1" presStyleCnt="2"/>
      <dgm:spPr/>
    </dgm:pt>
    <dgm:pt modelId="{06500A16-8F45-4F3A-8957-670640BFAFA8}" type="pres">
      <dgm:prSet presAssocID="{E70B668E-EDD9-4AD5-81AA-EDB08D1B8160}" presName="vert1" presStyleCnt="0"/>
      <dgm:spPr/>
    </dgm:pt>
  </dgm:ptLst>
  <dgm:cxnLst>
    <dgm:cxn modelId="{DF4BC617-86F6-45E1-96A6-56ED651138A4}" srcId="{2B1370C6-F452-411A-80D2-EBFA17D2566F}" destId="{BCA1E304-E889-4B8C-BE2D-6FDE0C4A62F6}" srcOrd="0" destOrd="0" parTransId="{E7AA4971-1DFF-4982-BC19-C3515F2515E2}" sibTransId="{A7C4A701-E2C2-4D74-B241-4896D2F0A354}"/>
    <dgm:cxn modelId="{B93D7331-E02D-445F-A724-A68AA021998F}" srcId="{2B1370C6-F452-411A-80D2-EBFA17D2566F}" destId="{E70B668E-EDD9-4AD5-81AA-EDB08D1B8160}" srcOrd="1" destOrd="0" parTransId="{61CFB5CE-2A04-4B4C-BB62-EB0E5F5417C7}" sibTransId="{D0DDA0EA-F197-43FD-A342-FFF3766D11C5}"/>
    <dgm:cxn modelId="{918E01E0-7CBC-414B-9B2E-8A6C946E761E}" type="presOf" srcId="{2B1370C6-F452-411A-80D2-EBFA17D2566F}" destId="{6B3EF100-FC08-49E3-AB91-FEAB57319D7F}" srcOrd="0" destOrd="0" presId="urn:microsoft.com/office/officeart/2008/layout/LinedList"/>
    <dgm:cxn modelId="{DDA333E7-43EB-45C1-8B4A-B81B7A6A1EB6}" type="presOf" srcId="{BCA1E304-E889-4B8C-BE2D-6FDE0C4A62F6}" destId="{58A41235-117C-48CA-8F12-DE7B4E707FE6}" srcOrd="0" destOrd="0" presId="urn:microsoft.com/office/officeart/2008/layout/LinedList"/>
    <dgm:cxn modelId="{875A2FFE-2F44-4AB9-B810-B1692BA8E76A}" type="presOf" srcId="{E70B668E-EDD9-4AD5-81AA-EDB08D1B8160}" destId="{8061F3A1-A67D-44E5-B137-4F68869FEDF7}" srcOrd="0" destOrd="0" presId="urn:microsoft.com/office/officeart/2008/layout/LinedList"/>
    <dgm:cxn modelId="{BECAEA9D-D720-4675-943E-926EB08EF5AE}" type="presParOf" srcId="{6B3EF100-FC08-49E3-AB91-FEAB57319D7F}" destId="{9A213909-BFAA-4FD3-85B4-3EE62257795E}" srcOrd="0" destOrd="0" presId="urn:microsoft.com/office/officeart/2008/layout/LinedList"/>
    <dgm:cxn modelId="{5B49D0F0-945B-42DE-B7DE-C48F22D6D1FA}" type="presParOf" srcId="{6B3EF100-FC08-49E3-AB91-FEAB57319D7F}" destId="{F4FCFFF9-FD8B-453C-B523-2373B94B6306}" srcOrd="1" destOrd="0" presId="urn:microsoft.com/office/officeart/2008/layout/LinedList"/>
    <dgm:cxn modelId="{EB93CC84-B75B-40C6-A59B-2831BB172227}" type="presParOf" srcId="{F4FCFFF9-FD8B-453C-B523-2373B94B6306}" destId="{58A41235-117C-48CA-8F12-DE7B4E707FE6}" srcOrd="0" destOrd="0" presId="urn:microsoft.com/office/officeart/2008/layout/LinedList"/>
    <dgm:cxn modelId="{A17845C0-6E81-4D89-AAB2-E17FACFE4243}" type="presParOf" srcId="{F4FCFFF9-FD8B-453C-B523-2373B94B6306}" destId="{51A82FD8-2ED5-49A6-BE2B-A27920E9935A}" srcOrd="1" destOrd="0" presId="urn:microsoft.com/office/officeart/2008/layout/LinedList"/>
    <dgm:cxn modelId="{F3059CBE-DDAE-40A5-A70E-221D150135D6}" type="presParOf" srcId="{6B3EF100-FC08-49E3-AB91-FEAB57319D7F}" destId="{0C7996EA-6712-437D-95DA-E070EB66CA3B}" srcOrd="2" destOrd="0" presId="urn:microsoft.com/office/officeart/2008/layout/LinedList"/>
    <dgm:cxn modelId="{4070A864-5883-4A20-8471-E41902F2B6CC}" type="presParOf" srcId="{6B3EF100-FC08-49E3-AB91-FEAB57319D7F}" destId="{AA423C83-E889-420D-9159-BC3817FEC4D8}" srcOrd="3" destOrd="0" presId="urn:microsoft.com/office/officeart/2008/layout/LinedList"/>
    <dgm:cxn modelId="{9AA1EC09-701F-4791-8FD0-9738DE5AFAE9}" type="presParOf" srcId="{AA423C83-E889-420D-9159-BC3817FEC4D8}" destId="{8061F3A1-A67D-44E5-B137-4F68869FEDF7}" srcOrd="0" destOrd="0" presId="urn:microsoft.com/office/officeart/2008/layout/LinedList"/>
    <dgm:cxn modelId="{88EEB9A4-0C38-492D-9E7B-FC2387127554}" type="presParOf" srcId="{AA423C83-E889-420D-9159-BC3817FEC4D8}" destId="{06500A16-8F45-4F3A-8957-670640BFAFA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A0B9BB-77FA-458A-978F-66539741C46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35A61D8-FFEB-4DCB-BFF0-ED9496844BC3}">
      <dgm:prSet/>
      <dgm:spPr/>
      <dgm:t>
        <a:bodyPr/>
        <a:lstStyle/>
        <a:p>
          <a:r>
            <a:rPr lang="en-US"/>
            <a:t>Go to </a:t>
          </a:r>
          <a:r>
            <a:rPr lang="en-GB">
              <a:hlinkClick xmlns:r="http://schemas.openxmlformats.org/officeDocument/2006/relationships" r:id="rId1"/>
            </a:rPr>
            <a:t>Academic Phrasebank | The University of Manchester</a:t>
          </a:r>
          <a:endParaRPr lang="en-US"/>
        </a:p>
      </dgm:t>
    </dgm:pt>
    <dgm:pt modelId="{4C15C04A-FD8E-4F61-AA63-9148E51CC049}" type="parTrans" cxnId="{4E6B5849-E665-43D7-B856-EF6CE5C33E85}">
      <dgm:prSet/>
      <dgm:spPr/>
      <dgm:t>
        <a:bodyPr/>
        <a:lstStyle/>
        <a:p>
          <a:endParaRPr lang="en-US"/>
        </a:p>
      </dgm:t>
    </dgm:pt>
    <dgm:pt modelId="{DC1091BD-F490-4253-BED1-AC3CFEF23E7C}" type="sibTrans" cxnId="{4E6B5849-E665-43D7-B856-EF6CE5C33E85}">
      <dgm:prSet/>
      <dgm:spPr/>
      <dgm:t>
        <a:bodyPr/>
        <a:lstStyle/>
        <a:p>
          <a:endParaRPr lang="en-US"/>
        </a:p>
      </dgm:t>
    </dgm:pt>
    <dgm:pt modelId="{E00BB333-8E7B-4FA7-B3C8-7A1BD141D938}">
      <dgm:prSet/>
      <dgm:spPr/>
      <dgm:t>
        <a:bodyPr/>
        <a:lstStyle/>
        <a:p>
          <a:r>
            <a:rPr lang="en-US"/>
            <a:t>Choose one of these starter phrases</a:t>
          </a:r>
          <a:br>
            <a:rPr lang="en-US"/>
          </a:br>
          <a:r>
            <a:rPr lang="en-US"/>
            <a:t>to write about your literature review.</a:t>
          </a:r>
        </a:p>
      </dgm:t>
    </dgm:pt>
    <dgm:pt modelId="{F1441F6C-2BF2-4E08-B0C4-D64C9C042735}" type="parTrans" cxnId="{5C98F36A-5E33-4E66-B7DC-5EB659AC3A1C}">
      <dgm:prSet/>
      <dgm:spPr/>
      <dgm:t>
        <a:bodyPr/>
        <a:lstStyle/>
        <a:p>
          <a:endParaRPr lang="en-US"/>
        </a:p>
      </dgm:t>
    </dgm:pt>
    <dgm:pt modelId="{42FEF9CF-9505-471D-A03C-7CF2E6C330AE}" type="sibTrans" cxnId="{5C98F36A-5E33-4E66-B7DC-5EB659AC3A1C}">
      <dgm:prSet/>
      <dgm:spPr/>
      <dgm:t>
        <a:bodyPr/>
        <a:lstStyle/>
        <a:p>
          <a:endParaRPr lang="en-US"/>
        </a:p>
      </dgm:t>
    </dgm:pt>
    <dgm:pt modelId="{BCE129A0-295D-4985-8320-3E647B555DBF}">
      <dgm:prSet/>
      <dgm:spPr/>
      <dgm:t>
        <a:bodyPr/>
        <a:lstStyle/>
        <a:p>
          <a:r>
            <a:rPr lang="en-US" dirty="0"/>
            <a:t>Look at the other phrases for writing other sections including introduction, methodology and conclusion. </a:t>
          </a:r>
        </a:p>
      </dgm:t>
    </dgm:pt>
    <dgm:pt modelId="{FE5C0B27-4D3E-416A-84BA-C63278B7EC84}" type="parTrans" cxnId="{A3661169-1A72-4AEF-8DD7-75817708A5D6}">
      <dgm:prSet/>
      <dgm:spPr/>
      <dgm:t>
        <a:bodyPr/>
        <a:lstStyle/>
        <a:p>
          <a:endParaRPr lang="en-US"/>
        </a:p>
      </dgm:t>
    </dgm:pt>
    <dgm:pt modelId="{B73EA556-5087-4D13-9CF2-0640AB4D2EF2}" type="sibTrans" cxnId="{A3661169-1A72-4AEF-8DD7-75817708A5D6}">
      <dgm:prSet/>
      <dgm:spPr/>
      <dgm:t>
        <a:bodyPr/>
        <a:lstStyle/>
        <a:p>
          <a:endParaRPr lang="en-US"/>
        </a:p>
      </dgm:t>
    </dgm:pt>
    <dgm:pt modelId="{3D048530-3D1F-4BFB-92C6-DD9815BCF9D6}">
      <dgm:prSet/>
      <dgm:spPr/>
      <dgm:t>
        <a:bodyPr/>
        <a:lstStyle/>
        <a:p>
          <a:r>
            <a:rPr lang="en-US"/>
            <a:t>You can use any of the phrases for your own work, you don’t have to cite and reference these phrases.</a:t>
          </a:r>
        </a:p>
      </dgm:t>
    </dgm:pt>
    <dgm:pt modelId="{4252C4E5-C601-487A-B71F-C29D262C87E0}" type="parTrans" cxnId="{EA6C3BD5-6E1F-4FC0-BE0F-D45ACE2FD740}">
      <dgm:prSet/>
      <dgm:spPr/>
      <dgm:t>
        <a:bodyPr/>
        <a:lstStyle/>
        <a:p>
          <a:endParaRPr lang="en-US"/>
        </a:p>
      </dgm:t>
    </dgm:pt>
    <dgm:pt modelId="{526A7EEA-08EF-4871-B1E1-0753C7F4A670}" type="sibTrans" cxnId="{EA6C3BD5-6E1F-4FC0-BE0F-D45ACE2FD740}">
      <dgm:prSet/>
      <dgm:spPr/>
      <dgm:t>
        <a:bodyPr/>
        <a:lstStyle/>
        <a:p>
          <a:endParaRPr lang="en-US"/>
        </a:p>
      </dgm:t>
    </dgm:pt>
    <dgm:pt modelId="{CB49B57C-8C44-441D-9AF7-AB022B21CEFA}" type="pres">
      <dgm:prSet presAssocID="{39A0B9BB-77FA-458A-978F-66539741C469}" presName="root" presStyleCnt="0">
        <dgm:presLayoutVars>
          <dgm:dir/>
          <dgm:resizeHandles val="exact"/>
        </dgm:presLayoutVars>
      </dgm:prSet>
      <dgm:spPr/>
    </dgm:pt>
    <dgm:pt modelId="{92CADD40-F74D-4EC4-A58D-52D89753B8EE}" type="pres">
      <dgm:prSet presAssocID="{E35A61D8-FFEB-4DCB-BFF0-ED9496844BC3}" presName="compNode" presStyleCnt="0"/>
      <dgm:spPr/>
    </dgm:pt>
    <dgm:pt modelId="{F7C35EFF-6A26-447F-B0A7-C3735D23CEB5}" type="pres">
      <dgm:prSet presAssocID="{E35A61D8-FFEB-4DCB-BFF0-ED9496844BC3}" presName="bgRect" presStyleLbl="bgShp" presStyleIdx="0" presStyleCnt="4"/>
      <dgm:spPr/>
    </dgm:pt>
    <dgm:pt modelId="{31DE6379-A414-4A96-BE78-80B499FC6290}" type="pres">
      <dgm:prSet presAssocID="{E35A61D8-FFEB-4DCB-BFF0-ED9496844BC3}"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75904CC7-0B7C-4027-BF0B-D5644EAD9B66}" type="pres">
      <dgm:prSet presAssocID="{E35A61D8-FFEB-4DCB-BFF0-ED9496844BC3}" presName="spaceRect" presStyleCnt="0"/>
      <dgm:spPr/>
    </dgm:pt>
    <dgm:pt modelId="{CDC83029-BE4D-4D1C-9A97-66A02301138C}" type="pres">
      <dgm:prSet presAssocID="{E35A61D8-FFEB-4DCB-BFF0-ED9496844BC3}" presName="parTx" presStyleLbl="revTx" presStyleIdx="0" presStyleCnt="4">
        <dgm:presLayoutVars>
          <dgm:chMax val="0"/>
          <dgm:chPref val="0"/>
        </dgm:presLayoutVars>
      </dgm:prSet>
      <dgm:spPr/>
    </dgm:pt>
    <dgm:pt modelId="{0FCF7E31-947D-4E70-AC98-3A3DDA563965}" type="pres">
      <dgm:prSet presAssocID="{DC1091BD-F490-4253-BED1-AC3CFEF23E7C}" presName="sibTrans" presStyleCnt="0"/>
      <dgm:spPr/>
    </dgm:pt>
    <dgm:pt modelId="{CD4E3078-9FD6-47C7-A1C5-0B94349EA87F}" type="pres">
      <dgm:prSet presAssocID="{E00BB333-8E7B-4FA7-B3C8-7A1BD141D938}" presName="compNode" presStyleCnt="0"/>
      <dgm:spPr/>
    </dgm:pt>
    <dgm:pt modelId="{61D85686-38CA-4801-89CB-574D4CEA90EA}" type="pres">
      <dgm:prSet presAssocID="{E00BB333-8E7B-4FA7-B3C8-7A1BD141D938}" presName="bgRect" presStyleLbl="bgShp" presStyleIdx="1" presStyleCnt="4"/>
      <dgm:spPr/>
    </dgm:pt>
    <dgm:pt modelId="{C36311EA-256D-48A4-A168-AD1CDAE840C3}" type="pres">
      <dgm:prSet presAssocID="{E00BB333-8E7B-4FA7-B3C8-7A1BD141D938}"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Open Book"/>
        </a:ext>
      </dgm:extLst>
    </dgm:pt>
    <dgm:pt modelId="{3AA65B82-7269-4367-9EAE-FBDD0B2F852D}" type="pres">
      <dgm:prSet presAssocID="{E00BB333-8E7B-4FA7-B3C8-7A1BD141D938}" presName="spaceRect" presStyleCnt="0"/>
      <dgm:spPr/>
    </dgm:pt>
    <dgm:pt modelId="{540C24C1-6D6F-4B75-BFBC-29D8FAAE210D}" type="pres">
      <dgm:prSet presAssocID="{E00BB333-8E7B-4FA7-B3C8-7A1BD141D938}" presName="parTx" presStyleLbl="revTx" presStyleIdx="1" presStyleCnt="4">
        <dgm:presLayoutVars>
          <dgm:chMax val="0"/>
          <dgm:chPref val="0"/>
        </dgm:presLayoutVars>
      </dgm:prSet>
      <dgm:spPr/>
    </dgm:pt>
    <dgm:pt modelId="{5E92D735-DD3B-4634-9ED5-FD810700E4B2}" type="pres">
      <dgm:prSet presAssocID="{42FEF9CF-9505-471D-A03C-7CF2E6C330AE}" presName="sibTrans" presStyleCnt="0"/>
      <dgm:spPr/>
    </dgm:pt>
    <dgm:pt modelId="{D3940161-F94A-49B4-8FAD-3ADE7AEA5DA7}" type="pres">
      <dgm:prSet presAssocID="{BCE129A0-295D-4985-8320-3E647B555DBF}" presName="compNode" presStyleCnt="0"/>
      <dgm:spPr/>
    </dgm:pt>
    <dgm:pt modelId="{6D4B68B7-7310-46C1-B30F-6FB8CDC698AF}" type="pres">
      <dgm:prSet presAssocID="{BCE129A0-295D-4985-8320-3E647B555DBF}" presName="bgRect" presStyleLbl="bgShp" presStyleIdx="2" presStyleCnt="4"/>
      <dgm:spPr/>
    </dgm:pt>
    <dgm:pt modelId="{969846EF-F7B9-485A-AD27-7B740953F63C}" type="pres">
      <dgm:prSet presAssocID="{BCE129A0-295D-4985-8320-3E647B555DBF}"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Quotes"/>
        </a:ext>
      </dgm:extLst>
    </dgm:pt>
    <dgm:pt modelId="{57570678-45ED-4D15-AC02-901DF31A1327}" type="pres">
      <dgm:prSet presAssocID="{BCE129A0-295D-4985-8320-3E647B555DBF}" presName="spaceRect" presStyleCnt="0"/>
      <dgm:spPr/>
    </dgm:pt>
    <dgm:pt modelId="{E25A8A2A-BFD0-4215-817D-584D5FEE8736}" type="pres">
      <dgm:prSet presAssocID="{BCE129A0-295D-4985-8320-3E647B555DBF}" presName="parTx" presStyleLbl="revTx" presStyleIdx="2" presStyleCnt="4">
        <dgm:presLayoutVars>
          <dgm:chMax val="0"/>
          <dgm:chPref val="0"/>
        </dgm:presLayoutVars>
      </dgm:prSet>
      <dgm:spPr/>
    </dgm:pt>
    <dgm:pt modelId="{BC1CBF3A-BEB6-49BF-A354-36413A0B6F9E}" type="pres">
      <dgm:prSet presAssocID="{B73EA556-5087-4D13-9CF2-0640AB4D2EF2}" presName="sibTrans" presStyleCnt="0"/>
      <dgm:spPr/>
    </dgm:pt>
    <dgm:pt modelId="{BE87A3FB-C3C7-49F3-8D7D-59382AD44AB6}" type="pres">
      <dgm:prSet presAssocID="{3D048530-3D1F-4BFB-92C6-DD9815BCF9D6}" presName="compNode" presStyleCnt="0"/>
      <dgm:spPr/>
    </dgm:pt>
    <dgm:pt modelId="{EB918EB6-EC91-460C-B688-912B809E4738}" type="pres">
      <dgm:prSet presAssocID="{3D048530-3D1F-4BFB-92C6-DD9815BCF9D6}" presName="bgRect" presStyleLbl="bgShp" presStyleIdx="3" presStyleCnt="4"/>
      <dgm:spPr/>
    </dgm:pt>
    <dgm:pt modelId="{7DBE5114-717D-439A-9D3B-F051963CA4E0}" type="pres">
      <dgm:prSet presAssocID="{3D048530-3D1F-4BFB-92C6-DD9815BCF9D6}"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Open Quotation Mark"/>
        </a:ext>
      </dgm:extLst>
    </dgm:pt>
    <dgm:pt modelId="{24FF3ACC-6450-41BE-AF25-CC24B1B210FB}" type="pres">
      <dgm:prSet presAssocID="{3D048530-3D1F-4BFB-92C6-DD9815BCF9D6}" presName="spaceRect" presStyleCnt="0"/>
      <dgm:spPr/>
    </dgm:pt>
    <dgm:pt modelId="{292CF7F8-D65A-4D5F-9F88-90AD838C5766}" type="pres">
      <dgm:prSet presAssocID="{3D048530-3D1F-4BFB-92C6-DD9815BCF9D6}" presName="parTx" presStyleLbl="revTx" presStyleIdx="3" presStyleCnt="4">
        <dgm:presLayoutVars>
          <dgm:chMax val="0"/>
          <dgm:chPref val="0"/>
        </dgm:presLayoutVars>
      </dgm:prSet>
      <dgm:spPr/>
    </dgm:pt>
  </dgm:ptLst>
  <dgm:cxnLst>
    <dgm:cxn modelId="{D1BD5702-EA10-4A38-9766-FC28B66B6EE4}" type="presOf" srcId="{3D048530-3D1F-4BFB-92C6-DD9815BCF9D6}" destId="{292CF7F8-D65A-4D5F-9F88-90AD838C5766}" srcOrd="0" destOrd="0" presId="urn:microsoft.com/office/officeart/2018/2/layout/IconVerticalSolidList"/>
    <dgm:cxn modelId="{1232433E-1892-4327-8FEC-831C3B049991}" type="presOf" srcId="{E35A61D8-FFEB-4DCB-BFF0-ED9496844BC3}" destId="{CDC83029-BE4D-4D1C-9A97-66A02301138C}" srcOrd="0" destOrd="0" presId="urn:microsoft.com/office/officeart/2018/2/layout/IconVerticalSolidList"/>
    <dgm:cxn modelId="{ADD9EB3F-1F3C-4254-BFB8-0E7C4CAB1F7E}" type="presOf" srcId="{39A0B9BB-77FA-458A-978F-66539741C469}" destId="{CB49B57C-8C44-441D-9AF7-AB022B21CEFA}" srcOrd="0" destOrd="0" presId="urn:microsoft.com/office/officeart/2018/2/layout/IconVerticalSolidList"/>
    <dgm:cxn modelId="{A3661169-1A72-4AEF-8DD7-75817708A5D6}" srcId="{39A0B9BB-77FA-458A-978F-66539741C469}" destId="{BCE129A0-295D-4985-8320-3E647B555DBF}" srcOrd="2" destOrd="0" parTransId="{FE5C0B27-4D3E-416A-84BA-C63278B7EC84}" sibTransId="{B73EA556-5087-4D13-9CF2-0640AB4D2EF2}"/>
    <dgm:cxn modelId="{4E6B5849-E665-43D7-B856-EF6CE5C33E85}" srcId="{39A0B9BB-77FA-458A-978F-66539741C469}" destId="{E35A61D8-FFEB-4DCB-BFF0-ED9496844BC3}" srcOrd="0" destOrd="0" parTransId="{4C15C04A-FD8E-4F61-AA63-9148E51CC049}" sibTransId="{DC1091BD-F490-4253-BED1-AC3CFEF23E7C}"/>
    <dgm:cxn modelId="{5C98F36A-5E33-4E66-B7DC-5EB659AC3A1C}" srcId="{39A0B9BB-77FA-458A-978F-66539741C469}" destId="{E00BB333-8E7B-4FA7-B3C8-7A1BD141D938}" srcOrd="1" destOrd="0" parTransId="{F1441F6C-2BF2-4E08-B0C4-D64C9C042735}" sibTransId="{42FEF9CF-9505-471D-A03C-7CF2E6C330AE}"/>
    <dgm:cxn modelId="{B8218053-A1B2-4484-B97F-B2D4E800A718}" type="presOf" srcId="{BCE129A0-295D-4985-8320-3E647B555DBF}" destId="{E25A8A2A-BFD0-4215-817D-584D5FEE8736}" srcOrd="0" destOrd="0" presId="urn:microsoft.com/office/officeart/2018/2/layout/IconVerticalSolidList"/>
    <dgm:cxn modelId="{EA6C3BD5-6E1F-4FC0-BE0F-D45ACE2FD740}" srcId="{39A0B9BB-77FA-458A-978F-66539741C469}" destId="{3D048530-3D1F-4BFB-92C6-DD9815BCF9D6}" srcOrd="3" destOrd="0" parTransId="{4252C4E5-C601-487A-B71F-C29D262C87E0}" sibTransId="{526A7EEA-08EF-4871-B1E1-0753C7F4A670}"/>
    <dgm:cxn modelId="{D60BF4DE-4F4D-4480-837E-E70F8DD16246}" type="presOf" srcId="{E00BB333-8E7B-4FA7-B3C8-7A1BD141D938}" destId="{540C24C1-6D6F-4B75-BFBC-29D8FAAE210D}" srcOrd="0" destOrd="0" presId="urn:microsoft.com/office/officeart/2018/2/layout/IconVerticalSolidList"/>
    <dgm:cxn modelId="{6FCA09F5-D615-4B0C-92E7-0E0DDF61CA1F}" type="presParOf" srcId="{CB49B57C-8C44-441D-9AF7-AB022B21CEFA}" destId="{92CADD40-F74D-4EC4-A58D-52D89753B8EE}" srcOrd="0" destOrd="0" presId="urn:microsoft.com/office/officeart/2018/2/layout/IconVerticalSolidList"/>
    <dgm:cxn modelId="{AC1E6B4E-3891-4386-95C6-D5E5CB4B96E1}" type="presParOf" srcId="{92CADD40-F74D-4EC4-A58D-52D89753B8EE}" destId="{F7C35EFF-6A26-447F-B0A7-C3735D23CEB5}" srcOrd="0" destOrd="0" presId="urn:microsoft.com/office/officeart/2018/2/layout/IconVerticalSolidList"/>
    <dgm:cxn modelId="{31B5A4F7-7403-4650-9355-F5C09B8A3474}" type="presParOf" srcId="{92CADD40-F74D-4EC4-A58D-52D89753B8EE}" destId="{31DE6379-A414-4A96-BE78-80B499FC6290}" srcOrd="1" destOrd="0" presId="urn:microsoft.com/office/officeart/2018/2/layout/IconVerticalSolidList"/>
    <dgm:cxn modelId="{CDA0E5D7-9A2B-4D27-B060-676AECB27970}" type="presParOf" srcId="{92CADD40-F74D-4EC4-A58D-52D89753B8EE}" destId="{75904CC7-0B7C-4027-BF0B-D5644EAD9B66}" srcOrd="2" destOrd="0" presId="urn:microsoft.com/office/officeart/2018/2/layout/IconVerticalSolidList"/>
    <dgm:cxn modelId="{188D2643-5635-454F-A378-143F02A2277C}" type="presParOf" srcId="{92CADD40-F74D-4EC4-A58D-52D89753B8EE}" destId="{CDC83029-BE4D-4D1C-9A97-66A02301138C}" srcOrd="3" destOrd="0" presId="urn:microsoft.com/office/officeart/2018/2/layout/IconVerticalSolidList"/>
    <dgm:cxn modelId="{571AC533-0E6C-4392-9019-82351719E8F7}" type="presParOf" srcId="{CB49B57C-8C44-441D-9AF7-AB022B21CEFA}" destId="{0FCF7E31-947D-4E70-AC98-3A3DDA563965}" srcOrd="1" destOrd="0" presId="urn:microsoft.com/office/officeart/2018/2/layout/IconVerticalSolidList"/>
    <dgm:cxn modelId="{C92B7BBF-F9BD-4DAC-A135-1711150DAAD9}" type="presParOf" srcId="{CB49B57C-8C44-441D-9AF7-AB022B21CEFA}" destId="{CD4E3078-9FD6-47C7-A1C5-0B94349EA87F}" srcOrd="2" destOrd="0" presId="urn:microsoft.com/office/officeart/2018/2/layout/IconVerticalSolidList"/>
    <dgm:cxn modelId="{4821FBD3-1102-4E3E-AFEE-0FF57A2DE5BC}" type="presParOf" srcId="{CD4E3078-9FD6-47C7-A1C5-0B94349EA87F}" destId="{61D85686-38CA-4801-89CB-574D4CEA90EA}" srcOrd="0" destOrd="0" presId="urn:microsoft.com/office/officeart/2018/2/layout/IconVerticalSolidList"/>
    <dgm:cxn modelId="{C6768056-C20F-4D25-8120-2319A74B24BB}" type="presParOf" srcId="{CD4E3078-9FD6-47C7-A1C5-0B94349EA87F}" destId="{C36311EA-256D-48A4-A168-AD1CDAE840C3}" srcOrd="1" destOrd="0" presId="urn:microsoft.com/office/officeart/2018/2/layout/IconVerticalSolidList"/>
    <dgm:cxn modelId="{386BE63F-CFE7-45E8-9D19-30917F0B1D8C}" type="presParOf" srcId="{CD4E3078-9FD6-47C7-A1C5-0B94349EA87F}" destId="{3AA65B82-7269-4367-9EAE-FBDD0B2F852D}" srcOrd="2" destOrd="0" presId="urn:microsoft.com/office/officeart/2018/2/layout/IconVerticalSolidList"/>
    <dgm:cxn modelId="{D8342126-03AB-4548-88C0-F8D45C01CDC5}" type="presParOf" srcId="{CD4E3078-9FD6-47C7-A1C5-0B94349EA87F}" destId="{540C24C1-6D6F-4B75-BFBC-29D8FAAE210D}" srcOrd="3" destOrd="0" presId="urn:microsoft.com/office/officeart/2018/2/layout/IconVerticalSolidList"/>
    <dgm:cxn modelId="{D8FD5E34-A043-4F66-BB59-7B91893F085D}" type="presParOf" srcId="{CB49B57C-8C44-441D-9AF7-AB022B21CEFA}" destId="{5E92D735-DD3B-4634-9ED5-FD810700E4B2}" srcOrd="3" destOrd="0" presId="urn:microsoft.com/office/officeart/2018/2/layout/IconVerticalSolidList"/>
    <dgm:cxn modelId="{E0A93D26-D070-4467-9319-F0C6058FDFDB}" type="presParOf" srcId="{CB49B57C-8C44-441D-9AF7-AB022B21CEFA}" destId="{D3940161-F94A-49B4-8FAD-3ADE7AEA5DA7}" srcOrd="4" destOrd="0" presId="urn:microsoft.com/office/officeart/2018/2/layout/IconVerticalSolidList"/>
    <dgm:cxn modelId="{99F472F5-7A1E-4EE2-8176-3DC10A68816A}" type="presParOf" srcId="{D3940161-F94A-49B4-8FAD-3ADE7AEA5DA7}" destId="{6D4B68B7-7310-46C1-B30F-6FB8CDC698AF}" srcOrd="0" destOrd="0" presId="urn:microsoft.com/office/officeart/2018/2/layout/IconVerticalSolidList"/>
    <dgm:cxn modelId="{CD075BF1-B9D6-450E-8C9D-7CF747BCD8AB}" type="presParOf" srcId="{D3940161-F94A-49B4-8FAD-3ADE7AEA5DA7}" destId="{969846EF-F7B9-485A-AD27-7B740953F63C}" srcOrd="1" destOrd="0" presId="urn:microsoft.com/office/officeart/2018/2/layout/IconVerticalSolidList"/>
    <dgm:cxn modelId="{88C449C3-0BEB-4D1B-AD24-5178A7BC917C}" type="presParOf" srcId="{D3940161-F94A-49B4-8FAD-3ADE7AEA5DA7}" destId="{57570678-45ED-4D15-AC02-901DF31A1327}" srcOrd="2" destOrd="0" presId="urn:microsoft.com/office/officeart/2018/2/layout/IconVerticalSolidList"/>
    <dgm:cxn modelId="{5A14F81A-D7FC-4DFA-9752-FA6B02C14D9E}" type="presParOf" srcId="{D3940161-F94A-49B4-8FAD-3ADE7AEA5DA7}" destId="{E25A8A2A-BFD0-4215-817D-584D5FEE8736}" srcOrd="3" destOrd="0" presId="urn:microsoft.com/office/officeart/2018/2/layout/IconVerticalSolidList"/>
    <dgm:cxn modelId="{AFD2AD87-5DD5-46DE-9610-99DA96F45249}" type="presParOf" srcId="{CB49B57C-8C44-441D-9AF7-AB022B21CEFA}" destId="{BC1CBF3A-BEB6-49BF-A354-36413A0B6F9E}" srcOrd="5" destOrd="0" presId="urn:microsoft.com/office/officeart/2018/2/layout/IconVerticalSolidList"/>
    <dgm:cxn modelId="{96F1EDAD-B6F1-4D30-A738-B04BE26C324F}" type="presParOf" srcId="{CB49B57C-8C44-441D-9AF7-AB022B21CEFA}" destId="{BE87A3FB-C3C7-49F3-8D7D-59382AD44AB6}" srcOrd="6" destOrd="0" presId="urn:microsoft.com/office/officeart/2018/2/layout/IconVerticalSolidList"/>
    <dgm:cxn modelId="{DAAE0784-B971-407F-B8A8-C179E04104D4}" type="presParOf" srcId="{BE87A3FB-C3C7-49F3-8D7D-59382AD44AB6}" destId="{EB918EB6-EC91-460C-B688-912B809E4738}" srcOrd="0" destOrd="0" presId="urn:microsoft.com/office/officeart/2018/2/layout/IconVerticalSolidList"/>
    <dgm:cxn modelId="{C840417B-C7D1-4115-A706-97AC425B0B2C}" type="presParOf" srcId="{BE87A3FB-C3C7-49F3-8D7D-59382AD44AB6}" destId="{7DBE5114-717D-439A-9D3B-F051963CA4E0}" srcOrd="1" destOrd="0" presId="urn:microsoft.com/office/officeart/2018/2/layout/IconVerticalSolidList"/>
    <dgm:cxn modelId="{E7F62604-2B2A-4451-88A7-B9533B6B43B7}" type="presParOf" srcId="{BE87A3FB-C3C7-49F3-8D7D-59382AD44AB6}" destId="{24FF3ACC-6450-41BE-AF25-CC24B1B210FB}" srcOrd="2" destOrd="0" presId="urn:microsoft.com/office/officeart/2018/2/layout/IconVerticalSolidList"/>
    <dgm:cxn modelId="{469BBFC7-3015-47E5-9AE2-E8F1F3CC09D2}" type="presParOf" srcId="{BE87A3FB-C3C7-49F3-8D7D-59382AD44AB6}" destId="{292CF7F8-D65A-4D5F-9F88-90AD838C57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213909-BFAA-4FD3-85B4-3EE62257795E}">
      <dsp:nvSpPr>
        <dsp:cNvPr id="0" name=""/>
        <dsp:cNvSpPr/>
      </dsp:nvSpPr>
      <dsp:spPr>
        <a:xfrm>
          <a:off x="0" y="0"/>
          <a:ext cx="6692813" cy="0"/>
        </a:xfrm>
        <a:prstGeom prst="line">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w="12700" cap="rnd" cmpd="sng" algn="ctr">
          <a:solidFill>
            <a:schemeClr val="accent2">
              <a:hueOff val="0"/>
              <a:satOff val="0"/>
              <a:lumOff val="0"/>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8A41235-117C-48CA-8F12-DE7B4E707FE6}">
      <dsp:nvSpPr>
        <dsp:cNvPr id="0" name=""/>
        <dsp:cNvSpPr/>
      </dsp:nvSpPr>
      <dsp:spPr>
        <a:xfrm>
          <a:off x="0" y="0"/>
          <a:ext cx="6692813" cy="2411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100000"/>
            </a:lnSpc>
            <a:spcBef>
              <a:spcPct val="0"/>
            </a:spcBef>
            <a:spcAft>
              <a:spcPct val="35000"/>
            </a:spcAft>
            <a:buNone/>
          </a:pPr>
          <a:r>
            <a:rPr lang="en-GB" sz="1900" kern="1200" dirty="0"/>
            <a:t>Your  literature review, should be   organized around ideas, not the sources themselves as an annotated bibliography would be organized. This means that you will not just simply list your sources and go into detail about each one of them, one at a time. As you read widely but selectively in your topic area, consider instead what themes or issues connect your sources together.</a:t>
          </a:r>
          <a:endParaRPr lang="en-US" sz="1900" kern="1200" dirty="0"/>
        </a:p>
      </dsp:txBody>
      <dsp:txXfrm>
        <a:off x="0" y="0"/>
        <a:ext cx="6692813" cy="2411595"/>
      </dsp:txXfrm>
    </dsp:sp>
    <dsp:sp modelId="{0C7996EA-6712-437D-95DA-E070EB66CA3B}">
      <dsp:nvSpPr>
        <dsp:cNvPr id="0" name=""/>
        <dsp:cNvSpPr/>
      </dsp:nvSpPr>
      <dsp:spPr>
        <a:xfrm>
          <a:off x="0" y="2411595"/>
          <a:ext cx="6692813" cy="0"/>
        </a:xfrm>
        <a:prstGeom prst="line">
          <a:avLst/>
        </a:prstGeom>
        <a:gradFill rotWithShape="0">
          <a:gsLst>
            <a:gs pos="0">
              <a:schemeClr val="accent2">
                <a:hueOff val="-2712450"/>
                <a:satOff val="-1656"/>
                <a:lumOff val="6471"/>
                <a:alphaOff val="0"/>
                <a:tint val="96000"/>
                <a:lumMod val="100000"/>
              </a:schemeClr>
            </a:gs>
            <a:gs pos="78000">
              <a:schemeClr val="accent2">
                <a:hueOff val="-2712450"/>
                <a:satOff val="-1656"/>
                <a:lumOff val="6471"/>
                <a:alphaOff val="0"/>
                <a:shade val="94000"/>
                <a:lumMod val="94000"/>
              </a:schemeClr>
            </a:gs>
          </a:gsLst>
          <a:lin ang="5400000" scaled="0"/>
        </a:gradFill>
        <a:ln w="12700" cap="rnd" cmpd="sng" algn="ctr">
          <a:solidFill>
            <a:schemeClr val="accent2">
              <a:hueOff val="-2712450"/>
              <a:satOff val="-1656"/>
              <a:lumOff val="6471"/>
              <a:alphaOff val="0"/>
            </a:schemeClr>
          </a:solidFill>
          <a:prstDash val="solid"/>
        </a:ln>
        <a:effectLst>
          <a:outerShdw blurRad="38100" dist="254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061F3A1-A67D-44E5-B137-4F68869FEDF7}">
      <dsp:nvSpPr>
        <dsp:cNvPr id="0" name=""/>
        <dsp:cNvSpPr/>
      </dsp:nvSpPr>
      <dsp:spPr>
        <a:xfrm>
          <a:off x="0" y="2411595"/>
          <a:ext cx="6692813" cy="2411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100000"/>
            </a:lnSpc>
            <a:spcBef>
              <a:spcPct val="0"/>
            </a:spcBef>
            <a:spcAft>
              <a:spcPct val="35000"/>
            </a:spcAft>
            <a:buNone/>
          </a:pPr>
          <a:r>
            <a:rPr lang="en-GB" sz="1900" kern="1200" dirty="0"/>
            <a:t>Consider what is the most effective way of presenting the information? What are the most important topics, subtopics, etc., that your review needs to include? And in what order should you present them? Develop an organization for your review early, (it can be changed as your work develops but you must have a guiding organisation from the start).</a:t>
          </a:r>
          <a:endParaRPr lang="en-US" sz="1900" kern="1200" dirty="0"/>
        </a:p>
      </dsp:txBody>
      <dsp:txXfrm>
        <a:off x="0" y="2411595"/>
        <a:ext cx="6692813" cy="24115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35EFF-6A26-447F-B0A7-C3735D23CEB5}">
      <dsp:nvSpPr>
        <dsp:cNvPr id="0" name=""/>
        <dsp:cNvSpPr/>
      </dsp:nvSpPr>
      <dsp:spPr>
        <a:xfrm>
          <a:off x="0" y="1698"/>
          <a:ext cx="9618133" cy="8610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DE6379-A414-4A96-BE78-80B499FC6290}">
      <dsp:nvSpPr>
        <dsp:cNvPr id="0" name=""/>
        <dsp:cNvSpPr/>
      </dsp:nvSpPr>
      <dsp:spPr>
        <a:xfrm>
          <a:off x="260473" y="195439"/>
          <a:ext cx="473588" cy="4735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DC83029-BE4D-4D1C-9A97-66A02301138C}">
      <dsp:nvSpPr>
        <dsp:cNvPr id="0" name=""/>
        <dsp:cNvSpPr/>
      </dsp:nvSpPr>
      <dsp:spPr>
        <a:xfrm>
          <a:off x="994536" y="1698"/>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en-US" sz="2200" kern="1200"/>
            <a:t>Go to </a:t>
          </a:r>
          <a:r>
            <a:rPr lang="en-GB" sz="2200" kern="1200">
              <a:hlinkClick xmlns:r="http://schemas.openxmlformats.org/officeDocument/2006/relationships" r:id="rId3"/>
            </a:rPr>
            <a:t>Academic Phrasebank | The University of Manchester</a:t>
          </a:r>
          <a:endParaRPr lang="en-US" sz="2200" kern="1200"/>
        </a:p>
      </dsp:txBody>
      <dsp:txXfrm>
        <a:off x="994536" y="1698"/>
        <a:ext cx="8623596" cy="861070"/>
      </dsp:txXfrm>
    </dsp:sp>
    <dsp:sp modelId="{61D85686-38CA-4801-89CB-574D4CEA90EA}">
      <dsp:nvSpPr>
        <dsp:cNvPr id="0" name=""/>
        <dsp:cNvSpPr/>
      </dsp:nvSpPr>
      <dsp:spPr>
        <a:xfrm>
          <a:off x="0" y="1078036"/>
          <a:ext cx="9618133" cy="8610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6311EA-256D-48A4-A168-AD1CDAE840C3}">
      <dsp:nvSpPr>
        <dsp:cNvPr id="0" name=""/>
        <dsp:cNvSpPr/>
      </dsp:nvSpPr>
      <dsp:spPr>
        <a:xfrm>
          <a:off x="260473" y="1271777"/>
          <a:ext cx="473588" cy="473588"/>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40C24C1-6D6F-4B75-BFBC-29D8FAAE210D}">
      <dsp:nvSpPr>
        <dsp:cNvPr id="0" name=""/>
        <dsp:cNvSpPr/>
      </dsp:nvSpPr>
      <dsp:spPr>
        <a:xfrm>
          <a:off x="994536" y="1078036"/>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en-US" sz="2200" kern="1200"/>
            <a:t>Choose one of these starter phrases</a:t>
          </a:r>
          <a:br>
            <a:rPr lang="en-US" sz="2200" kern="1200"/>
          </a:br>
          <a:r>
            <a:rPr lang="en-US" sz="2200" kern="1200"/>
            <a:t>to write about your literature review.</a:t>
          </a:r>
        </a:p>
      </dsp:txBody>
      <dsp:txXfrm>
        <a:off x="994536" y="1078036"/>
        <a:ext cx="8623596" cy="861070"/>
      </dsp:txXfrm>
    </dsp:sp>
    <dsp:sp modelId="{6D4B68B7-7310-46C1-B30F-6FB8CDC698AF}">
      <dsp:nvSpPr>
        <dsp:cNvPr id="0" name=""/>
        <dsp:cNvSpPr/>
      </dsp:nvSpPr>
      <dsp:spPr>
        <a:xfrm>
          <a:off x="0" y="2154374"/>
          <a:ext cx="9618133" cy="8610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9846EF-F7B9-485A-AD27-7B740953F63C}">
      <dsp:nvSpPr>
        <dsp:cNvPr id="0" name=""/>
        <dsp:cNvSpPr/>
      </dsp:nvSpPr>
      <dsp:spPr>
        <a:xfrm>
          <a:off x="260473" y="2348115"/>
          <a:ext cx="473588" cy="473588"/>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5A8A2A-BFD0-4215-817D-584D5FEE8736}">
      <dsp:nvSpPr>
        <dsp:cNvPr id="0" name=""/>
        <dsp:cNvSpPr/>
      </dsp:nvSpPr>
      <dsp:spPr>
        <a:xfrm>
          <a:off x="994536" y="2154374"/>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en-US" sz="2200" kern="1200" dirty="0"/>
            <a:t>Look at the other phrases for writing other sections including introduction, methodology and conclusion. </a:t>
          </a:r>
        </a:p>
      </dsp:txBody>
      <dsp:txXfrm>
        <a:off x="994536" y="2154374"/>
        <a:ext cx="8623596" cy="861070"/>
      </dsp:txXfrm>
    </dsp:sp>
    <dsp:sp modelId="{EB918EB6-EC91-460C-B688-912B809E4738}">
      <dsp:nvSpPr>
        <dsp:cNvPr id="0" name=""/>
        <dsp:cNvSpPr/>
      </dsp:nvSpPr>
      <dsp:spPr>
        <a:xfrm>
          <a:off x="0" y="3230712"/>
          <a:ext cx="9618133" cy="8610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E5114-717D-439A-9D3B-F051963CA4E0}">
      <dsp:nvSpPr>
        <dsp:cNvPr id="0" name=""/>
        <dsp:cNvSpPr/>
      </dsp:nvSpPr>
      <dsp:spPr>
        <a:xfrm>
          <a:off x="260473" y="3424453"/>
          <a:ext cx="473588" cy="473588"/>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2CF7F8-D65A-4D5F-9F88-90AD838C5766}">
      <dsp:nvSpPr>
        <dsp:cNvPr id="0" name=""/>
        <dsp:cNvSpPr/>
      </dsp:nvSpPr>
      <dsp:spPr>
        <a:xfrm>
          <a:off x="994536" y="3230712"/>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977900">
            <a:lnSpc>
              <a:spcPct val="90000"/>
            </a:lnSpc>
            <a:spcBef>
              <a:spcPct val="0"/>
            </a:spcBef>
            <a:spcAft>
              <a:spcPct val="35000"/>
            </a:spcAft>
            <a:buNone/>
          </a:pPr>
          <a:r>
            <a:rPr lang="en-US" sz="2200" kern="1200"/>
            <a:t>You can use any of the phrases for your own work, you don’t have to cite and reference these phrases.</a:t>
          </a:r>
        </a:p>
      </dsp:txBody>
      <dsp:txXfrm>
        <a:off x="994536" y="3230712"/>
        <a:ext cx="8623596" cy="86107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026C93-B6D8-A341-9A0F-4005A1125D8C}" type="datetimeFigureOut">
              <a:rPr lang="en-US" smtClean="0"/>
              <a:t>3/12/2025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2E6ED8-DEA6-BD45-917C-4DFF4CDCB04B}" type="slidenum">
              <a:rPr lang="en-US" smtClean="0"/>
              <a:t>‹#›</a:t>
            </a:fld>
            <a:endParaRPr lang="en-US"/>
          </a:p>
        </p:txBody>
      </p:sp>
    </p:spTree>
    <p:extLst>
      <p:ext uri="{BB962C8B-B14F-4D97-AF65-F5344CB8AC3E}">
        <p14:creationId xmlns:p14="http://schemas.microsoft.com/office/powerpoint/2010/main" val="2593235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DDEA8A8A-F1E7-40FE-9161-730E497CD649}"/>
              </a:ext>
            </a:extLst>
          </p:cNvPr>
          <p:cNvSpPr>
            <a:spLocks noGrp="1" noRot="1" noChangeAspect="1" noTextEdit="1"/>
          </p:cNvSpPr>
          <p:nvPr>
            <p:ph type="sldImg"/>
          </p:nvPr>
        </p:nvSpPr>
        <p:spPr/>
      </p:sp>
      <p:sp>
        <p:nvSpPr>
          <p:cNvPr id="16387" name="Notes Placeholder 2">
            <a:extLst>
              <a:ext uri="{FF2B5EF4-FFF2-40B4-BE49-F238E27FC236}">
                <a16:creationId xmlns:a16="http://schemas.microsoft.com/office/drawing/2014/main" id="{3CC000B8-4868-48C1-957C-DFA38A1A9EE0}"/>
              </a:ext>
            </a:extLst>
          </p:cNvPr>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r>
              <a:rPr lang="en-GB" altLang="en-US" dirty="0"/>
              <a:t>P. 75. Opportunity to review and discuss how well the strategies advised on PASHE may be helping (or not)</a:t>
            </a:r>
          </a:p>
        </p:txBody>
      </p:sp>
    </p:spTree>
    <p:extLst>
      <p:ext uri="{BB962C8B-B14F-4D97-AF65-F5344CB8AC3E}">
        <p14:creationId xmlns:p14="http://schemas.microsoft.com/office/powerpoint/2010/main" val="63561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84C2B52C-0FBD-4EAC-81DD-A7D24CA8150C}" type="slidenum">
              <a:rPr lang="en-GB" smtClean="0"/>
              <a:t>14</a:t>
            </a:fld>
            <a:endParaRPr lang="en-GB"/>
          </a:p>
        </p:txBody>
      </p:sp>
    </p:spTree>
    <p:extLst>
      <p:ext uri="{BB962C8B-B14F-4D97-AF65-F5344CB8AC3E}">
        <p14:creationId xmlns:p14="http://schemas.microsoft.com/office/powerpoint/2010/main" val="3073759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BB48423-037F-4506-B1B1-13B0498AF709}" type="slidenum">
              <a:rPr lang="en-GB" smtClean="0"/>
              <a:pPr/>
              <a:t>28</a:t>
            </a:fld>
            <a:endParaRPr lang="en-GB" dirty="0"/>
          </a:p>
        </p:txBody>
      </p:sp>
    </p:spTree>
    <p:extLst>
      <p:ext uri="{BB962C8B-B14F-4D97-AF65-F5344CB8AC3E}">
        <p14:creationId xmlns:p14="http://schemas.microsoft.com/office/powerpoint/2010/main" val="2931117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42278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latest information about our workshops and other events.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Tips, advice and information on study skills.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Hundreds of interactive resources, worksheets, quizzes, and other useful things to download.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Links to the best skills development websites.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Useful information about how to maximise your study time.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Details on how to contact us.</a:t>
            </a:r>
            <a:endParaRPr kumimoji="0" lang="en-GB"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dirty="0">
              <a:ln>
                <a:noFill/>
              </a:ln>
              <a:solidFill>
                <a:prstClr val="black"/>
              </a:solidFill>
              <a:effectLst/>
              <a:uLnTx/>
              <a:uFillTx/>
              <a:latin typeface="+mn-lt"/>
              <a:ea typeface="+mn-ea"/>
              <a:cs typeface="+mn-cs"/>
            </a:endParaRPr>
          </a:p>
          <a:p>
            <a:pPr marL="0" indent="0">
              <a:buFont typeface="Arial" panose="020B0604020202020204" pitchFamily="34" charset="0"/>
              <a:buNone/>
            </a:pPr>
            <a:endParaRPr lang="en-GB"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554CBF-5C15-474A-B1DD-2D551EEC19A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3699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59363" rtl="0" eaLnBrk="1" fontAlgn="auto" latinLnBrk="0" hangingPunct="1">
              <a:lnSpc>
                <a:spcPct val="100000"/>
              </a:lnSpc>
              <a:spcBef>
                <a:spcPts val="0"/>
              </a:spcBef>
              <a:spcAft>
                <a:spcPts val="0"/>
              </a:spcAft>
              <a:buClrTx/>
              <a:buSzTx/>
              <a:buFontTx/>
              <a:buNone/>
              <a:tabLst/>
              <a:defRPr/>
            </a:pPr>
            <a:fld id="{4BB48423-037F-4506-B1B1-13B0498AF709}" type="slidenum">
              <a:rPr kumimoji="0" lang="en-GB" sz="1300" b="0" i="0" u="none" strike="noStrike" kern="1200" cap="none" spc="0" normalizeH="0" baseline="0" noProof="0">
                <a:ln>
                  <a:noFill/>
                </a:ln>
                <a:solidFill>
                  <a:prstClr val="black"/>
                </a:solidFill>
                <a:effectLst/>
                <a:uLnTx/>
                <a:uFillTx/>
                <a:latin typeface="Calibri"/>
                <a:ea typeface="+mn-ea"/>
                <a:cs typeface="+mn-cs"/>
              </a:rPr>
              <a:pPr marL="0" marR="0" lvl="0" indent="0" algn="r" defTabSz="959363" rtl="0" eaLnBrk="1" fontAlgn="auto" latinLnBrk="0" hangingPunct="1">
                <a:lnSpc>
                  <a:spcPct val="100000"/>
                </a:lnSpc>
                <a:spcBef>
                  <a:spcPts val="0"/>
                </a:spcBef>
                <a:spcAft>
                  <a:spcPts val="0"/>
                </a:spcAft>
                <a:buClrTx/>
                <a:buSzTx/>
                <a:buFontTx/>
                <a:buNone/>
                <a:tabLst/>
                <a:defRPr/>
              </a:pPr>
              <a:t>40</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506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884886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2833087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3183696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01483C1-8074-7E42-BDB4-117CA2386E8F}"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3646242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01483C1-8074-7E42-BDB4-117CA2386E8F}" type="datetimeFigureOut">
              <a:rPr lang="en-US" smtClean="0"/>
              <a:t>3/12/2025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2593886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01483C1-8074-7E42-BDB4-117CA2386E8F}" type="datetimeFigureOut">
              <a:rPr lang="en-US" smtClean="0"/>
              <a:t>3/12/2025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11960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1483C1-8074-7E42-BDB4-117CA2386E8F}" type="datetimeFigureOut">
              <a:rPr lang="en-US" smtClean="0"/>
              <a:t>3/12/2025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1748334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01483C1-8074-7E42-BDB4-117CA2386E8F}"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1158851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25FBF7-874C-7040-92D3-595293DC2FB6}" type="slidenum">
              <a:rPr lang="en-US" smtClean="0"/>
              <a:t>‹#›</a:t>
            </a:fld>
            <a:endParaRPr lang="en-US"/>
          </a:p>
        </p:txBody>
      </p:sp>
      <p:sp>
        <p:nvSpPr>
          <p:cNvPr id="5" name="Date Placeholder 4"/>
          <p:cNvSpPr>
            <a:spLocks noGrp="1"/>
          </p:cNvSpPr>
          <p:nvPr>
            <p:ph type="dt" sz="half" idx="10"/>
          </p:nvPr>
        </p:nvSpPr>
        <p:spPr/>
        <p:txBody>
          <a:bodyPr/>
          <a:lstStyle/>
          <a:p>
            <a:fld id="{301483C1-8074-7E42-BDB4-117CA2386E8F}" type="datetimeFigureOut">
              <a:rPr lang="en-US" smtClean="0"/>
              <a:t>3/12/2025</a:t>
            </a:fld>
            <a:endParaRPr lang="en-US"/>
          </a:p>
        </p:txBody>
      </p:sp>
    </p:spTree>
    <p:extLst>
      <p:ext uri="{BB962C8B-B14F-4D97-AF65-F5344CB8AC3E}">
        <p14:creationId xmlns:p14="http://schemas.microsoft.com/office/powerpoint/2010/main" val="3098344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1579646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13951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1170873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17633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212732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2719616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01483C1-8074-7E42-BDB4-117CA2386E8F}"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25FBF7-874C-7040-92D3-595293DC2FB6}" type="slidenum">
              <a:rPr lang="en-US" smtClean="0"/>
              <a:t>‹#›</a:t>
            </a:fld>
            <a:endParaRPr lang="en-US"/>
          </a:p>
        </p:txBody>
      </p:sp>
    </p:spTree>
    <p:extLst>
      <p:ext uri="{BB962C8B-B14F-4D97-AF65-F5344CB8AC3E}">
        <p14:creationId xmlns:p14="http://schemas.microsoft.com/office/powerpoint/2010/main" val="1734808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01483C1-8074-7E42-BDB4-117CA2386E8F}" type="datetimeFigureOut">
              <a:rPr lang="en-US" smtClean="0"/>
              <a:t>3/12/2025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225FBF7-874C-7040-92D3-595293DC2FB6}" type="slidenum">
              <a:rPr lang="en-US" smtClean="0"/>
              <a:t>‹#›</a:t>
            </a:fld>
            <a:endParaRPr lang="en-US"/>
          </a:p>
        </p:txBody>
      </p:sp>
    </p:spTree>
    <p:extLst>
      <p:ext uri="{BB962C8B-B14F-4D97-AF65-F5344CB8AC3E}">
        <p14:creationId xmlns:p14="http://schemas.microsoft.com/office/powerpoint/2010/main" val="419488282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citethemrightonline.com/"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ncl.ac.uk/academic-skills-kit/writing/academic-writing/signposting/"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www.phrasebank.manchester.ac.uk/"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hyperlink" Target="https://moodle.uel.ac.uk/mod/page/view.php?id=802139"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hyperlink" Target="about:blank"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7.xml"/><Relationship Id="rId5" Type="http://schemas.openxmlformats.org/officeDocument/2006/relationships/image" Target="../media/image40.sv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7.xml"/><Relationship Id="rId5" Type="http://schemas.openxmlformats.org/officeDocument/2006/relationships/image" Target="../media/image40.sv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Reading a book and drinking coffee on the table">
            <a:extLst>
              <a:ext uri="{FF2B5EF4-FFF2-40B4-BE49-F238E27FC236}">
                <a16:creationId xmlns:a16="http://schemas.microsoft.com/office/drawing/2014/main" id="{6665263D-BB1C-FBC3-10A8-3AD909A764BC}"/>
              </a:ext>
            </a:extLst>
          </p:cNvPr>
          <p:cNvPicPr>
            <a:picLocks noChangeAspect="1"/>
          </p:cNvPicPr>
          <p:nvPr/>
        </p:nvPicPr>
        <p:blipFill>
          <a:blip r:embed="rId2"/>
          <a:srcRect l="26014" r="21476" b="-2"/>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F3433D91-3E90-4AB5-BA83-EB302CDF9580}"/>
              </a:ext>
            </a:extLst>
          </p:cNvPr>
          <p:cNvSpPr>
            <a:spLocks noGrp="1"/>
          </p:cNvSpPr>
          <p:nvPr>
            <p:ph type="ctrTitle"/>
          </p:nvPr>
        </p:nvSpPr>
        <p:spPr>
          <a:xfrm>
            <a:off x="5380563" y="1678665"/>
            <a:ext cx="3887839" cy="2372168"/>
          </a:xfrm>
        </p:spPr>
        <p:txBody>
          <a:bodyPr>
            <a:normAutofit/>
          </a:bodyPr>
          <a:lstStyle/>
          <a:p>
            <a:pPr>
              <a:lnSpc>
                <a:spcPct val="90000"/>
              </a:lnSpc>
            </a:pPr>
            <a:br>
              <a:rPr lang="en-GB" sz="3800" dirty="0"/>
            </a:br>
            <a:r>
              <a:rPr lang="en-GB" sz="3800" dirty="0"/>
              <a:t>Writing a literature review</a:t>
            </a:r>
          </a:p>
        </p:txBody>
      </p:sp>
      <p:sp>
        <p:nvSpPr>
          <p:cNvPr id="3" name="Subtitle 2">
            <a:extLst>
              <a:ext uri="{FF2B5EF4-FFF2-40B4-BE49-F238E27FC236}">
                <a16:creationId xmlns:a16="http://schemas.microsoft.com/office/drawing/2014/main" id="{DA8E2FBD-E347-4ABE-B32D-BB49AFEE7861}"/>
              </a:ext>
            </a:extLst>
          </p:cNvPr>
          <p:cNvSpPr>
            <a:spLocks noGrp="1"/>
          </p:cNvSpPr>
          <p:nvPr>
            <p:ph type="subTitle" idx="1"/>
          </p:nvPr>
        </p:nvSpPr>
        <p:spPr>
          <a:xfrm>
            <a:off x="5380563" y="4050833"/>
            <a:ext cx="3893440" cy="1096899"/>
          </a:xfrm>
        </p:spPr>
        <p:txBody>
          <a:bodyPr>
            <a:normAutofit/>
          </a:bodyPr>
          <a:lstStyle/>
          <a:p>
            <a:pPr>
              <a:lnSpc>
                <a:spcPct val="90000"/>
              </a:lnSpc>
            </a:pPr>
            <a:r>
              <a:rPr lang="en-GB" dirty="0"/>
              <a:t>Angela Manser</a:t>
            </a:r>
          </a:p>
          <a:p>
            <a:pPr>
              <a:lnSpc>
                <a:spcPct val="90000"/>
              </a:lnSpc>
            </a:pPr>
            <a:r>
              <a:rPr lang="en-GB" dirty="0"/>
              <a:t>PG Academic Writing Tutor</a:t>
            </a:r>
          </a:p>
        </p:txBody>
      </p:sp>
    </p:spTree>
    <p:extLst>
      <p:ext uri="{BB962C8B-B14F-4D97-AF65-F5344CB8AC3E}">
        <p14:creationId xmlns:p14="http://schemas.microsoft.com/office/powerpoint/2010/main" val="207718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1FA4F-8BF4-7145-8E3F-0FE89E98B05A}"/>
              </a:ext>
            </a:extLst>
          </p:cNvPr>
          <p:cNvSpPr>
            <a:spLocks noGrp="1"/>
          </p:cNvSpPr>
          <p:nvPr>
            <p:ph type="title"/>
          </p:nvPr>
        </p:nvSpPr>
        <p:spPr>
          <a:xfrm>
            <a:off x="287867" y="1"/>
            <a:ext cx="8986135" cy="1930400"/>
          </a:xfrm>
        </p:spPr>
        <p:txBody>
          <a:bodyPr/>
          <a:lstStyle/>
          <a:p>
            <a:r>
              <a:rPr lang="en-US" dirty="0"/>
              <a:t> Dissertation Structure </a:t>
            </a:r>
          </a:p>
        </p:txBody>
      </p:sp>
      <p:sp>
        <p:nvSpPr>
          <p:cNvPr id="3" name="Content Placeholder 2">
            <a:extLst>
              <a:ext uri="{FF2B5EF4-FFF2-40B4-BE49-F238E27FC236}">
                <a16:creationId xmlns:a16="http://schemas.microsoft.com/office/drawing/2014/main" id="{2624F75E-3C16-7B48-BC94-8EFB082EAAB6}"/>
              </a:ext>
            </a:extLst>
          </p:cNvPr>
          <p:cNvSpPr>
            <a:spLocks noGrp="1"/>
          </p:cNvSpPr>
          <p:nvPr>
            <p:ph idx="1"/>
          </p:nvPr>
        </p:nvSpPr>
        <p:spPr>
          <a:xfrm>
            <a:off x="287867" y="762000"/>
            <a:ext cx="11023599" cy="5960533"/>
          </a:xfrm>
        </p:spPr>
        <p:txBody>
          <a:bodyPr vert="horz" lIns="91440" tIns="45720" rIns="91440" bIns="45720" rtlCol="0" anchor="t">
            <a:normAutofit/>
          </a:bodyPr>
          <a:lstStyle/>
          <a:p>
            <a:pPr lvl="0"/>
            <a:r>
              <a:rPr lang="en-GB" sz="2400" dirty="0"/>
              <a:t>Title Page</a:t>
            </a:r>
          </a:p>
          <a:p>
            <a:pPr lvl="0"/>
            <a:r>
              <a:rPr lang="en-GB" sz="2400" dirty="0"/>
              <a:t>Abstract</a:t>
            </a:r>
          </a:p>
          <a:p>
            <a:pPr lvl="0"/>
            <a:r>
              <a:rPr lang="en-GB" sz="2400" dirty="0"/>
              <a:t>Table of Contents</a:t>
            </a:r>
          </a:p>
          <a:p>
            <a:pPr lvl="0"/>
            <a:r>
              <a:rPr lang="en-GB" sz="2400" dirty="0"/>
              <a:t>Table of Figures</a:t>
            </a:r>
          </a:p>
          <a:p>
            <a:pPr lvl="0"/>
            <a:r>
              <a:rPr lang="en-GB" sz="2400" dirty="0"/>
              <a:t>Introduction</a:t>
            </a:r>
          </a:p>
          <a:p>
            <a:pPr lvl="0"/>
            <a:r>
              <a:rPr lang="en-GB" sz="2400" dirty="0">
                <a:solidFill>
                  <a:srgbClr val="FF0000"/>
                </a:solidFill>
              </a:rPr>
              <a:t>Literature Review</a:t>
            </a:r>
          </a:p>
          <a:p>
            <a:pPr lvl="0"/>
            <a:r>
              <a:rPr lang="en-GB" sz="2400" dirty="0"/>
              <a:t>Methodology</a:t>
            </a:r>
          </a:p>
          <a:p>
            <a:pPr lvl="0"/>
            <a:r>
              <a:rPr lang="en-GB" sz="2400" dirty="0"/>
              <a:t>Data Analysis/Results</a:t>
            </a:r>
          </a:p>
          <a:p>
            <a:pPr lvl="0"/>
            <a:r>
              <a:rPr lang="en-GB" sz="2400" dirty="0"/>
              <a:t>Discussion of Results</a:t>
            </a:r>
          </a:p>
          <a:p>
            <a:pPr lvl="0"/>
            <a:r>
              <a:rPr lang="en-GB" sz="2400" dirty="0"/>
              <a:t>Conclusions</a:t>
            </a:r>
          </a:p>
          <a:p>
            <a:pPr lvl="0"/>
            <a:r>
              <a:rPr lang="en-GB" sz="2400" dirty="0"/>
              <a:t>Appendices</a:t>
            </a:r>
          </a:p>
          <a:p>
            <a:pPr lvl="0"/>
            <a:r>
              <a:rPr lang="en-GB" sz="2400" dirty="0"/>
              <a:t>Bibliography</a:t>
            </a:r>
          </a:p>
          <a:p>
            <a:pPr marL="0" indent="0">
              <a:buNone/>
            </a:pPr>
            <a:endParaRPr lang="en-GB" dirty="0"/>
          </a:p>
          <a:p>
            <a:pPr marL="0" indent="0">
              <a:buNone/>
            </a:pPr>
            <a:endParaRPr lang="en-GB" dirty="0"/>
          </a:p>
          <a:p>
            <a:pPr marL="0" indent="0">
              <a:buNone/>
            </a:pPr>
            <a:endParaRPr lang="en-US" dirty="0"/>
          </a:p>
        </p:txBody>
      </p:sp>
      <p:sp>
        <p:nvSpPr>
          <p:cNvPr id="4" name="Rectangle 3">
            <a:extLst>
              <a:ext uri="{FF2B5EF4-FFF2-40B4-BE49-F238E27FC236}">
                <a16:creationId xmlns:a16="http://schemas.microsoft.com/office/drawing/2014/main" id="{89298689-17B7-354D-85ED-EBF4D1F3F161}"/>
              </a:ext>
            </a:extLst>
          </p:cNvPr>
          <p:cNvSpPr/>
          <p:nvPr/>
        </p:nvSpPr>
        <p:spPr>
          <a:xfrm>
            <a:off x="4521199" y="1557864"/>
            <a:ext cx="4910667" cy="453813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Learning outcomes assessed:</a:t>
            </a:r>
          </a:p>
          <a:p>
            <a:endParaRPr lang="en-US" sz="2400" b="1" dirty="0"/>
          </a:p>
          <a:p>
            <a:r>
              <a:rPr lang="en-GB" sz="2400" dirty="0"/>
              <a:t>You will be required to research into your current chosen topic, this is an area where you will </a:t>
            </a:r>
            <a:r>
              <a:rPr lang="en-GB" sz="2400" dirty="0">
                <a:solidFill>
                  <a:schemeClr val="tx1"/>
                </a:solidFill>
              </a:rPr>
              <a:t>explore previous research that has been conducted</a:t>
            </a:r>
            <a:r>
              <a:rPr lang="en-GB" sz="2400" dirty="0"/>
              <a:t> that can contribute and assist you. It should </a:t>
            </a:r>
            <a:r>
              <a:rPr lang="en-GB" sz="2400" dirty="0">
                <a:solidFill>
                  <a:schemeClr val="tx1"/>
                </a:solidFill>
              </a:rPr>
              <a:t>give you a  base </a:t>
            </a:r>
            <a:r>
              <a:rPr lang="en-GB" sz="2400" dirty="0"/>
              <a:t>and help </a:t>
            </a:r>
            <a:r>
              <a:rPr lang="en-GB" sz="2400" dirty="0">
                <a:solidFill>
                  <a:schemeClr val="tx1"/>
                </a:solidFill>
              </a:rPr>
              <a:t>determine the nature of your research.</a:t>
            </a:r>
          </a:p>
        </p:txBody>
      </p:sp>
    </p:spTree>
    <p:extLst>
      <p:ext uri="{BB962C8B-B14F-4D97-AF65-F5344CB8AC3E}">
        <p14:creationId xmlns:p14="http://schemas.microsoft.com/office/powerpoint/2010/main" val="421312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06443"/>
          </a:xfrm>
        </p:spPr>
        <p:txBody>
          <a:bodyPr vert="horz" lIns="91440" tIns="45720" rIns="91440" bIns="45720" rtlCol="0" anchor="ctr">
            <a:normAutofit/>
          </a:bodyPr>
          <a:lstStyle/>
          <a:p>
            <a:r>
              <a:rPr lang="en-US" sz="4000" b="1" dirty="0"/>
              <a:t>What we mean by “Literature”…</a:t>
            </a:r>
          </a:p>
        </p:txBody>
      </p:sp>
      <p:pic>
        <p:nvPicPr>
          <p:cNvPr id="8" name="Content Placeholder 7">
            <a:extLst>
              <a:ext uri="{FF2B5EF4-FFF2-40B4-BE49-F238E27FC236}">
                <a16:creationId xmlns:a16="http://schemas.microsoft.com/office/drawing/2014/main" id="{9A206478-1F7E-4C92-B1D1-C2D692BF73D5}"/>
              </a:ext>
            </a:extLst>
          </p:cNvPr>
          <p:cNvPicPr>
            <a:picLocks noGrp="1" noChangeAspect="1"/>
          </p:cNvPicPr>
          <p:nvPr>
            <p:ph idx="1"/>
          </p:nvPr>
        </p:nvPicPr>
        <p:blipFill rotWithShape="1">
          <a:blip r:embed="rId2"/>
          <a:srcRect r="2" b="8095"/>
          <a:stretch/>
        </p:blipFill>
        <p:spPr>
          <a:xfrm>
            <a:off x="6154356" y="2036693"/>
            <a:ext cx="5006938" cy="3428254"/>
          </a:xfrm>
          <a:prstGeom prst="rect">
            <a:avLst/>
          </a:prstGeom>
        </p:spPr>
      </p:pic>
      <p:sp>
        <p:nvSpPr>
          <p:cNvPr id="5" name="TextBox 4"/>
          <p:cNvSpPr txBox="1"/>
          <p:nvPr/>
        </p:nvSpPr>
        <p:spPr>
          <a:xfrm>
            <a:off x="838199" y="1671568"/>
            <a:ext cx="5199445" cy="4060825"/>
          </a:xfrm>
          <a:prstGeom prst="rect">
            <a:avLst/>
          </a:prstGeom>
        </p:spPr>
        <p:txBody>
          <a:bodyPr vert="horz" lIns="91440" tIns="45720" rIns="91440" bIns="45720" rtlCol="0">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Literature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means publications or projects published on a particular topic, such as books, journal articles, research reports, dissertations, government reports…</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As students, your job is to search for sources like a detective to find the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most reliable, appropriate and relevant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material for your project.</a:t>
            </a:r>
          </a:p>
        </p:txBody>
      </p:sp>
    </p:spTree>
    <p:extLst>
      <p:ext uri="{BB962C8B-B14F-4D97-AF65-F5344CB8AC3E}">
        <p14:creationId xmlns:p14="http://schemas.microsoft.com/office/powerpoint/2010/main" val="2615838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056" y="195010"/>
            <a:ext cx="5917061" cy="482907"/>
          </a:xfrm>
        </p:spPr>
        <p:txBody>
          <a:bodyPr>
            <a:normAutofit fontScale="90000"/>
          </a:bodyPr>
          <a:lstStyle/>
          <a:p>
            <a:r>
              <a:rPr lang="en-GB" sz="3600" dirty="0">
                <a:latin typeface="+mn-lt"/>
              </a:rPr>
              <a:t>The literature review:</a:t>
            </a:r>
            <a:endParaRPr lang="en-GB" sz="3600" u="sng" dirty="0">
              <a:solidFill>
                <a:schemeClr val="tx1"/>
              </a:solidFill>
              <a:latin typeface="+mn-lt"/>
            </a:endParaRPr>
          </a:p>
        </p:txBody>
      </p:sp>
      <p:sp>
        <p:nvSpPr>
          <p:cNvPr id="4" name="TextBox 3"/>
          <p:cNvSpPr txBox="1"/>
          <p:nvPr/>
        </p:nvSpPr>
        <p:spPr>
          <a:xfrm>
            <a:off x="6026118" y="3397045"/>
            <a:ext cx="4095344" cy="67710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sz="2000" dirty="0"/>
              <a:t>3. Is an introduction to a topic</a:t>
            </a:r>
          </a:p>
          <a:p>
            <a:r>
              <a:rPr lang="en-GB" dirty="0"/>
              <a:t>.</a:t>
            </a:r>
          </a:p>
        </p:txBody>
      </p:sp>
      <p:sp>
        <p:nvSpPr>
          <p:cNvPr id="5" name="TextBox 4"/>
          <p:cNvSpPr txBox="1"/>
          <p:nvPr/>
        </p:nvSpPr>
        <p:spPr>
          <a:xfrm>
            <a:off x="5032891" y="872872"/>
            <a:ext cx="3890392"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000" dirty="0"/>
              <a:t>1. Is a set of summaries from different sources.</a:t>
            </a:r>
          </a:p>
        </p:txBody>
      </p:sp>
      <p:sp>
        <p:nvSpPr>
          <p:cNvPr id="6" name="TextBox 5"/>
          <p:cNvSpPr txBox="1"/>
          <p:nvPr/>
        </p:nvSpPr>
        <p:spPr>
          <a:xfrm>
            <a:off x="4794438" y="1737605"/>
            <a:ext cx="3890392"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2000" dirty="0"/>
              <a:t>2. Integrates or synthesises the main ideas and debates around a topic, including your own reflection.</a:t>
            </a:r>
          </a:p>
        </p:txBody>
      </p:sp>
      <p:sp>
        <p:nvSpPr>
          <p:cNvPr id="8" name="TextBox 7"/>
          <p:cNvSpPr txBox="1"/>
          <p:nvPr/>
        </p:nvSpPr>
        <p:spPr>
          <a:xfrm>
            <a:off x="4794438" y="4177482"/>
            <a:ext cx="4331826" cy="1015663"/>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GB" sz="2000" dirty="0"/>
              <a:t>4. Discusses the similarities and differences of ideas around the topic.</a:t>
            </a:r>
          </a:p>
        </p:txBody>
      </p:sp>
      <p:sp>
        <p:nvSpPr>
          <p:cNvPr id="13" name="Rounded Rectangular Callout 12"/>
          <p:cNvSpPr/>
          <p:nvPr/>
        </p:nvSpPr>
        <p:spPr>
          <a:xfrm rot="10800000">
            <a:off x="656613" y="1811741"/>
            <a:ext cx="3499945" cy="3498752"/>
          </a:xfrm>
          <a:prstGeom prst="wedgeRoundRectCallout">
            <a:avLst>
              <a:gd name="adj1" fmla="val -17680"/>
              <a:gd name="adj2" fmla="val 76018"/>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dirty="0"/>
          </a:p>
        </p:txBody>
      </p:sp>
      <p:sp>
        <p:nvSpPr>
          <p:cNvPr id="14" name="TextBox 13"/>
          <p:cNvSpPr txBox="1"/>
          <p:nvPr/>
        </p:nvSpPr>
        <p:spPr>
          <a:xfrm>
            <a:off x="1174772" y="1930714"/>
            <a:ext cx="2601311" cy="2554545"/>
          </a:xfrm>
          <a:prstGeom prst="rect">
            <a:avLst/>
          </a:prstGeom>
          <a:noFill/>
        </p:spPr>
        <p:txBody>
          <a:bodyPr wrap="square" rtlCol="0">
            <a:spAutoFit/>
          </a:bodyPr>
          <a:lstStyle/>
          <a:p>
            <a:r>
              <a:rPr lang="en-GB" sz="3200" dirty="0">
                <a:solidFill>
                  <a:schemeClr val="accent1">
                    <a:lumMod val="75000"/>
                  </a:schemeClr>
                </a:solidFill>
              </a:rPr>
              <a:t>Which of these statements are TRUE and which FALSE?</a:t>
            </a:r>
          </a:p>
        </p:txBody>
      </p:sp>
      <p:sp>
        <p:nvSpPr>
          <p:cNvPr id="16" name="TextBox 15"/>
          <p:cNvSpPr txBox="1"/>
          <p:nvPr/>
        </p:nvSpPr>
        <p:spPr>
          <a:xfrm>
            <a:off x="5442794" y="5419584"/>
            <a:ext cx="3933747" cy="1015663"/>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sz="2000" dirty="0"/>
              <a:t>5. Helps to identify the key disagreements around a topic for future consideration.</a:t>
            </a:r>
          </a:p>
        </p:txBody>
      </p:sp>
      <p:sp>
        <p:nvSpPr>
          <p:cNvPr id="18" name="TextBox 17"/>
          <p:cNvSpPr txBox="1"/>
          <p:nvPr/>
        </p:nvSpPr>
        <p:spPr>
          <a:xfrm>
            <a:off x="8924006" y="2202655"/>
            <a:ext cx="1198179" cy="584775"/>
          </a:xfrm>
          <a:prstGeom prst="rect">
            <a:avLst/>
          </a:prstGeom>
          <a:noFill/>
        </p:spPr>
        <p:txBody>
          <a:bodyPr wrap="square" rtlCol="0">
            <a:spAutoFit/>
          </a:bodyPr>
          <a:lstStyle/>
          <a:p>
            <a:r>
              <a:rPr lang="en-GB" sz="3200" dirty="0">
                <a:solidFill>
                  <a:srgbClr val="00B050"/>
                </a:solidFill>
              </a:rPr>
              <a:t>V</a:t>
            </a:r>
          </a:p>
        </p:txBody>
      </p:sp>
      <p:sp>
        <p:nvSpPr>
          <p:cNvPr id="19" name="TextBox 18"/>
          <p:cNvSpPr txBox="1"/>
          <p:nvPr/>
        </p:nvSpPr>
        <p:spPr>
          <a:xfrm>
            <a:off x="9408072" y="4485259"/>
            <a:ext cx="1198179" cy="584775"/>
          </a:xfrm>
          <a:prstGeom prst="rect">
            <a:avLst/>
          </a:prstGeom>
          <a:noFill/>
        </p:spPr>
        <p:txBody>
          <a:bodyPr wrap="square" rtlCol="0">
            <a:spAutoFit/>
          </a:bodyPr>
          <a:lstStyle/>
          <a:p>
            <a:r>
              <a:rPr lang="en-GB" sz="3200" dirty="0">
                <a:solidFill>
                  <a:srgbClr val="00B050"/>
                </a:solidFill>
              </a:rPr>
              <a:t>V</a:t>
            </a:r>
          </a:p>
        </p:txBody>
      </p:sp>
      <p:sp>
        <p:nvSpPr>
          <p:cNvPr id="20" name="TextBox 19"/>
          <p:cNvSpPr txBox="1"/>
          <p:nvPr/>
        </p:nvSpPr>
        <p:spPr>
          <a:xfrm>
            <a:off x="9522372" y="5769424"/>
            <a:ext cx="1198179" cy="584775"/>
          </a:xfrm>
          <a:prstGeom prst="rect">
            <a:avLst/>
          </a:prstGeom>
          <a:noFill/>
        </p:spPr>
        <p:txBody>
          <a:bodyPr wrap="square" rtlCol="0">
            <a:spAutoFit/>
          </a:bodyPr>
          <a:lstStyle/>
          <a:p>
            <a:r>
              <a:rPr lang="en-GB" sz="3200" dirty="0">
                <a:solidFill>
                  <a:srgbClr val="00B050"/>
                </a:solidFill>
              </a:rPr>
              <a:t>V</a:t>
            </a:r>
          </a:p>
        </p:txBody>
      </p:sp>
      <p:sp>
        <p:nvSpPr>
          <p:cNvPr id="21" name="TextBox 20"/>
          <p:cNvSpPr txBox="1"/>
          <p:nvPr/>
        </p:nvSpPr>
        <p:spPr>
          <a:xfrm>
            <a:off x="9126264" y="902896"/>
            <a:ext cx="1479987" cy="584775"/>
          </a:xfrm>
          <a:prstGeom prst="rect">
            <a:avLst/>
          </a:prstGeom>
          <a:noFill/>
        </p:spPr>
        <p:txBody>
          <a:bodyPr wrap="square" rtlCol="0">
            <a:spAutoFit/>
          </a:bodyPr>
          <a:lstStyle/>
          <a:p>
            <a:r>
              <a:rPr lang="en-GB" sz="3200" b="1" dirty="0">
                <a:solidFill>
                  <a:srgbClr val="FF0000"/>
                </a:solidFill>
              </a:rPr>
              <a:t>x</a:t>
            </a:r>
          </a:p>
        </p:txBody>
      </p:sp>
      <p:sp>
        <p:nvSpPr>
          <p:cNvPr id="22" name="TextBox 21"/>
          <p:cNvSpPr txBox="1"/>
          <p:nvPr/>
        </p:nvSpPr>
        <p:spPr>
          <a:xfrm>
            <a:off x="10257440" y="3433322"/>
            <a:ext cx="1479987" cy="584775"/>
          </a:xfrm>
          <a:prstGeom prst="rect">
            <a:avLst/>
          </a:prstGeom>
          <a:noFill/>
        </p:spPr>
        <p:txBody>
          <a:bodyPr wrap="square" rtlCol="0">
            <a:spAutoFit/>
          </a:bodyPr>
          <a:lstStyle/>
          <a:p>
            <a:r>
              <a:rPr lang="en-GB" sz="3200" b="1" dirty="0">
                <a:solidFill>
                  <a:srgbClr val="FF0000"/>
                </a:solidFill>
              </a:rPr>
              <a:t>x</a:t>
            </a:r>
          </a:p>
        </p:txBody>
      </p:sp>
      <p:sp>
        <p:nvSpPr>
          <p:cNvPr id="23" name="Oval Callout 22"/>
          <p:cNvSpPr/>
          <p:nvPr/>
        </p:nvSpPr>
        <p:spPr>
          <a:xfrm>
            <a:off x="9745641" y="857224"/>
            <a:ext cx="1818946" cy="1822976"/>
          </a:xfrm>
          <a:prstGeom prst="wedgeEllipseCallout">
            <a:avLst>
              <a:gd name="adj1" fmla="val -61829"/>
              <a:gd name="adj2" fmla="val 66824"/>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600" dirty="0">
                <a:solidFill>
                  <a:schemeClr val="accent5">
                    <a:lumMod val="75000"/>
                  </a:schemeClr>
                </a:solidFill>
              </a:rPr>
              <a:t>?</a:t>
            </a:r>
          </a:p>
        </p:txBody>
      </p:sp>
      <p:sp>
        <p:nvSpPr>
          <p:cNvPr id="10" name="TextBox 9">
            <a:extLst>
              <a:ext uri="{FF2B5EF4-FFF2-40B4-BE49-F238E27FC236}">
                <a16:creationId xmlns:a16="http://schemas.microsoft.com/office/drawing/2014/main" id="{38CCDE39-D8E5-48DD-91ED-70F71F563F6C}"/>
              </a:ext>
            </a:extLst>
          </p:cNvPr>
          <p:cNvSpPr txBox="1"/>
          <p:nvPr/>
        </p:nvSpPr>
        <p:spPr>
          <a:xfrm>
            <a:off x="385894" y="6435247"/>
            <a:ext cx="9359747" cy="461665"/>
          </a:xfrm>
          <a:prstGeom prst="rect">
            <a:avLst/>
          </a:prstGeom>
          <a:noFill/>
        </p:spPr>
        <p:txBody>
          <a:bodyPr wrap="square" rtlCol="0">
            <a:spAutoFit/>
          </a:bodyPr>
          <a:lstStyle/>
          <a:p>
            <a:pPr lvl="0"/>
            <a:r>
              <a:rPr lang="en-GB" sz="1200" dirty="0">
                <a:solidFill>
                  <a:prstClr val="black"/>
                </a:solidFill>
              </a:rPr>
              <a:t>Adapted from: RMIT. Study &amp; Learning Centre (2005) ‘’Writing a literature review’. Available at: </a:t>
            </a:r>
            <a:r>
              <a:rPr lang="en-GB" sz="1200" dirty="0">
                <a:solidFill>
                  <a:prstClr val="black"/>
                </a:solidFill>
                <a:hlinkClick r:id="rId2">
                  <a:extLst>
                    <a:ext uri="{A12FA001-AC4F-418D-AE19-62706E023703}">
                      <ahyp:hlinkClr xmlns:ahyp="http://schemas.microsoft.com/office/drawing/2018/hyperlinkcolor" val="tx"/>
                    </a:ext>
                  </a:extLst>
                </a:hlinkClick>
              </a:rPr>
              <a:t>https://www.dlsweb.rmit.edu.au/lsu/content/2_assessmenttasks/assess_tuts/lit_review_LL/writing.html</a:t>
            </a:r>
            <a:r>
              <a:rPr lang="en-GB" sz="1200" dirty="0">
                <a:solidFill>
                  <a:prstClr val="black"/>
                </a:solidFill>
              </a:rPr>
              <a:t>  (accessed 11/02/2016)</a:t>
            </a:r>
          </a:p>
        </p:txBody>
      </p:sp>
    </p:spTree>
    <p:extLst>
      <p:ext uri="{BB962C8B-B14F-4D97-AF65-F5344CB8AC3E}">
        <p14:creationId xmlns:p14="http://schemas.microsoft.com/office/powerpoint/2010/main" val="31429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normAutofit/>
          </a:bodyPr>
          <a:lstStyle/>
          <a:p>
            <a:pPr algn="ctr"/>
            <a:r>
              <a:rPr lang="en-GB" sz="3600" b="1" dirty="0"/>
              <a:t>The Purpose of a Literature Review</a:t>
            </a:r>
          </a:p>
        </p:txBody>
      </p:sp>
      <p:sp>
        <p:nvSpPr>
          <p:cNvPr id="4" name="Content Placeholder 2">
            <a:extLst>
              <a:ext uri="{FF2B5EF4-FFF2-40B4-BE49-F238E27FC236}">
                <a16:creationId xmlns:a16="http://schemas.microsoft.com/office/drawing/2014/main" id="{756EB488-1D47-CFC7-839D-6EBD390A1962}"/>
              </a:ext>
            </a:extLst>
          </p:cNvPr>
          <p:cNvSpPr>
            <a:spLocks noGrp="1"/>
          </p:cNvSpPr>
          <p:nvPr>
            <p:ph idx="1"/>
          </p:nvPr>
        </p:nvSpPr>
        <p:spPr>
          <a:xfrm>
            <a:off x="1262720" y="1308696"/>
            <a:ext cx="10172700" cy="5189538"/>
          </a:xfrm>
        </p:spPr>
        <p:txBody>
          <a:bodyPr>
            <a:normAutofit/>
          </a:bodyPr>
          <a:lstStyle/>
          <a:p>
            <a:pPr marL="0" indent="0" algn="just">
              <a:buNone/>
            </a:pPr>
            <a:endParaRPr lang="en-GB" sz="2400" dirty="0">
              <a:solidFill>
                <a:srgbClr val="000000"/>
              </a:solidFill>
            </a:endParaRPr>
          </a:p>
          <a:p>
            <a:pPr marL="0" indent="0" algn="just">
              <a:buNone/>
            </a:pPr>
            <a:endParaRPr lang="en-GB" sz="2400" dirty="0">
              <a:solidFill>
                <a:srgbClr val="000000"/>
              </a:solidFill>
            </a:endParaRPr>
          </a:p>
          <a:p>
            <a:pPr marL="0" indent="0" algn="just">
              <a:buNone/>
            </a:pPr>
            <a:endParaRPr lang="en-GB" sz="2400" dirty="0">
              <a:solidFill>
                <a:srgbClr val="000000"/>
              </a:solidFill>
            </a:endParaRPr>
          </a:p>
          <a:p>
            <a:pPr marL="0" indent="0" algn="just">
              <a:buNone/>
            </a:pPr>
            <a:endParaRPr lang="en-GB" sz="2800" dirty="0">
              <a:solidFill>
                <a:srgbClr val="000000"/>
              </a:solidFill>
            </a:endParaRPr>
          </a:p>
          <a:p>
            <a:pPr marL="0" indent="0" algn="just">
              <a:buNone/>
            </a:pPr>
            <a:endParaRPr lang="en-GB" sz="2000" dirty="0">
              <a:solidFill>
                <a:srgbClr val="000000"/>
              </a:solidFill>
            </a:endParaRPr>
          </a:p>
          <a:p>
            <a:pPr marL="0" indent="0" algn="just">
              <a:buNone/>
            </a:pPr>
            <a:endParaRPr lang="en-GB" sz="2400" dirty="0">
              <a:solidFill>
                <a:srgbClr val="000000"/>
              </a:solidFill>
            </a:endParaRPr>
          </a:p>
          <a:p>
            <a:pPr marL="0" indent="0" algn="just">
              <a:buNone/>
            </a:pPr>
            <a:endParaRPr lang="en-GB" sz="2400" dirty="0"/>
          </a:p>
        </p:txBody>
      </p:sp>
      <p:pic>
        <p:nvPicPr>
          <p:cNvPr id="5" name="Picture 4">
            <a:extLst>
              <a:ext uri="{FF2B5EF4-FFF2-40B4-BE49-F238E27FC236}">
                <a16:creationId xmlns:a16="http://schemas.microsoft.com/office/drawing/2014/main" id="{CC844C16-7D1E-353E-EF28-B09C4E341B43}"/>
              </a:ext>
            </a:extLst>
          </p:cNvPr>
          <p:cNvPicPr>
            <a:picLocks noChangeAspect="1"/>
          </p:cNvPicPr>
          <p:nvPr/>
        </p:nvPicPr>
        <p:blipFill>
          <a:blip r:embed="rId2"/>
          <a:stretch>
            <a:fillRect/>
          </a:stretch>
        </p:blipFill>
        <p:spPr>
          <a:xfrm>
            <a:off x="2305950" y="1168337"/>
            <a:ext cx="7580100" cy="1055383"/>
          </a:xfrm>
          <a:prstGeom prst="rect">
            <a:avLst/>
          </a:prstGeom>
        </p:spPr>
      </p:pic>
      <p:pic>
        <p:nvPicPr>
          <p:cNvPr id="6" name="Content Placeholder 4">
            <a:extLst>
              <a:ext uri="{FF2B5EF4-FFF2-40B4-BE49-F238E27FC236}">
                <a16:creationId xmlns:a16="http://schemas.microsoft.com/office/drawing/2014/main" id="{094565E0-9CC5-9FB0-A30D-B549BF0AD81A}"/>
              </a:ext>
            </a:extLst>
          </p:cNvPr>
          <p:cNvPicPr>
            <a:picLocks noChangeAspect="1"/>
          </p:cNvPicPr>
          <p:nvPr/>
        </p:nvPicPr>
        <p:blipFill>
          <a:blip r:embed="rId3"/>
          <a:stretch>
            <a:fillRect/>
          </a:stretch>
        </p:blipFill>
        <p:spPr>
          <a:xfrm>
            <a:off x="2305950" y="2460443"/>
            <a:ext cx="7580100" cy="985899"/>
          </a:xfrm>
          <a:prstGeom prst="rect">
            <a:avLst/>
          </a:prstGeom>
        </p:spPr>
      </p:pic>
      <p:pic>
        <p:nvPicPr>
          <p:cNvPr id="7" name="Picture 6">
            <a:extLst>
              <a:ext uri="{FF2B5EF4-FFF2-40B4-BE49-F238E27FC236}">
                <a16:creationId xmlns:a16="http://schemas.microsoft.com/office/drawing/2014/main" id="{940E334A-A87C-3CD2-16A6-061B42FE7BA9}"/>
              </a:ext>
            </a:extLst>
          </p:cNvPr>
          <p:cNvPicPr>
            <a:picLocks noChangeAspect="1"/>
          </p:cNvPicPr>
          <p:nvPr/>
        </p:nvPicPr>
        <p:blipFill>
          <a:blip r:embed="rId4"/>
          <a:stretch>
            <a:fillRect/>
          </a:stretch>
        </p:blipFill>
        <p:spPr>
          <a:xfrm>
            <a:off x="2305950" y="3595029"/>
            <a:ext cx="7580100" cy="1074574"/>
          </a:xfrm>
          <a:prstGeom prst="rect">
            <a:avLst/>
          </a:prstGeom>
        </p:spPr>
      </p:pic>
      <p:pic>
        <p:nvPicPr>
          <p:cNvPr id="8" name="Picture 7">
            <a:extLst>
              <a:ext uri="{FF2B5EF4-FFF2-40B4-BE49-F238E27FC236}">
                <a16:creationId xmlns:a16="http://schemas.microsoft.com/office/drawing/2014/main" id="{B92C36A3-592A-8966-5FE2-B5F48CAE66EB}"/>
              </a:ext>
            </a:extLst>
          </p:cNvPr>
          <p:cNvPicPr>
            <a:picLocks noChangeAspect="1"/>
          </p:cNvPicPr>
          <p:nvPr/>
        </p:nvPicPr>
        <p:blipFill>
          <a:blip r:embed="rId5"/>
          <a:stretch>
            <a:fillRect/>
          </a:stretch>
        </p:blipFill>
        <p:spPr>
          <a:xfrm>
            <a:off x="2293064" y="4938668"/>
            <a:ext cx="7580100" cy="927105"/>
          </a:xfrm>
          <a:prstGeom prst="rect">
            <a:avLst/>
          </a:prstGeom>
        </p:spPr>
      </p:pic>
      <p:sp>
        <p:nvSpPr>
          <p:cNvPr id="10" name="TextBox 9">
            <a:extLst>
              <a:ext uri="{FF2B5EF4-FFF2-40B4-BE49-F238E27FC236}">
                <a16:creationId xmlns:a16="http://schemas.microsoft.com/office/drawing/2014/main" id="{36924FF8-3C5B-24A0-F95C-07BDA800453F}"/>
              </a:ext>
            </a:extLst>
          </p:cNvPr>
          <p:cNvSpPr txBox="1"/>
          <p:nvPr/>
        </p:nvSpPr>
        <p:spPr>
          <a:xfrm>
            <a:off x="1078706" y="6161290"/>
            <a:ext cx="6100762" cy="369332"/>
          </a:xfrm>
          <a:prstGeom prst="rect">
            <a:avLst/>
          </a:prstGeom>
          <a:noFill/>
        </p:spPr>
        <p:txBody>
          <a:bodyPr wrap="square">
            <a:spAutoFit/>
          </a:bodyPr>
          <a:lstStyle/>
          <a:p>
            <a:pPr>
              <a:defRPr/>
            </a:pPr>
            <a:r>
              <a:rPr lang="en-GB" dirty="0">
                <a:solidFill>
                  <a:schemeClr val="bg2">
                    <a:lumMod val="10000"/>
                  </a:schemeClr>
                </a:solidFill>
                <a:latin typeface="Arial"/>
              </a:rPr>
              <a:t>(Royal Literary Fund, 2015)</a:t>
            </a:r>
          </a:p>
        </p:txBody>
      </p:sp>
    </p:spTree>
    <p:extLst>
      <p:ext uri="{BB962C8B-B14F-4D97-AF65-F5344CB8AC3E}">
        <p14:creationId xmlns:p14="http://schemas.microsoft.com/office/powerpoint/2010/main" val="282865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GB" sz="4800" b="1">
                <a:solidFill>
                  <a:schemeClr val="accent1"/>
                </a:solidFill>
              </a:rPr>
              <a:t>The literature review is not…</a:t>
            </a:r>
          </a:p>
        </p:txBody>
      </p:sp>
      <p:sp>
        <p:nvSpPr>
          <p:cNvPr id="3" name="Content Placeholder 2"/>
          <p:cNvSpPr>
            <a:spLocks noGrp="1"/>
          </p:cNvSpPr>
          <p:nvPr>
            <p:ph idx="1"/>
          </p:nvPr>
        </p:nvSpPr>
        <p:spPr>
          <a:xfrm>
            <a:off x="4636008" y="1361440"/>
            <a:ext cx="6717792" cy="5242560"/>
          </a:xfrm>
        </p:spPr>
        <p:txBody>
          <a:bodyPr>
            <a:normAutofit fontScale="92500" lnSpcReduction="10000"/>
          </a:bodyPr>
          <a:lstStyle/>
          <a:p>
            <a:pPr marL="0" indent="0">
              <a:buNone/>
            </a:pPr>
            <a:endParaRPr lang="en-GB" sz="2400" b="1" dirty="0"/>
          </a:p>
          <a:p>
            <a:pPr marL="0" indent="0">
              <a:buNone/>
            </a:pPr>
            <a:r>
              <a:rPr lang="en-GB" sz="2400" dirty="0"/>
              <a:t>Everything you have read about a topic.</a:t>
            </a:r>
          </a:p>
          <a:p>
            <a:pPr marL="0" indent="0">
              <a:buNone/>
            </a:pPr>
            <a:r>
              <a:rPr lang="en-GB" sz="2400" b="1" dirty="0"/>
              <a:t>OR</a:t>
            </a:r>
          </a:p>
          <a:p>
            <a:pPr marL="0" indent="0">
              <a:buNone/>
            </a:pPr>
            <a:r>
              <a:rPr lang="en-GB" sz="2400" dirty="0"/>
              <a:t>An explanation of why your project is very important or better than others. </a:t>
            </a:r>
          </a:p>
          <a:p>
            <a:pPr marL="0" indent="0">
              <a:buNone/>
            </a:pPr>
            <a:r>
              <a:rPr lang="en-GB" sz="2400" b="1" dirty="0"/>
              <a:t>OR</a:t>
            </a:r>
          </a:p>
          <a:p>
            <a:pPr marL="0" indent="0">
              <a:buNone/>
            </a:pPr>
            <a:r>
              <a:rPr lang="en-GB" sz="2400" dirty="0"/>
              <a:t>Simply a descriptive, chronological list of other people’s designs or projects.</a:t>
            </a:r>
          </a:p>
          <a:p>
            <a:pPr marL="0" indent="0">
              <a:buNone/>
            </a:pPr>
            <a:r>
              <a:rPr lang="en-GB" sz="2400" dirty="0"/>
              <a:t> </a:t>
            </a:r>
          </a:p>
          <a:p>
            <a:pPr marL="0" indent="0">
              <a:buNone/>
            </a:pPr>
            <a:r>
              <a:rPr lang="en-GB" sz="2400" b="1" dirty="0"/>
              <a:t>It is a </a:t>
            </a:r>
            <a:r>
              <a:rPr lang="en-GB" sz="2400" b="1" u="sng" dirty="0"/>
              <a:t>critical analysis</a:t>
            </a:r>
            <a:r>
              <a:rPr lang="en-GB" sz="2400" b="1" dirty="0"/>
              <a:t> of the information you gathered, identifying gaps in current knowledge; by showing limitations of previous projects or solutions offered.</a:t>
            </a:r>
          </a:p>
          <a:p>
            <a:pPr marL="0" indent="0">
              <a:buNone/>
            </a:pPr>
            <a:endParaRPr lang="en-GB" sz="2000" dirty="0"/>
          </a:p>
        </p:txBody>
      </p:sp>
      <p:pic>
        <p:nvPicPr>
          <p:cNvPr id="6" name="Picture 5">
            <a:extLst>
              <a:ext uri="{FF2B5EF4-FFF2-40B4-BE49-F238E27FC236}">
                <a16:creationId xmlns:a16="http://schemas.microsoft.com/office/drawing/2014/main" id="{09361BD4-E815-4721-B9AC-1F80323AB7C2}"/>
              </a:ext>
            </a:extLst>
          </p:cNvPr>
          <p:cNvPicPr>
            <a:picLocks noChangeAspect="1"/>
          </p:cNvPicPr>
          <p:nvPr/>
        </p:nvPicPr>
        <p:blipFill rotWithShape="1">
          <a:blip r:embed="rId2"/>
          <a:srcRect l="24686" r="17853" b="2"/>
          <a:stretch/>
        </p:blipFill>
        <p:spPr>
          <a:xfrm>
            <a:off x="799188" y="1904281"/>
            <a:ext cx="3374810" cy="4272681"/>
          </a:xfrm>
          <a:prstGeom prst="rect">
            <a:avLst/>
          </a:prstGeom>
        </p:spPr>
      </p:pic>
    </p:spTree>
    <p:extLst>
      <p:ext uri="{BB962C8B-B14F-4D97-AF65-F5344CB8AC3E}">
        <p14:creationId xmlns:p14="http://schemas.microsoft.com/office/powerpoint/2010/main" val="367450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2248" y="0"/>
            <a:ext cx="10415752" cy="12139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defRPr/>
            </a:pPr>
            <a:r>
              <a:rPr lang="en-GB" sz="4800" b="1" dirty="0">
                <a:solidFill>
                  <a:schemeClr val="tx1"/>
                </a:solidFill>
                <a:latin typeface="Arial"/>
              </a:rPr>
              <a:t>Actively reading the literature</a:t>
            </a:r>
          </a:p>
        </p:txBody>
      </p:sp>
      <p:sp>
        <p:nvSpPr>
          <p:cNvPr id="3" name="Title 2"/>
          <p:cNvSpPr>
            <a:spLocks noGrp="1"/>
          </p:cNvSpPr>
          <p:nvPr>
            <p:ph type="title"/>
          </p:nvPr>
        </p:nvSpPr>
        <p:spPr>
          <a:xfrm>
            <a:off x="8797159" y="4650828"/>
            <a:ext cx="3394841" cy="2018532"/>
          </a:xfrm>
        </p:spPr>
        <p:txBody>
          <a:bodyPr>
            <a:normAutofit/>
          </a:bodyPr>
          <a:lstStyle/>
          <a:p>
            <a:pPr algn="ctr"/>
            <a:r>
              <a:rPr lang="en-GB" b="1" dirty="0">
                <a:solidFill>
                  <a:schemeClr val="tx1"/>
                </a:solidFill>
              </a:rPr>
              <a:t>How do you start?</a:t>
            </a:r>
          </a:p>
        </p:txBody>
      </p:sp>
      <p:pic>
        <p:nvPicPr>
          <p:cNvPr id="4" name="Picture 3" descr="Books"/>
          <p:cNvPicPr>
            <a:picLocks noChangeAspect="1" noChangeArrowheads="1"/>
          </p:cNvPicPr>
          <p:nvPr/>
        </p:nvPicPr>
        <p:blipFill>
          <a:blip r:embed="rId2"/>
          <a:srcRect/>
          <a:stretch>
            <a:fillRect/>
          </a:stretch>
        </p:blipFill>
        <p:spPr bwMode="auto">
          <a:xfrm>
            <a:off x="662153" y="1213992"/>
            <a:ext cx="7827612" cy="5162002"/>
          </a:xfrm>
          <a:prstGeom prst="rect">
            <a:avLst/>
          </a:prstGeom>
          <a:noFill/>
        </p:spPr>
      </p:pic>
    </p:spTree>
    <p:extLst>
      <p:ext uri="{BB962C8B-B14F-4D97-AF65-F5344CB8AC3E}">
        <p14:creationId xmlns:p14="http://schemas.microsoft.com/office/powerpoint/2010/main" val="1333491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C953EEF-9E98-440A-B0E9-A64A0C36EF44}"/>
              </a:ext>
            </a:extLst>
          </p:cNvPr>
          <p:cNvSpPr txBox="1">
            <a:spLocks noGrp="1"/>
          </p:cNvSpPr>
          <p:nvPr>
            <p:ph type="title"/>
          </p:nvPr>
        </p:nvSpPr>
        <p:spPr>
          <a:xfrm>
            <a:off x="3009900" y="1063229"/>
            <a:ext cx="6172200" cy="857250"/>
          </a:xfrm>
        </p:spPr>
        <p:txBody>
          <a:bodyPr>
            <a:normAutofit fontScale="90000"/>
          </a:bodyPr>
          <a:lstStyle/>
          <a:p>
            <a:pPr>
              <a:spcBef>
                <a:spcPct val="0"/>
              </a:spcBef>
              <a:spcAft>
                <a:spcPct val="0"/>
              </a:spcAft>
            </a:pPr>
            <a:r>
              <a:rPr lang="en-GB" altLang="en-US" sz="2700" b="1" dirty="0">
                <a:solidFill>
                  <a:srgbClr val="0070C0"/>
                </a:solidFill>
                <a:latin typeface="Arial" panose="020B0604020202020204" pitchFamily="34" charset="0"/>
                <a:cs typeface="Arial" panose="020B0604020202020204" pitchFamily="34" charset="0"/>
              </a:rPr>
              <a:t>Approaching academic reading (discuss what you think)</a:t>
            </a:r>
          </a:p>
        </p:txBody>
      </p:sp>
      <p:sp>
        <p:nvSpPr>
          <p:cNvPr id="3" name="Text Placeholder 2">
            <a:extLst>
              <a:ext uri="{FF2B5EF4-FFF2-40B4-BE49-F238E27FC236}">
                <a16:creationId xmlns:a16="http://schemas.microsoft.com/office/drawing/2014/main" id="{61725595-96E7-4876-9B5D-C7487B630AD4}"/>
              </a:ext>
            </a:extLst>
          </p:cNvPr>
          <p:cNvSpPr txBox="1">
            <a:spLocks noGrp="1"/>
          </p:cNvSpPr>
          <p:nvPr>
            <p:ph idx="1"/>
          </p:nvPr>
        </p:nvSpPr>
        <p:spPr>
          <a:xfrm>
            <a:off x="3009900" y="2057400"/>
            <a:ext cx="6172200" cy="3943350"/>
          </a:xfrm>
        </p:spPr>
        <p:txBody>
          <a:bodyPr>
            <a:normAutofit fontScale="92500" lnSpcReduction="10000"/>
          </a:bodyPr>
          <a:lstStyle/>
          <a:p>
            <a:pPr marL="152400" indent="0">
              <a:spcBef>
                <a:spcPts val="479"/>
              </a:spcBef>
              <a:spcAft>
                <a:spcPct val="0"/>
              </a:spcAft>
              <a:buClr>
                <a:srgbClr val="000000"/>
              </a:buClr>
              <a:buNone/>
              <a:defRPr/>
            </a:pPr>
            <a:r>
              <a:rPr lang="en-GB" altLang="en-US" sz="2400" b="1" dirty="0">
                <a:solidFill>
                  <a:schemeClr val="accent5"/>
                </a:solidFill>
                <a:latin typeface="Arial" panose="020B0604020202020204" pitchFamily="34" charset="0"/>
                <a:cs typeface="Arial" panose="020B0604020202020204" pitchFamily="34" charset="0"/>
              </a:rPr>
              <a:t>Useful? </a:t>
            </a:r>
            <a:r>
              <a:rPr lang="en-GB" altLang="en-US" sz="2400" b="1" dirty="0">
                <a:solidFill>
                  <a:srgbClr val="FF0000"/>
                </a:solidFill>
                <a:latin typeface="Arial" panose="020B0604020202020204" pitchFamily="34" charset="0"/>
                <a:cs typeface="Arial" panose="020B0604020202020204" pitchFamily="34" charset="0"/>
              </a:rPr>
              <a:t>Not useful? </a:t>
            </a:r>
            <a:r>
              <a:rPr lang="en-GB" altLang="en-US" sz="2400" b="1" i="1" dirty="0">
                <a:solidFill>
                  <a:srgbClr val="7030A0"/>
                </a:solidFill>
                <a:latin typeface="Arial" panose="020B0604020202020204" pitchFamily="34" charset="0"/>
                <a:cs typeface="Arial" panose="020B0604020202020204" pitchFamily="34" charset="0"/>
              </a:rPr>
              <a:t>Partly</a:t>
            </a:r>
            <a:r>
              <a:rPr lang="en-GB" altLang="en-US" sz="2400" b="1" dirty="0">
                <a:solidFill>
                  <a:srgbClr val="7030A0"/>
                </a:solidFill>
                <a:latin typeface="Arial" panose="020B0604020202020204" pitchFamily="34" charset="0"/>
                <a:cs typeface="Arial" panose="020B0604020202020204" pitchFamily="34" charset="0"/>
              </a:rPr>
              <a:t> useful?</a:t>
            </a:r>
          </a:p>
          <a:p>
            <a:pPr marL="152400" indent="0">
              <a:spcBef>
                <a:spcPts val="479"/>
              </a:spcBef>
              <a:spcAft>
                <a:spcPct val="0"/>
              </a:spcAft>
              <a:buClr>
                <a:srgbClr val="000000"/>
              </a:buClr>
              <a:buNone/>
              <a:defRPr/>
            </a:pPr>
            <a:endParaRPr lang="en-GB" altLang="en-US" sz="2400" dirty="0">
              <a:latin typeface="Arial" panose="020B0604020202020204" pitchFamily="34" charset="0"/>
              <a:cs typeface="Arial" panose="020B0604020202020204" pitchFamily="34" charset="0"/>
            </a:endParaRPr>
          </a:p>
          <a:p>
            <a:pPr>
              <a:defRPr/>
            </a:pPr>
            <a:r>
              <a:rPr lang="en-GB" dirty="0"/>
              <a:t>Predicting content from the title</a:t>
            </a:r>
          </a:p>
          <a:p>
            <a:pPr>
              <a:defRPr/>
            </a:pPr>
            <a:r>
              <a:rPr lang="en-GB" dirty="0"/>
              <a:t>Using a dictionary </a:t>
            </a:r>
          </a:p>
          <a:p>
            <a:pPr>
              <a:defRPr/>
            </a:pPr>
            <a:r>
              <a:rPr lang="en-GB" dirty="0"/>
              <a:t>Predicting content from the book or journal details </a:t>
            </a:r>
          </a:p>
          <a:p>
            <a:pPr>
              <a:defRPr/>
            </a:pPr>
            <a:r>
              <a:rPr lang="en-GB" dirty="0"/>
              <a:t>Asking Google </a:t>
            </a:r>
          </a:p>
          <a:p>
            <a:pPr>
              <a:defRPr/>
            </a:pPr>
            <a:r>
              <a:rPr lang="en-GB" dirty="0"/>
              <a:t>Focussing closely on the abstract or introduction </a:t>
            </a:r>
          </a:p>
          <a:p>
            <a:pPr>
              <a:defRPr/>
            </a:pPr>
            <a:r>
              <a:rPr lang="en-GB" dirty="0"/>
              <a:t>Ignoring unfamiliar words </a:t>
            </a:r>
            <a:r>
              <a:rPr lang="en-GB" i="1" dirty="0">
                <a:solidFill>
                  <a:srgbClr val="7030A0"/>
                </a:solidFill>
              </a:rPr>
              <a:t>initially</a:t>
            </a:r>
            <a:r>
              <a:rPr lang="en-GB" dirty="0"/>
              <a:t> </a:t>
            </a:r>
          </a:p>
          <a:p>
            <a:pPr>
              <a:defRPr/>
            </a:pPr>
            <a:r>
              <a:rPr lang="en-GB" dirty="0"/>
              <a:t>Reading the first and last sentences of each paragraph or section </a:t>
            </a:r>
            <a:r>
              <a:rPr lang="en-GB" i="1" dirty="0">
                <a:solidFill>
                  <a:srgbClr val="7030A0"/>
                </a:solidFill>
              </a:rPr>
              <a:t>in the first instance </a:t>
            </a:r>
            <a:endParaRPr lang="en-GB" dirty="0">
              <a:solidFill>
                <a:srgbClr val="7030A0"/>
              </a:solidFill>
            </a:endParaRPr>
          </a:p>
          <a:p>
            <a:pPr>
              <a:defRPr/>
            </a:pPr>
            <a:r>
              <a:rPr lang="en-GB" dirty="0"/>
              <a:t>Noting down my questions on the topic </a:t>
            </a:r>
          </a:p>
          <a:p>
            <a:pPr marL="152400" indent="0">
              <a:spcBef>
                <a:spcPts val="479"/>
              </a:spcBef>
              <a:spcAft>
                <a:spcPct val="0"/>
              </a:spcAft>
              <a:buClr>
                <a:srgbClr val="000000"/>
              </a:buClr>
              <a:buNone/>
              <a:defRPr/>
            </a:pPr>
            <a:endParaRPr lang="en-GB" altLang="en-US" sz="2400" dirty="0">
              <a:latin typeface="Arial" panose="020B0604020202020204" pitchFamily="34" charset="0"/>
              <a:cs typeface="Arial" panose="020B0604020202020204" pitchFamily="34" charset="0"/>
            </a:endParaRPr>
          </a:p>
        </p:txBody>
      </p:sp>
      <p:pic>
        <p:nvPicPr>
          <p:cNvPr id="15364" name="Picture 1">
            <a:extLst>
              <a:ext uri="{FF2B5EF4-FFF2-40B4-BE49-F238E27FC236}">
                <a16:creationId xmlns:a16="http://schemas.microsoft.com/office/drawing/2014/main" id="{46AB728C-D74C-45FE-B540-1643F8D66E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1713" y="1204078"/>
            <a:ext cx="809625" cy="702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Left Arrow 3">
            <a:extLst>
              <a:ext uri="{FF2B5EF4-FFF2-40B4-BE49-F238E27FC236}">
                <a16:creationId xmlns:a16="http://schemas.microsoft.com/office/drawing/2014/main" id="{DC027776-0F73-42AA-905F-7EBA5BA1C7EB}"/>
              </a:ext>
            </a:extLst>
          </p:cNvPr>
          <p:cNvSpPr/>
          <p:nvPr/>
        </p:nvSpPr>
        <p:spPr>
          <a:xfrm>
            <a:off x="5579270" y="3208736"/>
            <a:ext cx="4026694" cy="540544"/>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b="1" dirty="0">
                <a:solidFill>
                  <a:srgbClr val="04100D"/>
                </a:solidFill>
              </a:rPr>
              <a:t>Caution! </a:t>
            </a:r>
            <a:r>
              <a:rPr lang="en-GB" sz="1350" dirty="0">
                <a:solidFill>
                  <a:srgbClr val="04100D"/>
                </a:solidFill>
              </a:rPr>
              <a:t>A writer will usually offer definitions of key terms.</a:t>
            </a:r>
          </a:p>
        </p:txBody>
      </p:sp>
      <p:pic>
        <p:nvPicPr>
          <p:cNvPr id="11" name="Picture 10" descr="http://www.clipartbest.com/cliparts/7ia/KE6/7iaKE6AjT.png">
            <a:extLst>
              <a:ext uri="{FF2B5EF4-FFF2-40B4-BE49-F238E27FC236}">
                <a16:creationId xmlns:a16="http://schemas.microsoft.com/office/drawing/2014/main" id="{C5ED7604-16AF-4F31-9C23-E04E12CA1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8198" y="2896793"/>
            <a:ext cx="432197" cy="37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http://www.clipartbest.com/cliparts/7ia/KE6/7iaKE6AjT.png">
            <a:extLst>
              <a:ext uri="{FF2B5EF4-FFF2-40B4-BE49-F238E27FC236}">
                <a16:creationId xmlns:a16="http://schemas.microsoft.com/office/drawing/2014/main" id="{3686E35C-E8C8-4286-8E0A-EC9DCB4FB2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2490" y="4238627"/>
            <a:ext cx="432197" cy="37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http://www.clipartbest.com/cliparts/7ia/KE6/7iaKE6AjT.png">
            <a:extLst>
              <a:ext uri="{FF2B5EF4-FFF2-40B4-BE49-F238E27FC236}">
                <a16:creationId xmlns:a16="http://schemas.microsoft.com/office/drawing/2014/main" id="{8A5017BA-EB20-46CF-9A19-AD1074152F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8471" y="4617245"/>
            <a:ext cx="432197" cy="377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http://www.clipartbest.com/cliparts/7ia/KE6/7iaKE6AjT.png">
            <a:extLst>
              <a:ext uri="{FF2B5EF4-FFF2-40B4-BE49-F238E27FC236}">
                <a16:creationId xmlns:a16="http://schemas.microsoft.com/office/drawing/2014/main" id="{16000337-FC1E-4404-BDCF-A735449C87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4620" y="5161362"/>
            <a:ext cx="431006" cy="37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http://www.clipartbest.com/cliparts/7ia/KE6/7iaKE6AjT.png">
            <a:extLst>
              <a:ext uri="{FF2B5EF4-FFF2-40B4-BE49-F238E27FC236}">
                <a16:creationId xmlns:a16="http://schemas.microsoft.com/office/drawing/2014/main" id="{FA8BB18A-920A-492D-AE92-EE4D82AF0D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3765" y="5582843"/>
            <a:ext cx="432197" cy="37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http://www.clipartbest.com/cliparts/7ia/KE6/7iaKE6AjT.png">
            <a:extLst>
              <a:ext uri="{FF2B5EF4-FFF2-40B4-BE49-F238E27FC236}">
                <a16:creationId xmlns:a16="http://schemas.microsoft.com/office/drawing/2014/main" id="{80CCDAF4-A2B4-4EFA-AD86-916F65918D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6067" y="3604023"/>
            <a:ext cx="432197" cy="37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http://4.bp.blogspot.com/-58jB5JP0k4E/Vcf9tzbZmBI/AAAAAAAAGH8/pOY9oNGe88E/s1600/doubt%2Bsmiley%2Bface.jpeg">
            <a:extLst>
              <a:ext uri="{FF2B5EF4-FFF2-40B4-BE49-F238E27FC236}">
                <a16:creationId xmlns:a16="http://schemas.microsoft.com/office/drawing/2014/main" id="{C693A05A-F374-49B4-A81A-C6A4A114AC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4452" y="3327800"/>
            <a:ext cx="454819" cy="269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http://4.bp.blogspot.com/-58jB5JP0k4E/Vcf9tzbZmBI/AAAAAAAAGH8/pOY9oNGe88E/s1600/doubt%2Bsmiley%2Bface.jpeg">
            <a:extLst>
              <a:ext uri="{FF2B5EF4-FFF2-40B4-BE49-F238E27FC236}">
                <a16:creationId xmlns:a16="http://schemas.microsoft.com/office/drawing/2014/main" id="{FE511500-40B2-4B5D-9775-49F2186419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1336" y="4006453"/>
            <a:ext cx="456009" cy="270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Left Arrow 18">
            <a:extLst>
              <a:ext uri="{FF2B5EF4-FFF2-40B4-BE49-F238E27FC236}">
                <a16:creationId xmlns:a16="http://schemas.microsoft.com/office/drawing/2014/main" id="{6F358BBC-7813-4405-A224-D8311091AF46}"/>
              </a:ext>
            </a:extLst>
          </p:cNvPr>
          <p:cNvSpPr/>
          <p:nvPr/>
        </p:nvSpPr>
        <p:spPr>
          <a:xfrm>
            <a:off x="5417346" y="3870723"/>
            <a:ext cx="4188619" cy="540544"/>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b="1" dirty="0">
                <a:solidFill>
                  <a:srgbClr val="04100D"/>
                </a:solidFill>
              </a:rPr>
              <a:t>Caution! </a:t>
            </a:r>
            <a:r>
              <a:rPr lang="en-GB" sz="1350" dirty="0">
                <a:solidFill>
                  <a:srgbClr val="04100D"/>
                </a:solidFill>
              </a:rPr>
              <a:t>Does Google know the context? Might confuse matters!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 calcmode="lin" valueType="num">
                                      <p:cBhvr additive="base">
                                        <p:cTn id="28" dur="500" fill="hold"/>
                                        <p:tgtEl>
                                          <p:spTgt spid="18"/>
                                        </p:tgtEl>
                                        <p:attrNameLst>
                                          <p:attrName>ppt_x</p:attrName>
                                        </p:attrNameLst>
                                      </p:cBhvr>
                                      <p:tavLst>
                                        <p:tav tm="0">
                                          <p:val>
                                            <p:strVal val="#ppt_x"/>
                                          </p:val>
                                        </p:tav>
                                        <p:tav tm="100000">
                                          <p:val>
                                            <p:strVal val="#ppt_x"/>
                                          </p:val>
                                        </p:tav>
                                      </p:tavLst>
                                    </p:anim>
                                    <p:anim calcmode="lin" valueType="num">
                                      <p:cBhvr additive="base">
                                        <p:cTn id="29"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p:cTn id="34" dur="500" fill="hold"/>
                                        <p:tgtEl>
                                          <p:spTgt spid="19"/>
                                        </p:tgtEl>
                                        <p:attrNameLst>
                                          <p:attrName>ppt_w</p:attrName>
                                        </p:attrNameLst>
                                      </p:cBhvr>
                                      <p:tavLst>
                                        <p:tav tm="0">
                                          <p:val>
                                            <p:fltVal val="0"/>
                                          </p:val>
                                        </p:tav>
                                        <p:tav tm="100000">
                                          <p:val>
                                            <p:strVal val="#ppt_w"/>
                                          </p:val>
                                        </p:tav>
                                      </p:tavLst>
                                    </p:anim>
                                    <p:anim calcmode="lin" valueType="num">
                                      <p:cBhvr>
                                        <p:cTn id="35" dur="500" fill="hold"/>
                                        <p:tgtEl>
                                          <p:spTgt spid="19"/>
                                        </p:tgtEl>
                                        <p:attrNameLst>
                                          <p:attrName>ppt_h</p:attrName>
                                        </p:attrNameLst>
                                      </p:cBhvr>
                                      <p:tavLst>
                                        <p:tav tm="0">
                                          <p:val>
                                            <p:fltVal val="0"/>
                                          </p:val>
                                        </p:tav>
                                        <p:tav tm="100000">
                                          <p:val>
                                            <p:strVal val="#ppt_h"/>
                                          </p:val>
                                        </p:tav>
                                      </p:tavLst>
                                    </p:anim>
                                    <p:animEffect transition="in" filter="fade">
                                      <p:cBhvr>
                                        <p:cTn id="36" dur="500"/>
                                        <p:tgtEl>
                                          <p:spTgt spid="1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524000" y="0"/>
            <a:ext cx="9144000" cy="6858000"/>
          </a:xfrm>
          <a:prstGeom prst="rect">
            <a:avLst/>
          </a:prstGeom>
          <a:solidFill>
            <a:srgbClr val="0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1524000" y="871721"/>
            <a:ext cx="9144000" cy="604794"/>
          </a:xfrm>
        </p:spPr>
        <p:style>
          <a:lnRef idx="2">
            <a:schemeClr val="dk1">
              <a:shade val="50000"/>
            </a:schemeClr>
          </a:lnRef>
          <a:fillRef idx="1">
            <a:schemeClr val="dk1"/>
          </a:fillRef>
          <a:effectRef idx="0">
            <a:schemeClr val="dk1"/>
          </a:effectRef>
          <a:fontRef idx="minor">
            <a:schemeClr val="lt1"/>
          </a:fontRef>
        </p:style>
        <p:txBody>
          <a:bodyPr>
            <a:noAutofit/>
          </a:bodyPr>
          <a:lstStyle/>
          <a:p>
            <a:r>
              <a:rPr lang="en-GB" sz="3600" b="1" dirty="0"/>
              <a:t>Active reading (1)</a:t>
            </a:r>
          </a:p>
        </p:txBody>
      </p:sp>
      <p:sp>
        <p:nvSpPr>
          <p:cNvPr id="3" name="Content Placeholder 2"/>
          <p:cNvSpPr>
            <a:spLocks noGrp="1"/>
          </p:cNvSpPr>
          <p:nvPr>
            <p:ph idx="1"/>
          </p:nvPr>
        </p:nvSpPr>
        <p:spPr>
          <a:xfrm>
            <a:off x="1524000" y="1329423"/>
            <a:ext cx="9023674" cy="483398"/>
          </a:xfrm>
        </p:spPr>
        <p:txBody>
          <a:bodyPr>
            <a:noAutofit/>
          </a:bodyPr>
          <a:lstStyle/>
          <a:p>
            <a:pPr marL="0" indent="0">
              <a:buNone/>
            </a:pPr>
            <a:r>
              <a:rPr lang="en-GB" sz="1500" b="1" dirty="0"/>
              <a:t>                                           </a:t>
            </a:r>
          </a:p>
          <a:p>
            <a:pPr marL="0" indent="0" algn="ctr">
              <a:buNone/>
            </a:pPr>
            <a:endParaRPr lang="en-GB" sz="1500" b="1" dirty="0"/>
          </a:p>
        </p:txBody>
      </p:sp>
      <p:grpSp>
        <p:nvGrpSpPr>
          <p:cNvPr id="5" name="Group 4"/>
          <p:cNvGrpSpPr/>
          <p:nvPr/>
        </p:nvGrpSpPr>
        <p:grpSpPr>
          <a:xfrm>
            <a:off x="1583142" y="2077557"/>
            <a:ext cx="2594906" cy="3441997"/>
            <a:chOff x="78856" y="1627074"/>
            <a:chExt cx="3459874" cy="4589329"/>
          </a:xfrm>
        </p:grpSpPr>
        <p:pic>
          <p:nvPicPr>
            <p:cNvPr id="4" name="Picture 3"/>
            <p:cNvPicPr>
              <a:picLocks noChangeAspect="1"/>
            </p:cNvPicPr>
            <p:nvPr/>
          </p:nvPicPr>
          <p:blipFill>
            <a:blip r:embed="rId2"/>
            <a:stretch>
              <a:fillRect/>
            </a:stretch>
          </p:blipFill>
          <p:spPr>
            <a:xfrm>
              <a:off x="94244" y="1627074"/>
              <a:ext cx="3444486" cy="4589329"/>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pic>
        <p:sp>
          <p:nvSpPr>
            <p:cNvPr id="6" name="Rectangle 5"/>
            <p:cNvSpPr/>
            <p:nvPr/>
          </p:nvSpPr>
          <p:spPr>
            <a:xfrm>
              <a:off x="3301913" y="3033123"/>
              <a:ext cx="168469" cy="3170098"/>
            </a:xfrm>
            <a:prstGeom prst="rect">
              <a:avLst/>
            </a:prstGeom>
            <a:solidFill>
              <a:srgbClr val="FF0000">
                <a:alpha val="32000"/>
              </a:srgbClr>
            </a:solidFill>
          </p:spPr>
          <p:txBody>
            <a:bodyPr wrap="square" rtlCol="0">
              <a:spAutoFit/>
            </a:bodyPr>
            <a:lstStyle/>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p:txBody>
        </p:sp>
        <p:sp>
          <p:nvSpPr>
            <p:cNvPr id="7" name="Rectangle 6"/>
            <p:cNvSpPr/>
            <p:nvPr/>
          </p:nvSpPr>
          <p:spPr>
            <a:xfrm>
              <a:off x="94245" y="2864654"/>
              <a:ext cx="168469" cy="3170098"/>
            </a:xfrm>
            <a:prstGeom prst="rect">
              <a:avLst/>
            </a:prstGeom>
            <a:solidFill>
              <a:srgbClr val="FF0000">
                <a:alpha val="32000"/>
              </a:srgbClr>
            </a:solidFill>
          </p:spPr>
          <p:txBody>
            <a:bodyPr wrap="square" rtlCol="0">
              <a:spAutoFit/>
            </a:bodyPr>
            <a:lstStyle/>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p:txBody>
        </p:sp>
        <p:sp>
          <p:nvSpPr>
            <p:cNvPr id="8" name="Rectangle 7"/>
            <p:cNvSpPr/>
            <p:nvPr/>
          </p:nvSpPr>
          <p:spPr>
            <a:xfrm rot="16200000">
              <a:off x="1732254" y="2828638"/>
              <a:ext cx="168469" cy="3170098"/>
            </a:xfrm>
            <a:prstGeom prst="rect">
              <a:avLst/>
            </a:prstGeom>
            <a:solidFill>
              <a:srgbClr val="FF0000">
                <a:alpha val="32000"/>
              </a:srgbClr>
            </a:solidFill>
          </p:spPr>
          <p:txBody>
            <a:bodyPr wrap="square" rtlCol="0">
              <a:spAutoFit/>
            </a:bodyPr>
            <a:lstStyle/>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p:txBody>
        </p:sp>
        <p:sp>
          <p:nvSpPr>
            <p:cNvPr id="9" name="Rectangle 8"/>
            <p:cNvSpPr/>
            <p:nvPr/>
          </p:nvSpPr>
          <p:spPr>
            <a:xfrm rot="16200000">
              <a:off x="1579670" y="4503161"/>
              <a:ext cx="168469" cy="3170098"/>
            </a:xfrm>
            <a:prstGeom prst="rect">
              <a:avLst/>
            </a:prstGeom>
            <a:solidFill>
              <a:srgbClr val="FF0000">
                <a:alpha val="32000"/>
              </a:srgbClr>
            </a:solidFill>
          </p:spPr>
          <p:txBody>
            <a:bodyPr wrap="square" rtlCol="0">
              <a:spAutoFit/>
            </a:bodyPr>
            <a:lstStyle/>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a:p>
              <a:endParaRPr lang="en-GB" sz="1350" dirty="0"/>
            </a:p>
          </p:txBody>
        </p:sp>
      </p:grpSp>
      <p:pic>
        <p:nvPicPr>
          <p:cNvPr id="11" name="Picture 10"/>
          <p:cNvPicPr>
            <a:picLocks noChangeAspect="1"/>
          </p:cNvPicPr>
          <p:nvPr/>
        </p:nvPicPr>
        <p:blipFill>
          <a:blip r:embed="rId3"/>
          <a:stretch>
            <a:fillRect/>
          </a:stretch>
        </p:blipFill>
        <p:spPr>
          <a:xfrm>
            <a:off x="6004250" y="1829870"/>
            <a:ext cx="4543425" cy="3600450"/>
          </a:xfrm>
          <a:prstGeom prst="rect">
            <a:avLst/>
          </a:prstGeom>
        </p:spPr>
        <p:style>
          <a:lnRef idx="2">
            <a:schemeClr val="dk1"/>
          </a:lnRef>
          <a:fillRef idx="1">
            <a:schemeClr val="lt1"/>
          </a:fillRef>
          <a:effectRef idx="0">
            <a:schemeClr val="dk1"/>
          </a:effectRef>
          <a:fontRef idx="minor">
            <a:schemeClr val="dk1"/>
          </a:fontRef>
        </p:style>
      </p:pic>
      <p:grpSp>
        <p:nvGrpSpPr>
          <p:cNvPr id="21" name="Group 20"/>
          <p:cNvGrpSpPr/>
          <p:nvPr/>
        </p:nvGrpSpPr>
        <p:grpSpPr>
          <a:xfrm>
            <a:off x="6217445" y="2225514"/>
            <a:ext cx="4261871" cy="3220977"/>
            <a:chOff x="6257926" y="1824350"/>
            <a:chExt cx="5682494" cy="4294636"/>
          </a:xfrm>
        </p:grpSpPr>
        <p:sp>
          <p:nvSpPr>
            <p:cNvPr id="13" name="Rectangle 12"/>
            <p:cNvSpPr/>
            <p:nvPr/>
          </p:nvSpPr>
          <p:spPr>
            <a:xfrm>
              <a:off x="6257926" y="1824350"/>
              <a:ext cx="5682493" cy="677108"/>
            </a:xfrm>
            <a:prstGeom prst="rect">
              <a:avLst/>
            </a:prstGeom>
            <a:solidFill>
              <a:srgbClr val="FF0000">
                <a:alpha val="32000"/>
              </a:srgbClr>
            </a:solidFill>
          </p:spPr>
          <p:txBody>
            <a:bodyPr wrap="square" rtlCol="0">
              <a:spAutoFit/>
            </a:bodyPr>
            <a:lstStyle/>
            <a:p>
              <a:endParaRPr lang="en-GB" sz="1350" dirty="0"/>
            </a:p>
            <a:p>
              <a:endParaRPr lang="en-GB" sz="1350" dirty="0"/>
            </a:p>
          </p:txBody>
        </p:sp>
        <p:sp>
          <p:nvSpPr>
            <p:cNvPr id="15" name="Rectangle 14"/>
            <p:cNvSpPr/>
            <p:nvPr/>
          </p:nvSpPr>
          <p:spPr>
            <a:xfrm>
              <a:off x="6301621" y="5441878"/>
              <a:ext cx="5638799" cy="677108"/>
            </a:xfrm>
            <a:prstGeom prst="rect">
              <a:avLst/>
            </a:prstGeom>
            <a:solidFill>
              <a:srgbClr val="FF0000">
                <a:alpha val="32000"/>
              </a:srgbClr>
            </a:solidFill>
          </p:spPr>
          <p:txBody>
            <a:bodyPr wrap="square" rtlCol="0">
              <a:spAutoFit/>
            </a:bodyPr>
            <a:lstStyle/>
            <a:p>
              <a:endParaRPr lang="en-GB" sz="1350" dirty="0"/>
            </a:p>
            <a:p>
              <a:endParaRPr lang="en-GB" sz="1350" dirty="0"/>
            </a:p>
          </p:txBody>
        </p:sp>
      </p:grpSp>
      <p:sp>
        <p:nvSpPr>
          <p:cNvPr id="19" name="Right Arrow 18"/>
          <p:cNvSpPr/>
          <p:nvPr/>
        </p:nvSpPr>
        <p:spPr>
          <a:xfrm>
            <a:off x="4290154" y="1957771"/>
            <a:ext cx="1848441" cy="3681567"/>
          </a:xfrm>
          <a:prstGeom prst="rightArrow">
            <a:avLst>
              <a:gd name="adj1" fmla="val 50000"/>
              <a:gd name="adj2" fmla="val 46116"/>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t>Pay attention to the first &amp; last sentence in each paragraph.</a:t>
            </a:r>
          </a:p>
        </p:txBody>
      </p:sp>
    </p:spTree>
    <p:extLst>
      <p:ext uri="{BB962C8B-B14F-4D97-AF65-F5344CB8AC3E}">
        <p14:creationId xmlns:p14="http://schemas.microsoft.com/office/powerpoint/2010/main" val="60925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47489"/>
            <a:ext cx="8229600" cy="724942"/>
          </a:xfrm>
        </p:spPr>
        <p:txBody>
          <a:bodyPr>
            <a:normAutofit/>
          </a:bodyPr>
          <a:lstStyle/>
          <a:p>
            <a:pPr algn="ctr"/>
            <a:r>
              <a:rPr lang="en-GB" sz="3600" b="1" dirty="0"/>
              <a:t>How to Read the articles</a:t>
            </a:r>
          </a:p>
        </p:txBody>
      </p:sp>
      <p:sp>
        <p:nvSpPr>
          <p:cNvPr id="3" name="Content Placeholder 2"/>
          <p:cNvSpPr>
            <a:spLocks noGrp="1"/>
          </p:cNvSpPr>
          <p:nvPr>
            <p:ph idx="1"/>
          </p:nvPr>
        </p:nvSpPr>
        <p:spPr>
          <a:xfrm>
            <a:off x="938212" y="1114178"/>
            <a:ext cx="10620375" cy="5467746"/>
          </a:xfrm>
        </p:spPr>
        <p:txBody>
          <a:bodyPr>
            <a:noAutofit/>
          </a:bodyPr>
          <a:lstStyle/>
          <a:p>
            <a:pPr>
              <a:spcBef>
                <a:spcPts val="0"/>
              </a:spcBef>
            </a:pPr>
            <a:r>
              <a:rPr lang="en-GB" sz="2000" b="1" i="1" dirty="0">
                <a:solidFill>
                  <a:schemeClr val="tx1"/>
                </a:solidFill>
              </a:rPr>
              <a:t>Read selectively</a:t>
            </a:r>
            <a:r>
              <a:rPr lang="en-GB" sz="2000" i="1" dirty="0">
                <a:solidFill>
                  <a:schemeClr val="tx1"/>
                </a:solidFill>
              </a:rPr>
              <a:t>. </a:t>
            </a:r>
          </a:p>
          <a:p>
            <a:pPr lvl="1">
              <a:spcBef>
                <a:spcPts val="0"/>
              </a:spcBef>
              <a:buFont typeface="Arial" panose="020B0604020202020204" pitchFamily="34" charset="0"/>
              <a:buChar char="•"/>
            </a:pPr>
            <a:r>
              <a:rPr lang="en-GB" sz="2000" dirty="0">
                <a:solidFill>
                  <a:schemeClr val="bg2">
                    <a:lumMod val="10000"/>
                  </a:schemeClr>
                </a:solidFill>
              </a:rPr>
              <a:t>Don't start by reading the articles from beginning to end. </a:t>
            </a:r>
          </a:p>
          <a:p>
            <a:pPr lvl="1">
              <a:spcBef>
                <a:spcPts val="0"/>
              </a:spcBef>
              <a:buFont typeface="Arial" panose="020B0604020202020204" pitchFamily="34" charset="0"/>
              <a:buChar char="•"/>
            </a:pPr>
            <a:r>
              <a:rPr lang="en-GB" sz="2000" dirty="0">
                <a:solidFill>
                  <a:schemeClr val="bg2">
                    <a:lumMod val="10000"/>
                  </a:schemeClr>
                </a:solidFill>
              </a:rPr>
              <a:t>First, read just the </a:t>
            </a:r>
            <a:r>
              <a:rPr lang="en-GB" sz="2000" b="1" dirty="0">
                <a:solidFill>
                  <a:schemeClr val="tx1"/>
                </a:solidFill>
              </a:rPr>
              <a:t>abstract / keywords / subheadings / conclusion </a:t>
            </a:r>
            <a:r>
              <a:rPr lang="en-GB" sz="2000" dirty="0">
                <a:solidFill>
                  <a:schemeClr val="bg2">
                    <a:lumMod val="10000"/>
                  </a:schemeClr>
                </a:solidFill>
              </a:rPr>
              <a:t>to get an </a:t>
            </a:r>
            <a:r>
              <a:rPr lang="en-GB" sz="2000" b="1" dirty="0">
                <a:solidFill>
                  <a:schemeClr val="tx1"/>
                </a:solidFill>
              </a:rPr>
              <a:t>overview of the study </a:t>
            </a:r>
            <a:r>
              <a:rPr lang="en-GB" sz="2000" dirty="0">
                <a:solidFill>
                  <a:schemeClr val="bg2">
                    <a:lumMod val="10000"/>
                  </a:schemeClr>
                </a:solidFill>
              </a:rPr>
              <a:t>and </a:t>
            </a:r>
            <a:r>
              <a:rPr lang="en-GB" sz="2000" b="1" dirty="0">
                <a:solidFill>
                  <a:schemeClr val="tx1"/>
                </a:solidFill>
              </a:rPr>
              <a:t>identify the main themes</a:t>
            </a:r>
            <a:r>
              <a:rPr lang="en-GB" sz="2000" dirty="0">
                <a:solidFill>
                  <a:schemeClr val="bg2">
                    <a:lumMod val="10000"/>
                  </a:schemeClr>
                </a:solidFill>
              </a:rPr>
              <a:t>.</a:t>
            </a:r>
          </a:p>
          <a:p>
            <a:pPr>
              <a:spcBef>
                <a:spcPts val="0"/>
              </a:spcBef>
            </a:pPr>
            <a:endParaRPr lang="en-GB" sz="2000" dirty="0">
              <a:solidFill>
                <a:schemeClr val="bg2">
                  <a:lumMod val="10000"/>
                </a:schemeClr>
              </a:solidFill>
            </a:endParaRPr>
          </a:p>
          <a:p>
            <a:pPr>
              <a:spcBef>
                <a:spcPts val="0"/>
              </a:spcBef>
            </a:pPr>
            <a:r>
              <a:rPr lang="en-GB" sz="2000" b="1" i="1" dirty="0">
                <a:solidFill>
                  <a:schemeClr val="tx1"/>
                </a:solidFill>
              </a:rPr>
              <a:t>Scan the article </a:t>
            </a:r>
            <a:r>
              <a:rPr lang="en-GB" sz="2000" dirty="0">
                <a:solidFill>
                  <a:schemeClr val="bg2">
                    <a:lumMod val="10000"/>
                  </a:schemeClr>
                </a:solidFill>
              </a:rPr>
              <a:t>to identify the answers to these “Why-What-What-What” questions:</a:t>
            </a:r>
          </a:p>
          <a:p>
            <a:pPr>
              <a:spcBef>
                <a:spcPts val="0"/>
              </a:spcBef>
            </a:pPr>
            <a:endParaRPr lang="en-GB" sz="2000" dirty="0">
              <a:solidFill>
                <a:schemeClr val="bg2">
                  <a:lumMod val="10000"/>
                </a:schemeClr>
              </a:solidFill>
            </a:endParaRPr>
          </a:p>
          <a:p>
            <a:pPr marL="457200" indent="-457200">
              <a:spcBef>
                <a:spcPts val="0"/>
              </a:spcBef>
              <a:buAutoNum type="arabicParenBoth"/>
            </a:pPr>
            <a:r>
              <a:rPr lang="en-GB" sz="2000" dirty="0">
                <a:solidFill>
                  <a:schemeClr val="bg2">
                    <a:lumMod val="10000"/>
                  </a:schemeClr>
                </a:solidFill>
              </a:rPr>
              <a:t>Why did they do the study? Why does it matter?</a:t>
            </a:r>
          </a:p>
          <a:p>
            <a:pPr marL="0" indent="0">
              <a:spcBef>
                <a:spcPts val="0"/>
              </a:spcBef>
              <a:buNone/>
            </a:pPr>
            <a:r>
              <a:rPr lang="en-GB" sz="2000" dirty="0">
                <a:solidFill>
                  <a:schemeClr val="bg2">
                    <a:lumMod val="10000"/>
                  </a:schemeClr>
                </a:solidFill>
              </a:rPr>
              <a:t>			</a:t>
            </a:r>
            <a:r>
              <a:rPr lang="en-GB" sz="2000" b="1" dirty="0">
                <a:solidFill>
                  <a:schemeClr val="tx1"/>
                </a:solidFill>
              </a:rPr>
              <a:t>Introduction: the research question</a:t>
            </a:r>
          </a:p>
          <a:p>
            <a:pPr marL="0" indent="0">
              <a:spcBef>
                <a:spcPts val="0"/>
              </a:spcBef>
              <a:buNone/>
            </a:pPr>
            <a:endParaRPr lang="en-GB" sz="2000" b="1" dirty="0">
              <a:solidFill>
                <a:schemeClr val="bg2">
                  <a:lumMod val="10000"/>
                </a:schemeClr>
              </a:solidFill>
            </a:endParaRPr>
          </a:p>
          <a:p>
            <a:pPr marL="0" indent="0">
              <a:spcBef>
                <a:spcPts val="0"/>
              </a:spcBef>
              <a:buNone/>
            </a:pPr>
            <a:r>
              <a:rPr lang="en-GB" sz="2000" dirty="0">
                <a:solidFill>
                  <a:schemeClr val="bg2">
                    <a:lumMod val="10000"/>
                  </a:schemeClr>
                </a:solidFill>
              </a:rPr>
              <a:t>(2) What did they do? </a:t>
            </a:r>
          </a:p>
          <a:p>
            <a:pPr marL="0" indent="0">
              <a:spcBef>
                <a:spcPts val="0"/>
              </a:spcBef>
              <a:buNone/>
            </a:pPr>
            <a:r>
              <a:rPr lang="en-GB" sz="2000" b="1" dirty="0">
                <a:solidFill>
                  <a:schemeClr val="bg2">
                    <a:lumMod val="10000"/>
                  </a:schemeClr>
                </a:solidFill>
              </a:rPr>
              <a:t>		</a:t>
            </a:r>
            <a:r>
              <a:rPr lang="en-GB" sz="2000" b="1" dirty="0">
                <a:solidFill>
                  <a:schemeClr val="tx1"/>
                </a:solidFill>
              </a:rPr>
              <a:t>	Methods</a:t>
            </a:r>
          </a:p>
          <a:p>
            <a:pPr marL="0" indent="0">
              <a:spcBef>
                <a:spcPts val="0"/>
              </a:spcBef>
              <a:buNone/>
            </a:pPr>
            <a:endParaRPr lang="en-GB" sz="2000" dirty="0">
              <a:solidFill>
                <a:schemeClr val="bg2">
                  <a:lumMod val="10000"/>
                </a:schemeClr>
              </a:solidFill>
            </a:endParaRPr>
          </a:p>
          <a:p>
            <a:pPr marL="0" indent="0">
              <a:spcBef>
                <a:spcPts val="0"/>
              </a:spcBef>
              <a:buNone/>
            </a:pPr>
            <a:r>
              <a:rPr lang="en-GB" sz="2000" dirty="0">
                <a:solidFill>
                  <a:schemeClr val="bg2">
                    <a:lumMod val="10000"/>
                  </a:schemeClr>
                </a:solidFill>
              </a:rPr>
              <a:t>(3) What did they find? </a:t>
            </a:r>
          </a:p>
          <a:p>
            <a:pPr marL="0" indent="0">
              <a:spcBef>
                <a:spcPts val="0"/>
              </a:spcBef>
              <a:buNone/>
            </a:pPr>
            <a:r>
              <a:rPr lang="en-GB" sz="2000" b="1" dirty="0">
                <a:solidFill>
                  <a:schemeClr val="bg2">
                    <a:lumMod val="10000"/>
                  </a:schemeClr>
                </a:solidFill>
              </a:rPr>
              <a:t>			</a:t>
            </a:r>
            <a:r>
              <a:rPr lang="en-GB" sz="2000" b="1" dirty="0">
                <a:solidFill>
                  <a:schemeClr val="tx1"/>
                </a:solidFill>
              </a:rPr>
              <a:t>Results</a:t>
            </a:r>
          </a:p>
          <a:p>
            <a:pPr marL="0" indent="0">
              <a:spcBef>
                <a:spcPts val="0"/>
              </a:spcBef>
              <a:buNone/>
            </a:pPr>
            <a:endParaRPr lang="en-GB" sz="2000" dirty="0">
              <a:solidFill>
                <a:schemeClr val="bg2">
                  <a:lumMod val="10000"/>
                </a:schemeClr>
              </a:solidFill>
            </a:endParaRPr>
          </a:p>
          <a:p>
            <a:pPr marL="0" indent="0">
              <a:spcBef>
                <a:spcPts val="0"/>
              </a:spcBef>
              <a:buNone/>
            </a:pPr>
            <a:r>
              <a:rPr lang="en-GB" sz="2000" dirty="0">
                <a:solidFill>
                  <a:schemeClr val="bg2">
                    <a:lumMod val="10000"/>
                  </a:schemeClr>
                </a:solidFill>
              </a:rPr>
              <a:t>(4) What does it mean? </a:t>
            </a:r>
          </a:p>
          <a:p>
            <a:pPr marL="0" indent="0">
              <a:spcBef>
                <a:spcPts val="0"/>
              </a:spcBef>
              <a:buNone/>
            </a:pPr>
            <a:r>
              <a:rPr lang="en-GB" sz="2000" b="1" dirty="0">
                <a:solidFill>
                  <a:schemeClr val="bg2">
                    <a:lumMod val="10000"/>
                  </a:schemeClr>
                </a:solidFill>
              </a:rPr>
              <a:t>			</a:t>
            </a:r>
            <a:r>
              <a:rPr lang="en-GB" sz="2000" b="1" dirty="0">
                <a:solidFill>
                  <a:schemeClr val="tx1"/>
                </a:solidFill>
              </a:rPr>
              <a:t>Discussion</a:t>
            </a:r>
          </a:p>
        </p:txBody>
      </p:sp>
    </p:spTree>
    <p:extLst>
      <p:ext uri="{BB962C8B-B14F-4D97-AF65-F5344CB8AC3E}">
        <p14:creationId xmlns:p14="http://schemas.microsoft.com/office/powerpoint/2010/main" val="367435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5831" y="886125"/>
            <a:ext cx="10422732" cy="5189140"/>
          </a:xfrm>
        </p:spPr>
        <p:txBody>
          <a:bodyPr>
            <a:normAutofit fontScale="92500" lnSpcReduction="10000"/>
          </a:bodyPr>
          <a:lstStyle/>
          <a:p>
            <a:pPr marL="0" indent="0" algn="just">
              <a:buNone/>
            </a:pPr>
            <a:r>
              <a:rPr lang="en-GB" sz="2400" b="1" dirty="0">
                <a:solidFill>
                  <a:schemeClr val="tx1"/>
                </a:solidFill>
              </a:rPr>
              <a:t>Questions to Consider and Elements to Include in your literature review:</a:t>
            </a:r>
          </a:p>
          <a:p>
            <a:pPr marL="0" indent="0" algn="just">
              <a:buNone/>
            </a:pPr>
            <a:endParaRPr lang="en-GB" sz="24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endParaRPr>
          </a:p>
          <a:p>
            <a:pPr lvl="1" algn="just">
              <a:buFont typeface="Arial" panose="020B0604020202020204" pitchFamily="34" charset="0"/>
              <a:buChar char="•"/>
              <a:tabLst>
                <a:tab pos="-457200" algn="l"/>
                <a:tab pos="457200" algn="l"/>
                <a:tab pos="4914900" algn="l"/>
                <a:tab pos="5220970" algn="r"/>
              </a:tabLst>
            </a:pP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Why is it important </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to investigate this issue? </a:t>
            </a:r>
          </a:p>
          <a:p>
            <a:pPr lvl="1" algn="just">
              <a:buFont typeface="Arial" panose="020B0604020202020204" pitchFamily="34" charset="0"/>
              <a:buChar char="•"/>
              <a:tabLst>
                <a:tab pos="-457200" algn="l"/>
                <a:tab pos="457200" algn="l"/>
                <a:tab pos="4914900" algn="l"/>
                <a:tab pos="5220970" algn="r"/>
              </a:tabLst>
            </a:pP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What is the </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motivation for the research</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p>
          <a:p>
            <a:pPr lvl="1" algn="just">
              <a:buFont typeface="Arial" panose="020B0604020202020204" pitchFamily="34" charset="0"/>
              <a:buChar char="•"/>
              <a:tabLst>
                <a:tab pos="-457200" algn="l"/>
                <a:tab pos="457200" algn="l"/>
                <a:tab pos="4914900" algn="l"/>
                <a:tab pos="5220970" algn="r"/>
              </a:tabLst>
            </a:pP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What has </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previous research </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 the area </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shown</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What </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hasn’t it shown</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p>
          <a:p>
            <a:pPr lvl="1" algn="just">
              <a:buFont typeface="Arial" panose="020B0604020202020204" pitchFamily="34" charset="0"/>
              <a:buChar char="•"/>
              <a:tabLst>
                <a:tab pos="-457200" algn="l"/>
                <a:tab pos="457200" algn="l"/>
                <a:tab pos="4914900" algn="l"/>
                <a:tab pos="5220970" algn="r"/>
              </a:tabLst>
            </a:pP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Is there a </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clear gap </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 the literature? </a:t>
            </a:r>
          </a:p>
          <a:p>
            <a:pPr lvl="1" algn="just">
              <a:buFont typeface="Arial" panose="020B0604020202020204" pitchFamily="34" charset="0"/>
              <a:buChar char="•"/>
              <a:tabLst>
                <a:tab pos="-457200" algn="l"/>
                <a:tab pos="457200" algn="l"/>
                <a:tab pos="4914900" algn="l"/>
                <a:tab pos="5220970" algn="r"/>
              </a:tabLst>
            </a:pP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Why is this study</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 necessary</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Is it perhaps a partial replication of an earlier study being carried out with a different sample of participants? </a:t>
            </a:r>
          </a:p>
          <a:p>
            <a:pPr lvl="1" algn="just">
              <a:buFont typeface="Arial" panose="020B0604020202020204" pitchFamily="34" charset="0"/>
              <a:buChar char="•"/>
              <a:tabLst>
                <a:tab pos="-457200" algn="l"/>
                <a:tab pos="457200" algn="l"/>
                <a:tab pos="4914900" algn="l"/>
                <a:tab pos="5220970" algn="r"/>
              </a:tabLst>
            </a:pP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What will be the </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potential importance/significance </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of your r</a:t>
            </a:r>
            <a:r>
              <a:rPr lang="en-GB" sz="2000" b="1"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esearch findings</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 other words, why do we care? </a:t>
            </a:r>
          </a:p>
          <a:p>
            <a:pPr marL="0" indent="0" algn="just">
              <a:buNone/>
              <a:tabLst>
                <a:tab pos="-457200" algn="l"/>
                <a:tab pos="457200" algn="l"/>
                <a:tab pos="4914900" algn="l"/>
                <a:tab pos="5220970" algn="r"/>
              </a:tabLst>
            </a:pPr>
            <a:endPar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0" indent="0" algn="just">
              <a:buNone/>
              <a:tabLst>
                <a:tab pos="-457200" algn="l"/>
                <a:tab pos="457200" algn="l"/>
                <a:tab pos="4914900" algn="l"/>
                <a:tab pos="5220970" algn="r"/>
              </a:tabLst>
            </a:pP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section should provide </a:t>
            </a:r>
            <a:r>
              <a:rPr lang="en-GB" sz="2000" b="1" u="sng"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 clear rationale</a:t>
            </a:r>
            <a:r>
              <a:rPr lang="en-GB" sz="20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as to why you are carrying out the study. You should have a clear set of aims and a clear and sensible research question. The research question should logically relate to the literature set out in your review.</a:t>
            </a:r>
            <a:endParaRPr lang="en-GB" sz="2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FEA3BED-B9E7-87AB-2EB4-F86F78411E2D}"/>
              </a:ext>
            </a:extLst>
          </p:cNvPr>
          <p:cNvSpPr txBox="1"/>
          <p:nvPr/>
        </p:nvSpPr>
        <p:spPr>
          <a:xfrm>
            <a:off x="935830" y="6117827"/>
            <a:ext cx="6150769" cy="307777"/>
          </a:xfrm>
          <a:prstGeom prst="rect">
            <a:avLst/>
          </a:prstGeom>
          <a:noFill/>
        </p:spPr>
        <p:txBody>
          <a:bodyPr wrap="square" rtlCol="0">
            <a:spAutoFit/>
          </a:bodyPr>
          <a:lstStyle/>
          <a:p>
            <a:r>
              <a:rPr lang="en-US" sz="1400" dirty="0"/>
              <a:t>– </a:t>
            </a:r>
          </a:p>
        </p:txBody>
      </p:sp>
    </p:spTree>
    <p:extLst>
      <p:ext uri="{BB962C8B-B14F-4D97-AF65-F5344CB8AC3E}">
        <p14:creationId xmlns:p14="http://schemas.microsoft.com/office/powerpoint/2010/main" val="1818940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0336"/>
            <a:ext cx="10972800" cy="1143000"/>
          </a:xfrm>
        </p:spPr>
        <p:txBody>
          <a:bodyPr>
            <a:normAutofit/>
          </a:bodyPr>
          <a:lstStyle/>
          <a:p>
            <a:pPr algn="ctr"/>
            <a:r>
              <a:rPr lang="en-GB" sz="3600" b="1" dirty="0"/>
              <a:t>How to Organise your Notes</a:t>
            </a:r>
          </a:p>
        </p:txBody>
      </p:sp>
      <p:sp>
        <p:nvSpPr>
          <p:cNvPr id="3" name="Content Placeholder 2"/>
          <p:cNvSpPr>
            <a:spLocks noGrp="1"/>
          </p:cNvSpPr>
          <p:nvPr>
            <p:ph idx="1"/>
          </p:nvPr>
        </p:nvSpPr>
        <p:spPr>
          <a:xfrm>
            <a:off x="1085850" y="1600201"/>
            <a:ext cx="10496550" cy="4525963"/>
          </a:xfrm>
        </p:spPr>
        <p:txBody>
          <a:bodyPr>
            <a:normAutofit/>
          </a:bodyPr>
          <a:lstStyle/>
          <a:p>
            <a:r>
              <a:rPr lang="en-GB" sz="2800" i="1" dirty="0">
                <a:solidFill>
                  <a:schemeClr val="bg2">
                    <a:lumMod val="10000"/>
                  </a:schemeClr>
                </a:solidFill>
              </a:rPr>
              <a:t>You may wish to </a:t>
            </a:r>
            <a:r>
              <a:rPr lang="en-GB" sz="2800" b="1" i="1" dirty="0">
                <a:solidFill>
                  <a:schemeClr val="tx1"/>
                </a:solidFill>
              </a:rPr>
              <a:t>create a summary sheet </a:t>
            </a:r>
            <a:r>
              <a:rPr lang="en-GB" sz="2800" dirty="0">
                <a:solidFill>
                  <a:schemeClr val="bg2">
                    <a:lumMod val="10000"/>
                  </a:schemeClr>
                </a:solidFill>
              </a:rPr>
              <a:t>of each article’s key points. </a:t>
            </a:r>
          </a:p>
          <a:p>
            <a:pPr marL="0" indent="0">
              <a:buNone/>
            </a:pPr>
            <a:endParaRPr lang="en-GB" sz="2800" dirty="0">
              <a:solidFill>
                <a:schemeClr val="bg2">
                  <a:lumMod val="10000"/>
                </a:schemeClr>
              </a:solidFill>
            </a:endParaRPr>
          </a:p>
          <a:p>
            <a:r>
              <a:rPr lang="en-GB" sz="2800" dirty="0">
                <a:solidFill>
                  <a:schemeClr val="bg2">
                    <a:lumMod val="10000"/>
                  </a:schemeClr>
                </a:solidFill>
              </a:rPr>
              <a:t>This will help you to integrate each article into your paper and synthesise their arguments together.</a:t>
            </a:r>
          </a:p>
        </p:txBody>
      </p:sp>
    </p:spTree>
    <p:extLst>
      <p:ext uri="{BB962C8B-B14F-4D97-AF65-F5344CB8AC3E}">
        <p14:creationId xmlns:p14="http://schemas.microsoft.com/office/powerpoint/2010/main" val="299023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5405" y="930804"/>
            <a:ext cx="8596668" cy="665018"/>
          </a:xfrm>
        </p:spPr>
        <p:txBody>
          <a:bodyPr>
            <a:normAutofit fontScale="90000"/>
          </a:bodyPr>
          <a:lstStyle/>
          <a:p>
            <a:r>
              <a:rPr lang="en-GB" dirty="0"/>
              <a:t>Noting information down: organisation is key!</a:t>
            </a:r>
          </a:p>
        </p:txBody>
      </p:sp>
      <p:pic>
        <p:nvPicPr>
          <p:cNvPr id="6" name="Content Placeholder 5"/>
          <p:cNvPicPr>
            <a:picLocks noGrp="1" noChangeAspect="1"/>
          </p:cNvPicPr>
          <p:nvPr>
            <p:ph idx="1"/>
          </p:nvPr>
        </p:nvPicPr>
        <p:blipFill>
          <a:blip r:embed="rId2"/>
          <a:stretch>
            <a:fillRect/>
          </a:stretch>
        </p:blipFill>
        <p:spPr>
          <a:xfrm>
            <a:off x="411163" y="1943113"/>
            <a:ext cx="9281477" cy="2966431"/>
          </a:xfrm>
          <a:prstGeom prst="rect">
            <a:avLst/>
          </a:prstGeom>
        </p:spPr>
      </p:pic>
      <p:sp>
        <p:nvSpPr>
          <p:cNvPr id="5" name="Rectangle 4"/>
          <p:cNvSpPr/>
          <p:nvPr/>
        </p:nvSpPr>
        <p:spPr>
          <a:xfrm>
            <a:off x="630229" y="5231690"/>
            <a:ext cx="5871155" cy="1015663"/>
          </a:xfrm>
          <a:prstGeom prst="rect">
            <a:avLst/>
          </a:prstGeom>
        </p:spPr>
        <p:txBody>
          <a:bodyPr wrap="square">
            <a:spAutoFit/>
          </a:bodyPr>
          <a:lstStyle/>
          <a:p>
            <a:r>
              <a:rPr lang="en-GB" dirty="0">
                <a:solidFill>
                  <a:srgbClr val="2E83C3">
                    <a:lumMod val="75000"/>
                  </a:srgbClr>
                </a:solidFill>
                <a:hlinkClick r:id="rId3"/>
              </a:rPr>
              <a:t>http://www.citethemrightonline.com</a:t>
            </a:r>
            <a:r>
              <a:rPr lang="en-GB" sz="2400" dirty="0">
                <a:solidFill>
                  <a:srgbClr val="2E83C3">
                    <a:lumMod val="75000"/>
                  </a:srgbClr>
                </a:solidFill>
                <a:hlinkClick r:id="rId3"/>
              </a:rPr>
              <a:t>/</a:t>
            </a:r>
            <a:endParaRPr lang="en-GB" sz="2400" dirty="0">
              <a:solidFill>
                <a:srgbClr val="2E83C3">
                  <a:lumMod val="75000"/>
                </a:srgbClr>
              </a:solidFill>
            </a:endParaRPr>
          </a:p>
          <a:p>
            <a:endParaRPr lang="en-GB" sz="3600" dirty="0">
              <a:solidFill>
                <a:prstClr val="black"/>
              </a:solidFill>
            </a:endParaRPr>
          </a:p>
        </p:txBody>
      </p:sp>
      <p:sp>
        <p:nvSpPr>
          <p:cNvPr id="3" name="Left Arrow 2"/>
          <p:cNvSpPr/>
          <p:nvPr/>
        </p:nvSpPr>
        <p:spPr>
          <a:xfrm>
            <a:off x="8165592" y="2956940"/>
            <a:ext cx="4026408" cy="1551051"/>
          </a:xfrm>
          <a:prstGeom prst="leftArrow">
            <a:avLst/>
          </a:prstGeom>
          <a:solidFill>
            <a:srgbClr val="5BC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t>Structured notetaking helps you keep your notes organised &amp; avoid plagiarism.</a:t>
            </a:r>
          </a:p>
        </p:txBody>
      </p:sp>
    </p:spTree>
    <p:extLst>
      <p:ext uri="{BB962C8B-B14F-4D97-AF65-F5344CB8AC3E}">
        <p14:creationId xmlns:p14="http://schemas.microsoft.com/office/powerpoint/2010/main" val="308883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7190" y="1149323"/>
            <a:ext cx="5735320" cy="4647844"/>
          </a:xfrm>
          <a:prstGeom prst="rect">
            <a:avLst/>
          </a:prstGeom>
        </p:spPr>
      </p:pic>
      <p:sp>
        <p:nvSpPr>
          <p:cNvPr id="3" name="Subtitle 2"/>
          <p:cNvSpPr>
            <a:spLocks noGrp="1"/>
          </p:cNvSpPr>
          <p:nvPr>
            <p:ph type="subTitle" idx="1"/>
          </p:nvPr>
        </p:nvSpPr>
        <p:spPr>
          <a:xfrm>
            <a:off x="4839970" y="3289300"/>
            <a:ext cx="1889760" cy="418723"/>
          </a:xfrm>
        </p:spPr>
        <p:txBody>
          <a:bodyPr>
            <a:normAutofit/>
          </a:bodyPr>
          <a:lstStyle/>
          <a:p>
            <a:r>
              <a:rPr lang="en-GB" b="1" dirty="0">
                <a:solidFill>
                  <a:schemeClr val="tx1"/>
                </a:solidFill>
                <a:latin typeface="Calisto MT" panose="02040603050505030304" pitchFamily="18" charset="0"/>
              </a:rPr>
              <a:t>Your topic</a:t>
            </a:r>
          </a:p>
        </p:txBody>
      </p:sp>
      <p:sp>
        <p:nvSpPr>
          <p:cNvPr id="5" name="Oval Callout 4"/>
          <p:cNvSpPr/>
          <p:nvPr/>
        </p:nvSpPr>
        <p:spPr>
          <a:xfrm>
            <a:off x="8572500" y="1104366"/>
            <a:ext cx="2565400" cy="1435100"/>
          </a:xfrm>
          <a:prstGeom prst="wedgeEllipseCallout">
            <a:avLst>
              <a:gd name="adj1" fmla="val -69348"/>
              <a:gd name="adj2" fmla="val 4214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6">
                    <a:lumMod val="75000"/>
                  </a:schemeClr>
                </a:solidFill>
                <a:latin typeface="Calisto MT" panose="02040603050505030304" pitchFamily="18" charset="0"/>
              </a:rPr>
              <a:t>Peterson (2010)</a:t>
            </a:r>
          </a:p>
        </p:txBody>
      </p:sp>
      <p:sp>
        <p:nvSpPr>
          <p:cNvPr id="6" name="Oval Callout 5"/>
          <p:cNvSpPr/>
          <p:nvPr/>
        </p:nvSpPr>
        <p:spPr>
          <a:xfrm>
            <a:off x="561340" y="1244066"/>
            <a:ext cx="2082800" cy="1295400"/>
          </a:xfrm>
          <a:prstGeom prst="wedgeEllipseCallout">
            <a:avLst>
              <a:gd name="adj1" fmla="val 73679"/>
              <a:gd name="adj2" fmla="val 4779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latin typeface="Calisto MT" panose="02040603050505030304" pitchFamily="18" charset="0"/>
              </a:rPr>
              <a:t>Hussein (2008) </a:t>
            </a:r>
          </a:p>
        </p:txBody>
      </p:sp>
      <p:sp>
        <p:nvSpPr>
          <p:cNvPr id="7" name="Oval Callout 6"/>
          <p:cNvSpPr/>
          <p:nvPr/>
        </p:nvSpPr>
        <p:spPr>
          <a:xfrm>
            <a:off x="8379460" y="3571081"/>
            <a:ext cx="2758440" cy="1280319"/>
          </a:xfrm>
          <a:prstGeom prst="wedgeEllipseCallout">
            <a:avLst>
              <a:gd name="adj1" fmla="val -84263"/>
              <a:gd name="adj2" fmla="val -4736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err="1">
                <a:solidFill>
                  <a:srgbClr val="92D050"/>
                </a:solidFill>
                <a:latin typeface="Calisto MT" panose="02040603050505030304" pitchFamily="18" charset="0"/>
              </a:rPr>
              <a:t>Abidakun</a:t>
            </a:r>
            <a:r>
              <a:rPr lang="en-GB" b="1" dirty="0">
                <a:solidFill>
                  <a:srgbClr val="92D050"/>
                </a:solidFill>
                <a:latin typeface="Calisto MT" panose="02040603050505030304" pitchFamily="18" charset="0"/>
              </a:rPr>
              <a:t> (2011)</a:t>
            </a:r>
          </a:p>
        </p:txBody>
      </p:sp>
      <p:sp>
        <p:nvSpPr>
          <p:cNvPr id="8" name="Rectangular Callout 7"/>
          <p:cNvSpPr/>
          <p:nvPr/>
        </p:nvSpPr>
        <p:spPr>
          <a:xfrm>
            <a:off x="164723" y="3708023"/>
            <a:ext cx="2628900" cy="2908478"/>
          </a:xfrm>
          <a:prstGeom prst="wedgeRectCallout">
            <a:avLst>
              <a:gd name="adj1" fmla="val 102120"/>
              <a:gd name="adj2" fmla="val -4935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2">
                    <a:lumMod val="75000"/>
                  </a:schemeClr>
                </a:solidFill>
                <a:latin typeface="Calisto MT" panose="02040603050505030304" pitchFamily="18" charset="0"/>
              </a:rPr>
              <a:t>YOU</a:t>
            </a:r>
          </a:p>
          <a:p>
            <a:r>
              <a:rPr lang="en-GB" dirty="0">
                <a:solidFill>
                  <a:schemeClr val="tx2">
                    <a:lumMod val="75000"/>
                  </a:schemeClr>
                </a:solidFill>
                <a:latin typeface="Calisto MT" panose="02040603050505030304" pitchFamily="18" charset="0"/>
              </a:rPr>
              <a:t>Hussein (2008) explains that … However, Cheong (2015) challenges this idea …  Similarly Peterson (2010) defends that … The concept of identity used in my research is in agreement with …</a:t>
            </a:r>
          </a:p>
        </p:txBody>
      </p:sp>
      <p:sp>
        <p:nvSpPr>
          <p:cNvPr id="2" name="TextBox 1"/>
          <p:cNvSpPr txBox="1"/>
          <p:nvPr/>
        </p:nvSpPr>
        <p:spPr>
          <a:xfrm>
            <a:off x="0" y="-19234"/>
            <a:ext cx="12192000" cy="954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lvl="0" algn="ctr" defTabSz="914400">
              <a:defRPr/>
            </a:pPr>
            <a:r>
              <a:rPr lang="en-GB" sz="2800" b="1" kern="0" dirty="0">
                <a:solidFill>
                  <a:sysClr val="windowText" lastClr="000000"/>
                </a:solidFill>
                <a:latin typeface="Calisto MT" panose="02040603050505030304" pitchFamily="18" charset="0"/>
              </a:rPr>
              <a:t>A literature review can be seen as </a:t>
            </a:r>
            <a:r>
              <a:rPr lang="en-GB" sz="2800" b="1" u="sng" kern="0" dirty="0">
                <a:solidFill>
                  <a:sysClr val="windowText" lastClr="000000"/>
                </a:solidFill>
                <a:latin typeface="Calisto MT" panose="02040603050505030304" pitchFamily="18" charset="0"/>
              </a:rPr>
              <a:t>a dialogue </a:t>
            </a:r>
            <a:r>
              <a:rPr lang="en-GB" sz="2800" b="1" kern="0" dirty="0">
                <a:solidFill>
                  <a:sysClr val="windowText" lastClr="000000"/>
                </a:solidFill>
                <a:latin typeface="Calisto MT" panose="02040603050505030304" pitchFamily="18" charset="0"/>
              </a:rPr>
              <a:t>organised by you around a table</a:t>
            </a:r>
          </a:p>
          <a:p>
            <a:pPr lvl="0" algn="ctr" defTabSz="914400">
              <a:defRPr/>
            </a:pPr>
            <a:endParaRPr lang="en-GB" sz="2800" b="1" kern="0" dirty="0">
              <a:solidFill>
                <a:sysClr val="windowText" lastClr="000000"/>
              </a:solidFill>
              <a:latin typeface="Calisto MT" panose="02040603050505030304" pitchFamily="18" charset="0"/>
            </a:endParaRPr>
          </a:p>
        </p:txBody>
      </p:sp>
      <p:sp>
        <p:nvSpPr>
          <p:cNvPr id="9" name="Oval Callout 8"/>
          <p:cNvSpPr/>
          <p:nvPr/>
        </p:nvSpPr>
        <p:spPr>
          <a:xfrm>
            <a:off x="7106027" y="707002"/>
            <a:ext cx="1670050" cy="884642"/>
          </a:xfrm>
          <a:prstGeom prst="wedgeEllipseCallout">
            <a:avLst>
              <a:gd name="adj1" fmla="val -80717"/>
              <a:gd name="adj2" fmla="val 5245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1">
                    <a:lumMod val="75000"/>
                  </a:schemeClr>
                </a:solidFill>
                <a:latin typeface="Calisto MT" panose="02040603050505030304" pitchFamily="18" charset="0"/>
              </a:rPr>
              <a:t>Cheong (2015)</a:t>
            </a:r>
          </a:p>
        </p:txBody>
      </p:sp>
      <p:sp>
        <p:nvSpPr>
          <p:cNvPr id="10" name="Smiley Face 9"/>
          <p:cNvSpPr/>
          <p:nvPr/>
        </p:nvSpPr>
        <p:spPr>
          <a:xfrm>
            <a:off x="4275438" y="3150973"/>
            <a:ext cx="434992" cy="420108"/>
          </a:xfrm>
          <a:prstGeom prst="smileyFac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2659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circle(in)">
                                      <p:cBhvr>
                                        <p:cTn id="3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B5AA8A5-25CC-4295-892F-367FCDAF2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09DD65AA-8280-4962-92F3-DF1CB5334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9068" y="-8467"/>
            <a:ext cx="4766733" cy="6866467"/>
            <a:chOff x="7425267" y="-8467"/>
            <a:chExt cx="4766733" cy="6866467"/>
          </a:xfrm>
        </p:grpSpPr>
        <p:cxnSp>
          <p:nvCxnSpPr>
            <p:cNvPr id="33" name="Straight Connector 32">
              <a:extLst>
                <a:ext uri="{FF2B5EF4-FFF2-40B4-BE49-F238E27FC236}">
                  <a16:creationId xmlns:a16="http://schemas.microsoft.com/office/drawing/2014/main" id="{88942788-FC6D-44C2-BFC1-6F064710DA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1093AC6-E5C2-4894-A520-5BE11049F2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47" name="Rectangle 23">
              <a:extLst>
                <a:ext uri="{FF2B5EF4-FFF2-40B4-BE49-F238E27FC236}">
                  <a16:creationId xmlns:a16="http://schemas.microsoft.com/office/drawing/2014/main" id="{F2EF9281-EAD8-4973-938C-52DECCD0F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8" name="Rectangle 25">
              <a:extLst>
                <a:ext uri="{FF2B5EF4-FFF2-40B4-BE49-F238E27FC236}">
                  <a16:creationId xmlns:a16="http://schemas.microsoft.com/office/drawing/2014/main" id="{F4D52681-7A79-4750-8E02-7C30DBAFE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9" name="Isosceles Triangle 48">
              <a:extLst>
                <a:ext uri="{FF2B5EF4-FFF2-40B4-BE49-F238E27FC236}">
                  <a16:creationId xmlns:a16="http://schemas.microsoft.com/office/drawing/2014/main" id="{F132E88E-8003-49D3-88BD-E18DF6965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0" name="Rectangle 27">
              <a:extLst>
                <a:ext uri="{FF2B5EF4-FFF2-40B4-BE49-F238E27FC236}">
                  <a16:creationId xmlns:a16="http://schemas.microsoft.com/office/drawing/2014/main" id="{8C986A99-157C-40D0-97AD-371B6F55E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 name="Rectangle 28">
              <a:extLst>
                <a:ext uri="{FF2B5EF4-FFF2-40B4-BE49-F238E27FC236}">
                  <a16:creationId xmlns:a16="http://schemas.microsoft.com/office/drawing/2014/main" id="{264123D5-6D32-4F54-BAD5-43A5BAF6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2" name="Rectangle 29">
              <a:extLst>
                <a:ext uri="{FF2B5EF4-FFF2-40B4-BE49-F238E27FC236}">
                  <a16:creationId xmlns:a16="http://schemas.microsoft.com/office/drawing/2014/main" id="{5FCA8C06-6A3E-4C39-9EF2-117987331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3" name="Isosceles Triangle 52">
              <a:extLst>
                <a:ext uri="{FF2B5EF4-FFF2-40B4-BE49-F238E27FC236}">
                  <a16:creationId xmlns:a16="http://schemas.microsoft.com/office/drawing/2014/main" id="{3F93416A-6C44-4D77-A94A-DEBC035EA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a:extLst>
              <a:ext uri="{FF2B5EF4-FFF2-40B4-BE49-F238E27FC236}">
                <a16:creationId xmlns:a16="http://schemas.microsoft.com/office/drawing/2014/main" id="{99DD8E88-CEED-44FA-BECA-C76F25EE7E39}"/>
              </a:ext>
            </a:extLst>
          </p:cNvPr>
          <p:cNvSpPr>
            <a:spLocks noGrp="1"/>
          </p:cNvSpPr>
          <p:nvPr>
            <p:ph type="title"/>
          </p:nvPr>
        </p:nvSpPr>
        <p:spPr>
          <a:xfrm>
            <a:off x="652481" y="1382486"/>
            <a:ext cx="3547581" cy="4093028"/>
          </a:xfrm>
        </p:spPr>
        <p:txBody>
          <a:bodyPr anchor="ctr">
            <a:normAutofit/>
          </a:bodyPr>
          <a:lstStyle/>
          <a:p>
            <a:r>
              <a:rPr lang="en-GB" sz="4400">
                <a:solidFill>
                  <a:schemeClr val="accent1">
                    <a:lumMod val="75000"/>
                  </a:schemeClr>
                </a:solidFill>
              </a:rPr>
              <a:t>Organising your ideas is important. </a:t>
            </a:r>
          </a:p>
        </p:txBody>
      </p:sp>
      <p:sp>
        <p:nvSpPr>
          <p:cNvPr id="54" name="Rectangle 53">
            <a:extLst>
              <a:ext uri="{FF2B5EF4-FFF2-40B4-BE49-F238E27FC236}">
                <a16:creationId xmlns:a16="http://schemas.microsoft.com/office/drawing/2014/main" id="{24C6BC13-FB1E-48CC-B421-3D0603972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42625" y="0"/>
            <a:ext cx="64493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D60A8AD-746F-BD55-43C8-ED870BB21B2D}"/>
              </a:ext>
            </a:extLst>
          </p:cNvPr>
          <p:cNvGraphicFramePr>
            <a:graphicFrameLocks noGrp="1"/>
          </p:cNvGraphicFramePr>
          <p:nvPr>
            <p:ph idx="1"/>
            <p:extLst>
              <p:ext uri="{D42A27DB-BD31-4B8C-83A1-F6EECF244321}">
                <p14:modId xmlns:p14="http://schemas.microsoft.com/office/powerpoint/2010/main" val="2257473399"/>
              </p:ext>
            </p:extLst>
          </p:nvPr>
        </p:nvGraphicFramePr>
        <p:xfrm>
          <a:off x="4852543" y="944564"/>
          <a:ext cx="6692814" cy="4823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9664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Your literature review should </a:t>
            </a:r>
          </a:p>
        </p:txBody>
      </p:sp>
      <p:sp>
        <p:nvSpPr>
          <p:cNvPr id="3" name="Content Placeholder 2"/>
          <p:cNvSpPr>
            <a:spLocks noGrp="1"/>
          </p:cNvSpPr>
          <p:nvPr>
            <p:ph idx="1"/>
          </p:nvPr>
        </p:nvSpPr>
        <p:spPr>
          <a:xfrm>
            <a:off x="2340637" y="2000435"/>
            <a:ext cx="8915400" cy="3777622"/>
          </a:xfrm>
        </p:spPr>
        <p:txBody>
          <a:bodyPr>
            <a:normAutofit/>
          </a:bodyPr>
          <a:lstStyle/>
          <a:p>
            <a:pPr>
              <a:buFont typeface="+mj-lt"/>
              <a:buAutoNum type="arabicPeriod"/>
            </a:pPr>
            <a:r>
              <a:rPr lang="en-GB" b="1" dirty="0"/>
              <a:t>Give the context</a:t>
            </a:r>
            <a:r>
              <a:rPr lang="en-GB" dirty="0"/>
              <a:t>: Briefly survey the work that other researchers have done previously. </a:t>
            </a:r>
          </a:p>
          <a:p>
            <a:pPr>
              <a:buFont typeface="+mj-lt"/>
              <a:buAutoNum type="arabicPeriod"/>
            </a:pPr>
            <a:r>
              <a:rPr lang="en-GB" b="1" dirty="0"/>
              <a:t>Organization by topic: </a:t>
            </a:r>
            <a:r>
              <a:rPr lang="en-GB" dirty="0"/>
              <a:t>Identify </a:t>
            </a:r>
            <a:r>
              <a:rPr lang="en-GB" b="1" dirty="0"/>
              <a:t>key areas / themes / solutions</a:t>
            </a:r>
            <a:r>
              <a:rPr lang="en-GB" dirty="0"/>
              <a:t> that previous researchers have introduced and discuss their strengths and weaknesses, or limitations.</a:t>
            </a:r>
          </a:p>
          <a:p>
            <a:pPr>
              <a:buFont typeface="+mj-lt"/>
              <a:buAutoNum type="arabicPeriod"/>
            </a:pPr>
            <a:r>
              <a:rPr lang="en-GB" dirty="0"/>
              <a:t>Explain how </a:t>
            </a:r>
            <a:r>
              <a:rPr lang="en-GB" b="1" dirty="0"/>
              <a:t>your project/ design/ solution </a:t>
            </a:r>
            <a:r>
              <a:rPr lang="en-GB" dirty="0"/>
              <a:t>builds on and differs from the work that was done previously. </a:t>
            </a:r>
          </a:p>
        </p:txBody>
      </p:sp>
      <p:pic>
        <p:nvPicPr>
          <p:cNvPr id="4" name="Picture 3"/>
          <p:cNvPicPr>
            <a:picLocks noChangeAspect="1"/>
          </p:cNvPicPr>
          <p:nvPr/>
        </p:nvPicPr>
        <p:blipFill>
          <a:blip r:embed="rId2"/>
          <a:stretch>
            <a:fillRect/>
          </a:stretch>
        </p:blipFill>
        <p:spPr>
          <a:xfrm>
            <a:off x="8200008" y="4465468"/>
            <a:ext cx="3146244" cy="1966403"/>
          </a:xfrm>
          <a:prstGeom prst="rect">
            <a:avLst/>
          </a:prstGeom>
        </p:spPr>
      </p:pic>
    </p:spTree>
    <p:extLst>
      <p:ext uri="{BB962C8B-B14F-4D97-AF65-F5344CB8AC3E}">
        <p14:creationId xmlns:p14="http://schemas.microsoft.com/office/powerpoint/2010/main" val="299690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000" b="1" dirty="0">
                <a:solidFill>
                  <a:schemeClr val="tx1"/>
                </a:solidFill>
              </a:rPr>
              <a:t>An example: </a:t>
            </a:r>
            <a:r>
              <a:rPr lang="en-GB" sz="4000" b="1" dirty="0">
                <a:solidFill>
                  <a:schemeClr val="accent2"/>
                </a:solidFill>
              </a:rPr>
              <a:t>A time management app for UEL students…</a:t>
            </a:r>
          </a:p>
        </p:txBody>
      </p:sp>
      <p:sp>
        <p:nvSpPr>
          <p:cNvPr id="4" name="Content Placeholder 3"/>
          <p:cNvSpPr>
            <a:spLocks noGrp="1"/>
          </p:cNvSpPr>
          <p:nvPr>
            <p:ph idx="1"/>
          </p:nvPr>
        </p:nvSpPr>
        <p:spPr>
          <a:xfrm>
            <a:off x="776922" y="2245926"/>
            <a:ext cx="5451862" cy="3880773"/>
          </a:xfrm>
        </p:spPr>
        <p:txBody>
          <a:bodyPr>
            <a:normAutofit/>
          </a:bodyPr>
          <a:lstStyle/>
          <a:p>
            <a:pPr marL="0" indent="0">
              <a:buNone/>
            </a:pPr>
            <a:endParaRPr lang="en-GB" dirty="0"/>
          </a:p>
          <a:p>
            <a:pPr marL="0" indent="0">
              <a:buNone/>
            </a:pPr>
            <a:r>
              <a:rPr lang="en-GB" sz="2800" b="1" dirty="0"/>
              <a:t>Imagine that you picked this topic. </a:t>
            </a:r>
          </a:p>
          <a:p>
            <a:pPr marL="0" indent="0">
              <a:buNone/>
            </a:pPr>
            <a:endParaRPr lang="en-GB" sz="2800" b="1" dirty="0"/>
          </a:p>
          <a:p>
            <a:pPr marL="0" indent="0">
              <a:buNone/>
            </a:pPr>
            <a:r>
              <a:rPr lang="en-GB" sz="2800" b="1" dirty="0"/>
              <a:t>What kind of questions might you ask to start with?</a:t>
            </a:r>
          </a:p>
        </p:txBody>
      </p:sp>
      <p:pic>
        <p:nvPicPr>
          <p:cNvPr id="5" name="Picture 4"/>
          <p:cNvPicPr>
            <a:picLocks noChangeAspect="1"/>
          </p:cNvPicPr>
          <p:nvPr/>
        </p:nvPicPr>
        <p:blipFill>
          <a:blip r:embed="rId2"/>
          <a:stretch>
            <a:fillRect/>
          </a:stretch>
        </p:blipFill>
        <p:spPr>
          <a:xfrm>
            <a:off x="7394448" y="2528963"/>
            <a:ext cx="4572000" cy="3314700"/>
          </a:xfrm>
          <a:prstGeom prst="rect">
            <a:avLst/>
          </a:prstGeom>
        </p:spPr>
      </p:pic>
    </p:spTree>
    <p:extLst>
      <p:ext uri="{BB962C8B-B14F-4D97-AF65-F5344CB8AC3E}">
        <p14:creationId xmlns:p14="http://schemas.microsoft.com/office/powerpoint/2010/main" val="4007307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097280" y="672201"/>
            <a:ext cx="8596668" cy="1320800"/>
          </a:xfrm>
        </p:spPr>
        <p:txBody>
          <a:bodyPr>
            <a:normAutofit/>
          </a:bodyPr>
          <a:lstStyle/>
          <a:p>
            <a:r>
              <a:rPr lang="en-GB" sz="4000" dirty="0">
                <a:solidFill>
                  <a:schemeClr val="tx1"/>
                </a:solidFill>
              </a:rPr>
              <a:t>Sample literature review structure</a:t>
            </a:r>
          </a:p>
        </p:txBody>
      </p:sp>
      <p:sp>
        <p:nvSpPr>
          <p:cNvPr id="3" name="Content Placeholder 2"/>
          <p:cNvSpPr>
            <a:spLocks noGrp="1"/>
          </p:cNvSpPr>
          <p:nvPr>
            <p:ph idx="1"/>
          </p:nvPr>
        </p:nvSpPr>
        <p:spPr>
          <a:xfrm>
            <a:off x="1097280" y="1993001"/>
            <a:ext cx="6788288" cy="4386624"/>
          </a:xfrm>
        </p:spPr>
        <p:txBody>
          <a:bodyPr>
            <a:normAutofit/>
          </a:bodyPr>
          <a:lstStyle/>
          <a:p>
            <a:pPr>
              <a:buAutoNum type="arabicParenR"/>
            </a:pPr>
            <a:r>
              <a:rPr lang="en-GB" b="1" dirty="0"/>
              <a:t> Background information</a:t>
            </a:r>
            <a:r>
              <a:rPr lang="en-GB" dirty="0"/>
              <a:t>: Overview of time management tools (print and online tools)</a:t>
            </a:r>
          </a:p>
          <a:p>
            <a:pPr>
              <a:buAutoNum type="arabicParenR"/>
            </a:pPr>
            <a:r>
              <a:rPr lang="en-GB" b="1" dirty="0"/>
              <a:t> Analysis</a:t>
            </a:r>
            <a:r>
              <a:rPr lang="en-GB" dirty="0"/>
              <a:t>: </a:t>
            </a:r>
          </a:p>
          <a:p>
            <a:r>
              <a:rPr lang="en-GB" dirty="0"/>
              <a:t>Key theme 1 </a:t>
            </a:r>
            <a:r>
              <a:rPr lang="en-GB" b="1" dirty="0">
                <a:solidFill>
                  <a:srgbClr val="C00000"/>
                </a:solidFill>
              </a:rPr>
              <a:t>(needs of university students in managing time)</a:t>
            </a:r>
          </a:p>
          <a:p>
            <a:r>
              <a:rPr lang="en-GB" dirty="0">
                <a:solidFill>
                  <a:schemeClr val="tx1"/>
                </a:solidFill>
              </a:rPr>
              <a:t>Key theme 2 </a:t>
            </a:r>
            <a:r>
              <a:rPr lang="en-GB" b="1" dirty="0">
                <a:solidFill>
                  <a:srgbClr val="C00000"/>
                </a:solidFill>
              </a:rPr>
              <a:t>(comparison of strengths/ limitations of all time management apps available on the market</a:t>
            </a:r>
            <a:r>
              <a:rPr lang="en-GB" dirty="0">
                <a:solidFill>
                  <a:srgbClr val="C00000"/>
                </a:solidFill>
              </a:rPr>
              <a:t>)</a:t>
            </a:r>
          </a:p>
          <a:p>
            <a:r>
              <a:rPr lang="en-GB" dirty="0"/>
              <a:t>Key theme 3 </a:t>
            </a:r>
            <a:r>
              <a:rPr lang="en-GB" b="1" dirty="0">
                <a:solidFill>
                  <a:srgbClr val="C00000"/>
                </a:solidFill>
              </a:rPr>
              <a:t>(comparison of strengths/ limitations of time management apps for students)</a:t>
            </a:r>
          </a:p>
          <a:p>
            <a:pPr marL="0" indent="0">
              <a:buNone/>
            </a:pPr>
            <a:r>
              <a:rPr lang="en-GB" b="1" dirty="0">
                <a:solidFill>
                  <a:schemeClr val="accent1"/>
                </a:solidFill>
              </a:rPr>
              <a:t>3)  </a:t>
            </a:r>
            <a:r>
              <a:rPr lang="en-GB" b="1" dirty="0"/>
              <a:t>Your project /solution/ approach </a:t>
            </a:r>
            <a:r>
              <a:rPr lang="en-GB" b="1" dirty="0">
                <a:solidFill>
                  <a:srgbClr val="C00000"/>
                </a:solidFill>
              </a:rPr>
              <a:t>(how my app will specifically address UEL students’ needs)</a:t>
            </a:r>
          </a:p>
          <a:p>
            <a:pPr marL="0" indent="0">
              <a:buNone/>
            </a:pPr>
            <a:endParaRPr lang="en-GB" dirty="0">
              <a:solidFill>
                <a:srgbClr val="C00000"/>
              </a:solidFill>
            </a:endParaRPr>
          </a:p>
        </p:txBody>
      </p:sp>
      <p:pic>
        <p:nvPicPr>
          <p:cNvPr id="5" name="Picture 4"/>
          <p:cNvPicPr>
            <a:picLocks noChangeAspect="1"/>
          </p:cNvPicPr>
          <p:nvPr/>
        </p:nvPicPr>
        <p:blipFill>
          <a:blip r:embed="rId2"/>
          <a:stretch>
            <a:fillRect/>
          </a:stretch>
        </p:blipFill>
        <p:spPr>
          <a:xfrm>
            <a:off x="7814822" y="2833735"/>
            <a:ext cx="4151625" cy="3009928"/>
          </a:xfrm>
          <a:prstGeom prst="rect">
            <a:avLst/>
          </a:prstGeom>
        </p:spPr>
      </p:pic>
    </p:spTree>
    <p:extLst>
      <p:ext uri="{BB962C8B-B14F-4D97-AF65-F5344CB8AC3E}">
        <p14:creationId xmlns:p14="http://schemas.microsoft.com/office/powerpoint/2010/main" val="61092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9562" y="609600"/>
            <a:ext cx="6424440" cy="1320800"/>
          </a:xfrm>
        </p:spPr>
        <p:txBody>
          <a:bodyPr>
            <a:normAutofit/>
          </a:bodyPr>
          <a:lstStyle/>
          <a:p>
            <a:r>
              <a:rPr lang="en-GB" b="1" dirty="0"/>
              <a:t>A Possible structure</a:t>
            </a:r>
          </a:p>
        </p:txBody>
      </p:sp>
      <p:sp>
        <p:nvSpPr>
          <p:cNvPr id="3" name="Content Placeholder 2"/>
          <p:cNvSpPr>
            <a:spLocks noGrp="1"/>
          </p:cNvSpPr>
          <p:nvPr>
            <p:ph idx="1"/>
          </p:nvPr>
        </p:nvSpPr>
        <p:spPr>
          <a:xfrm>
            <a:off x="2849562" y="1371601"/>
            <a:ext cx="8858734" cy="5267738"/>
          </a:xfrm>
        </p:spPr>
        <p:txBody>
          <a:bodyPr>
            <a:normAutofit/>
          </a:bodyPr>
          <a:lstStyle/>
          <a:p>
            <a:pPr marL="0" indent="0">
              <a:buNone/>
            </a:pPr>
            <a:r>
              <a:rPr lang="en-GB" sz="2400" b="1" dirty="0"/>
              <a:t>1. Background information/introduction</a:t>
            </a:r>
            <a:r>
              <a:rPr lang="en-GB" sz="2400" dirty="0"/>
              <a:t>: overview of theories/ research</a:t>
            </a:r>
          </a:p>
          <a:p>
            <a:pPr marL="0" indent="0">
              <a:buNone/>
            </a:pPr>
            <a:r>
              <a:rPr lang="en-GB" sz="2400" b="1" dirty="0"/>
              <a:t>2. Analysis</a:t>
            </a:r>
            <a:r>
              <a:rPr lang="en-GB" sz="2400" dirty="0"/>
              <a:t>:</a:t>
            </a:r>
          </a:p>
          <a:p>
            <a:r>
              <a:rPr lang="en-GB" sz="2400" dirty="0"/>
              <a:t>Key theme 1 (review of research -issues)</a:t>
            </a:r>
          </a:p>
          <a:p>
            <a:r>
              <a:rPr lang="en-GB" sz="2400" dirty="0"/>
              <a:t>Key theme 2 ( review of research - issues)</a:t>
            </a:r>
          </a:p>
          <a:p>
            <a:r>
              <a:rPr lang="en-GB" sz="2400" dirty="0"/>
              <a:t>Key theme 3 (review of research - issues)</a:t>
            </a:r>
          </a:p>
          <a:p>
            <a:r>
              <a:rPr lang="en-GB" sz="2400" dirty="0"/>
              <a:t>…</a:t>
            </a:r>
          </a:p>
          <a:p>
            <a:pPr marL="0" indent="0">
              <a:buNone/>
            </a:pPr>
            <a:r>
              <a:rPr lang="en-GB" sz="2400" b="1" dirty="0"/>
              <a:t>3. The significance of your project / approach </a:t>
            </a:r>
            <a:r>
              <a:rPr lang="en-GB" sz="2400" dirty="0"/>
              <a:t>(how it fills the gap in research!)</a:t>
            </a:r>
          </a:p>
          <a:p>
            <a:pPr marL="0" indent="0">
              <a:buNone/>
            </a:pPr>
            <a:endParaRPr lang="en-GB" dirty="0"/>
          </a:p>
        </p:txBody>
      </p:sp>
      <p:pic>
        <p:nvPicPr>
          <p:cNvPr id="5" name="Picture 4">
            <a:extLst>
              <a:ext uri="{FF2B5EF4-FFF2-40B4-BE49-F238E27FC236}">
                <a16:creationId xmlns:a16="http://schemas.microsoft.com/office/drawing/2014/main" id="{06613BA0-5992-DE42-82B1-E8D3BC7010EB}"/>
              </a:ext>
            </a:extLst>
          </p:cNvPr>
          <p:cNvPicPr>
            <a:picLocks noChangeAspect="1"/>
          </p:cNvPicPr>
          <p:nvPr/>
        </p:nvPicPr>
        <p:blipFill rotWithShape="1">
          <a:blip r:embed="rId2"/>
          <a:srcRect l="39341" t="9091" r="36591" b="-1"/>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6" name="Rectangle 5">
            <a:extLst>
              <a:ext uri="{FF2B5EF4-FFF2-40B4-BE49-F238E27FC236}">
                <a16:creationId xmlns:a16="http://schemas.microsoft.com/office/drawing/2014/main" id="{568A7CB2-0877-8945-A3C3-F6F5CE7D5BC3}"/>
              </a:ext>
            </a:extLst>
          </p:cNvPr>
          <p:cNvSpPr/>
          <p:nvPr/>
        </p:nvSpPr>
        <p:spPr>
          <a:xfrm>
            <a:off x="8212667" y="5808133"/>
            <a:ext cx="2556933" cy="914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Paragraphs!</a:t>
            </a:r>
          </a:p>
        </p:txBody>
      </p:sp>
    </p:spTree>
    <p:extLst>
      <p:ext uri="{BB962C8B-B14F-4D97-AF65-F5344CB8AC3E}">
        <p14:creationId xmlns:p14="http://schemas.microsoft.com/office/powerpoint/2010/main" val="3054732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437A3-9BB6-48B3-C3D1-CE377E34C7C5}"/>
              </a:ext>
            </a:extLst>
          </p:cNvPr>
          <p:cNvSpPr>
            <a:spLocks noGrp="1"/>
          </p:cNvSpPr>
          <p:nvPr>
            <p:ph type="title"/>
          </p:nvPr>
        </p:nvSpPr>
        <p:spPr>
          <a:xfrm>
            <a:off x="2849562" y="609600"/>
            <a:ext cx="6424440" cy="1320800"/>
          </a:xfrm>
        </p:spPr>
        <p:txBody>
          <a:bodyPr>
            <a:normAutofit/>
          </a:bodyPr>
          <a:lstStyle/>
          <a:p>
            <a:r>
              <a:rPr lang="en-GB" sz="3300" dirty="0"/>
              <a:t>Check for clarity and coherence</a:t>
            </a:r>
            <a:br>
              <a:rPr lang="en-GB" sz="3300" dirty="0"/>
            </a:br>
            <a:endParaRPr lang="en-GB" sz="3300" dirty="0"/>
          </a:p>
        </p:txBody>
      </p:sp>
      <p:pic>
        <p:nvPicPr>
          <p:cNvPr id="5" name="Picture 4" descr="Stack of magazines on table">
            <a:extLst>
              <a:ext uri="{FF2B5EF4-FFF2-40B4-BE49-F238E27FC236}">
                <a16:creationId xmlns:a16="http://schemas.microsoft.com/office/drawing/2014/main" id="{C475E361-8099-9CEC-85D5-BF55AFD26816}"/>
              </a:ext>
            </a:extLst>
          </p:cNvPr>
          <p:cNvPicPr>
            <a:picLocks noChangeAspect="1"/>
          </p:cNvPicPr>
          <p:nvPr/>
        </p:nvPicPr>
        <p:blipFill>
          <a:blip r:embed="rId2"/>
          <a:srcRect l="57594" t="7514" r="17830" b="1"/>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78" name="Isosceles Triangle 77">
            <a:extLst>
              <a:ext uri="{FF2B5EF4-FFF2-40B4-BE49-F238E27FC236}">
                <a16:creationId xmlns:a16="http://schemas.microsoft.com/office/drawing/2014/main" id="{ECD25CC7-FC66-488C-8D61-0FE7ECF16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 name="Content Placeholder 2">
            <a:extLst>
              <a:ext uri="{FF2B5EF4-FFF2-40B4-BE49-F238E27FC236}">
                <a16:creationId xmlns:a16="http://schemas.microsoft.com/office/drawing/2014/main" id="{65ADC36E-6D28-15AC-B494-ED818858EC9C}"/>
              </a:ext>
            </a:extLst>
          </p:cNvPr>
          <p:cNvSpPr>
            <a:spLocks noGrp="1"/>
          </p:cNvSpPr>
          <p:nvPr>
            <p:ph idx="1"/>
          </p:nvPr>
        </p:nvSpPr>
        <p:spPr>
          <a:xfrm>
            <a:off x="2849562" y="2160589"/>
            <a:ext cx="6424440" cy="3880773"/>
          </a:xfrm>
        </p:spPr>
        <p:txBody>
          <a:bodyPr>
            <a:normAutofit/>
          </a:bodyPr>
          <a:lstStyle/>
          <a:p>
            <a:pPr marL="0" indent="0">
              <a:buNone/>
            </a:pPr>
            <a:r>
              <a:rPr lang="en-GB" sz="2400" dirty="0">
                <a:effectLst/>
                <a:latin typeface="Aptos" panose="020B0004020202020204" pitchFamily="34" charset="0"/>
                <a:ea typeface="Aptos" panose="020B0004020202020204" pitchFamily="34" charset="0"/>
                <a:cs typeface="Times New Roman" panose="02020603050405020304" pitchFamily="18" charset="0"/>
              </a:rPr>
              <a:t>When writing your literature review, pay close attention to your verb tenses to ensure clarity and coherence.   Use the present tense when discussing general findings or accepted knowledge (e.g., 'Smith (2020) argues that...’) </a:t>
            </a:r>
            <a:r>
              <a:rPr lang="en-GB" sz="2400" dirty="0">
                <a:latin typeface="Aptos" panose="020B0004020202020204" pitchFamily="34" charset="0"/>
                <a:ea typeface="Aptos" panose="020B0004020202020204" pitchFamily="34" charset="0"/>
                <a:cs typeface="Times New Roman" panose="02020603050405020304" pitchFamily="18" charset="0"/>
              </a:rPr>
              <a:t>you can also use</a:t>
            </a:r>
            <a:r>
              <a:rPr lang="en-GB" sz="2400" dirty="0">
                <a:effectLst/>
                <a:latin typeface="Aptos" panose="020B0004020202020204" pitchFamily="34" charset="0"/>
                <a:ea typeface="Aptos" panose="020B0004020202020204" pitchFamily="34" charset="0"/>
                <a:cs typeface="Times New Roman" panose="02020603050405020304" pitchFamily="18" charset="0"/>
              </a:rPr>
              <a:t> the past tense when referring to specific studies or historical developments (e.g., 'Jones (2018) found that...’). </a:t>
            </a:r>
          </a:p>
          <a:p>
            <a:pPr marL="0" indent="0">
              <a:buNone/>
            </a:pPr>
            <a:r>
              <a:rPr lang="en-GB" sz="2400" dirty="0">
                <a:latin typeface="Aptos" panose="020B0004020202020204" pitchFamily="34" charset="0"/>
                <a:cs typeface="Times New Roman" panose="02020603050405020304" pitchFamily="18" charset="0"/>
              </a:rPr>
              <a:t>Notice the variety of verbs used below and what they indicate to you as a reader.</a:t>
            </a:r>
            <a:endParaRPr lang="en-GB" sz="2400" dirty="0"/>
          </a:p>
        </p:txBody>
      </p:sp>
    </p:spTree>
    <p:extLst>
      <p:ext uri="{BB962C8B-B14F-4D97-AF65-F5344CB8AC3E}">
        <p14:creationId xmlns:p14="http://schemas.microsoft.com/office/powerpoint/2010/main" val="2082626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343559" y="1669501"/>
          <a:ext cx="11244878" cy="3678722"/>
        </p:xfrm>
        <a:graphic>
          <a:graphicData uri="http://schemas.openxmlformats.org/drawingml/2006/table">
            <a:tbl>
              <a:tblPr firstRow="1" firstCol="1" bandRow="1">
                <a:tableStyleId>{5C22544A-7EE6-4342-B048-85BDC9FD1C3A}</a:tableStyleId>
              </a:tblPr>
              <a:tblGrid>
                <a:gridCol w="1300340">
                  <a:extLst>
                    <a:ext uri="{9D8B030D-6E8A-4147-A177-3AD203B41FA5}">
                      <a16:colId xmlns:a16="http://schemas.microsoft.com/office/drawing/2014/main" val="20000"/>
                    </a:ext>
                  </a:extLst>
                </a:gridCol>
                <a:gridCol w="1688127">
                  <a:extLst>
                    <a:ext uri="{9D8B030D-6E8A-4147-A177-3AD203B41FA5}">
                      <a16:colId xmlns:a16="http://schemas.microsoft.com/office/drawing/2014/main" val="20001"/>
                    </a:ext>
                  </a:extLst>
                </a:gridCol>
                <a:gridCol w="1839403">
                  <a:extLst>
                    <a:ext uri="{9D8B030D-6E8A-4147-A177-3AD203B41FA5}">
                      <a16:colId xmlns:a16="http://schemas.microsoft.com/office/drawing/2014/main" val="20002"/>
                    </a:ext>
                  </a:extLst>
                </a:gridCol>
                <a:gridCol w="1546769">
                  <a:extLst>
                    <a:ext uri="{9D8B030D-6E8A-4147-A177-3AD203B41FA5}">
                      <a16:colId xmlns:a16="http://schemas.microsoft.com/office/drawing/2014/main" val="20003"/>
                    </a:ext>
                  </a:extLst>
                </a:gridCol>
                <a:gridCol w="1902109">
                  <a:extLst>
                    <a:ext uri="{9D8B030D-6E8A-4147-A177-3AD203B41FA5}">
                      <a16:colId xmlns:a16="http://schemas.microsoft.com/office/drawing/2014/main" val="20004"/>
                    </a:ext>
                  </a:extLst>
                </a:gridCol>
                <a:gridCol w="1463162">
                  <a:extLst>
                    <a:ext uri="{9D8B030D-6E8A-4147-A177-3AD203B41FA5}">
                      <a16:colId xmlns:a16="http://schemas.microsoft.com/office/drawing/2014/main" val="20005"/>
                    </a:ext>
                  </a:extLst>
                </a:gridCol>
                <a:gridCol w="1504968">
                  <a:extLst>
                    <a:ext uri="{9D8B030D-6E8A-4147-A177-3AD203B41FA5}">
                      <a16:colId xmlns:a16="http://schemas.microsoft.com/office/drawing/2014/main" val="20006"/>
                    </a:ext>
                  </a:extLst>
                </a:gridCol>
              </a:tblGrid>
              <a:tr h="969883">
                <a:tc rowSpan="4">
                  <a:txBody>
                    <a:bodyPr/>
                    <a:lstStyle/>
                    <a:p>
                      <a:pPr algn="ctr">
                        <a:lnSpc>
                          <a:spcPct val="107000"/>
                        </a:lnSpc>
                        <a:spcAft>
                          <a:spcPts val="0"/>
                        </a:spcAft>
                      </a:pP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1800"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Unwin</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(2009)</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lnSpc>
                          <a:spcPct val="107000"/>
                        </a:lnSpc>
                        <a:spcAft>
                          <a:spcPts val="0"/>
                        </a:spcAft>
                      </a:pPr>
                      <a:r>
                        <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say</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lnSpc>
                          <a:spcPct val="107000"/>
                        </a:lnSpc>
                        <a:spcAft>
                          <a:spcPts val="0"/>
                        </a:spcAft>
                      </a:pPr>
                      <a:r>
                        <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talk about</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lnSpc>
                          <a:spcPct val="107000"/>
                        </a:lnSpc>
                        <a:spcAft>
                          <a:spcPts val="0"/>
                        </a:spcAft>
                      </a:pPr>
                      <a:r>
                        <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think</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lnSpc>
                          <a:spcPct val="107000"/>
                        </a:lnSpc>
                        <a:spcAft>
                          <a:spcPts val="0"/>
                        </a:spcAft>
                      </a:pPr>
                      <a:r>
                        <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emphasize</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lnSpc>
                          <a:spcPct val="107000"/>
                        </a:lnSpc>
                        <a:spcAft>
                          <a:spcPts val="0"/>
                        </a:spcAft>
                      </a:pPr>
                      <a:r>
                        <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 show</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nSpc>
                          <a:spcPct val="107000"/>
                        </a:lnSpc>
                        <a:spcAft>
                          <a:spcPts val="0"/>
                        </a:spcAft>
                      </a:pPr>
                      <a:r>
                        <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To</a:t>
                      </a:r>
                      <a:r>
                        <a:rPr lang="en-GB" sz="1800" b="1" baseline="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suggest</a:t>
                      </a:r>
                      <a:endParaRPr lang="en-GB"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10000"/>
                  </a:ext>
                </a:extLst>
              </a:tr>
              <a:tr h="969883">
                <a:tc vMerge="1">
                  <a:txBody>
                    <a:bodyPr/>
                    <a:lstStyle/>
                    <a:p>
                      <a:pPr algn="ctr">
                        <a:lnSpc>
                          <a:spcPct val="107000"/>
                        </a:lnSpc>
                        <a:spcAft>
                          <a:spcPts val="0"/>
                        </a:spcAft>
                      </a:pP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nSpc>
                          <a:spcPct val="107000"/>
                        </a:lnSpc>
                        <a:spcAft>
                          <a:spcPts val="0"/>
                        </a:spcAft>
                      </a:pPr>
                      <a:r>
                        <a:rPr lang="en-GB" sz="1800" b="0" dirty="0">
                          <a:solidFill>
                            <a:schemeClr val="tx1"/>
                          </a:solidFill>
                          <a:effectLst/>
                        </a:rPr>
                        <a:t>writes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0" dirty="0">
                          <a:solidFill>
                            <a:schemeClr val="tx1"/>
                          </a:solidFill>
                          <a:effectLst/>
                        </a:rPr>
                        <a:t>discusses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0" dirty="0">
                          <a:solidFill>
                            <a:schemeClr val="tx1"/>
                          </a:solidFill>
                          <a:effectLst/>
                        </a:rPr>
                        <a:t>believes</a:t>
                      </a:r>
                      <a:r>
                        <a:rPr lang="en-GB" sz="1800" b="0" baseline="0" dirty="0">
                          <a:solidFill>
                            <a:schemeClr val="tx1"/>
                          </a:solidFill>
                          <a:effectLst/>
                        </a:rPr>
                        <a:t>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0" dirty="0">
                          <a:solidFill>
                            <a:schemeClr val="tx1"/>
                          </a:solidFill>
                          <a:effectLst/>
                        </a:rPr>
                        <a:t>stresses</a:t>
                      </a:r>
                      <a:r>
                        <a:rPr lang="en-GB" sz="1800" b="0" baseline="0" dirty="0">
                          <a:solidFill>
                            <a:schemeClr val="tx1"/>
                          </a:solidFill>
                          <a:effectLst/>
                        </a:rPr>
                        <a:t>…</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0" dirty="0">
                          <a:solidFill>
                            <a:schemeClr val="tx1"/>
                          </a:solidFill>
                          <a:effectLst/>
                        </a:rPr>
                        <a:t>illustrates</a:t>
                      </a:r>
                      <a:r>
                        <a:rPr lang="en-GB" sz="1800" b="0" baseline="0" dirty="0">
                          <a:solidFill>
                            <a:schemeClr val="tx1"/>
                          </a:solidFill>
                          <a:effectLst/>
                        </a:rPr>
                        <a:t>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proposes </a:t>
                      </a:r>
                      <a:r>
                        <a:rPr lang="en-GB" sz="1800" b="0" dirty="0">
                          <a:solidFill>
                            <a:schemeClr val="tx1"/>
                          </a:solidFill>
                          <a:effectLst/>
                        </a:rPr>
                        <a:t>…</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869478">
                <a:tc vMerge="1">
                  <a:txBody>
                    <a:bodyPr/>
                    <a:lstStyle/>
                    <a:p>
                      <a:pPr>
                        <a:lnSpc>
                          <a:spcPct val="107000"/>
                        </a:lnSpc>
                        <a:spcAft>
                          <a:spcPts val="0"/>
                        </a:spcAft>
                      </a:pP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0" dirty="0">
                          <a:solidFill>
                            <a:schemeClr val="tx1"/>
                          </a:solidFill>
                          <a:effectLst/>
                        </a:rPr>
                        <a:t>states that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explores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defends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highlights</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describes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posits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69478">
                <a:tc vMerge="1">
                  <a:txBody>
                    <a:bodyPr/>
                    <a:lstStyle/>
                    <a:p>
                      <a:pPr>
                        <a:lnSpc>
                          <a:spcPct val="107000"/>
                        </a:lnSpc>
                        <a:spcAft>
                          <a:spcPts val="0"/>
                        </a:spcAft>
                      </a:pP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0" dirty="0">
                          <a:solidFill>
                            <a:schemeClr val="tx1"/>
                          </a:solidFill>
                          <a:effectLst/>
                        </a:rPr>
                        <a:t>argues …</a:t>
                      </a:r>
                      <a:endParaRPr lang="en-GB"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analyses</a:t>
                      </a:r>
                      <a:r>
                        <a:rPr lang="en-GB" sz="1800" baseline="0" dirty="0">
                          <a:solidFill>
                            <a:schemeClr val="tx1"/>
                          </a:solidFill>
                          <a:effectLst/>
                        </a:rPr>
                        <a:t>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claims </a:t>
                      </a:r>
                      <a:r>
                        <a:rPr lang="en-GB" sz="1800" baseline="0" dirty="0">
                          <a:solidFill>
                            <a:schemeClr val="tx1"/>
                          </a:solidFill>
                          <a:effectLst/>
                        </a:rPr>
                        <a:t>…</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accentuates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dirty="0">
                          <a:solidFill>
                            <a:schemeClr val="tx1"/>
                          </a:solidFill>
                          <a:effectLst/>
                        </a:rPr>
                        <a:t>outlines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ct val="107000"/>
                        </a:lnSpc>
                        <a:spcAft>
                          <a:spcPts val="0"/>
                        </a:spcAft>
                      </a:pPr>
                      <a:r>
                        <a:rPr lang="en-GB" sz="1800" baseline="0" dirty="0">
                          <a:solidFill>
                            <a:schemeClr val="tx1"/>
                          </a:solidFill>
                          <a:effectLst/>
                        </a:rPr>
                        <a:t>theorises …</a:t>
                      </a:r>
                      <a:endParaRPr lang="en-GB"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494511" y="520214"/>
            <a:ext cx="11230353" cy="12926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3200" b="0"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Reporting verbs:  Present tense example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verbs used to discuss/use</a:t>
            </a:r>
            <a:r>
              <a:rPr kumimoji="0" lang="en-GB" altLang="en-US" sz="2800" b="0" i="0" u="none" strike="noStrike" cap="none" normalizeH="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GB" altLang="en-US" sz="2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others’ ideas within a text*</a:t>
            </a:r>
            <a:endParaRPr kumimoji="0" lang="en-GB"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p:cNvSpPr txBox="1"/>
          <p:nvPr/>
        </p:nvSpPr>
        <p:spPr>
          <a:xfrm>
            <a:off x="463372" y="5696175"/>
            <a:ext cx="11292628" cy="276999"/>
          </a:xfrm>
          <a:prstGeom prst="rect">
            <a:avLst/>
          </a:prstGeom>
          <a:noFill/>
        </p:spPr>
        <p:txBody>
          <a:bodyPr wrap="square" rtlCol="0">
            <a:spAutoFit/>
          </a:bodyPr>
          <a:lstStyle/>
          <a:p>
            <a:r>
              <a:rPr lang="en-GB" sz="1200" dirty="0"/>
              <a:t>* Adapted from: Chazal, E. &amp; McCarter, S. (2012) ‘Unit 8: Interpretation’ in </a:t>
            </a:r>
            <a:r>
              <a:rPr lang="en-GB" sz="1200" i="1" dirty="0"/>
              <a:t>Oxford EAP. A Course in English for Academic Purposes. </a:t>
            </a:r>
            <a:r>
              <a:rPr lang="en-GB" sz="1200" dirty="0"/>
              <a:t>Oxford: Oxford University Press, p. 126</a:t>
            </a:r>
          </a:p>
        </p:txBody>
      </p:sp>
      <p:sp>
        <p:nvSpPr>
          <p:cNvPr id="6" name="Rectangle 5"/>
          <p:cNvSpPr/>
          <p:nvPr/>
        </p:nvSpPr>
        <p:spPr>
          <a:xfrm>
            <a:off x="0" y="6387353"/>
            <a:ext cx="12192000" cy="470647"/>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p:cNvSpPr/>
          <p:nvPr/>
        </p:nvSpPr>
        <p:spPr>
          <a:xfrm>
            <a:off x="5969202" y="3244334"/>
            <a:ext cx="253596" cy="369332"/>
          </a:xfrm>
          <a:prstGeom prst="rect">
            <a:avLst/>
          </a:prstGeom>
        </p:spPr>
        <p:txBody>
          <a:bodyPr wrap="none">
            <a:spAutoFit/>
          </a:bodyPr>
          <a:lstStyle/>
          <a:p>
            <a:r>
              <a:rPr lang="en-GB" dirty="0"/>
              <a:t> </a:t>
            </a:r>
          </a:p>
        </p:txBody>
      </p:sp>
    </p:spTree>
    <p:extLst>
      <p:ext uri="{BB962C8B-B14F-4D97-AF65-F5344CB8AC3E}">
        <p14:creationId xmlns:p14="http://schemas.microsoft.com/office/powerpoint/2010/main" val="1521119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1C06-FE83-4D85-84F0-7B99AFBBD253}"/>
              </a:ext>
            </a:extLst>
          </p:cNvPr>
          <p:cNvSpPr>
            <a:spLocks noGrp="1"/>
          </p:cNvSpPr>
          <p:nvPr>
            <p:ph type="title"/>
          </p:nvPr>
        </p:nvSpPr>
        <p:spPr>
          <a:xfrm>
            <a:off x="677334" y="599326"/>
            <a:ext cx="8596668" cy="1320800"/>
          </a:xfrm>
        </p:spPr>
        <p:txBody>
          <a:bodyPr/>
          <a:lstStyle/>
          <a:p>
            <a:r>
              <a:rPr lang="en-GB" dirty="0"/>
              <a:t>Why are the words in red useful?</a:t>
            </a:r>
          </a:p>
        </p:txBody>
      </p:sp>
      <p:sp>
        <p:nvSpPr>
          <p:cNvPr id="3" name="Content Placeholder 2">
            <a:extLst>
              <a:ext uri="{FF2B5EF4-FFF2-40B4-BE49-F238E27FC236}">
                <a16:creationId xmlns:a16="http://schemas.microsoft.com/office/drawing/2014/main" id="{D06049FF-94D2-4EEC-B597-B6A30DD949A3}"/>
              </a:ext>
            </a:extLst>
          </p:cNvPr>
          <p:cNvSpPr>
            <a:spLocks noGrp="1"/>
          </p:cNvSpPr>
          <p:nvPr>
            <p:ph idx="1"/>
          </p:nvPr>
        </p:nvSpPr>
        <p:spPr/>
        <p:txBody>
          <a:bodyPr/>
          <a:lstStyle/>
          <a:p>
            <a:r>
              <a:rPr lang="en-GB" sz="2000" dirty="0">
                <a:solidFill>
                  <a:schemeClr val="tx1"/>
                </a:solidFill>
                <a:effectLst/>
                <a:latin typeface="Calibri" panose="020F0502020204030204" pitchFamily="34" charset="0"/>
                <a:ea typeface="Calibri" panose="020F0502020204030204" pitchFamily="34" charset="0"/>
              </a:rPr>
              <a:t>The use of artificial neural networks for flood forecasting is an area which has yet to be fully explored</a:t>
            </a:r>
            <a:r>
              <a:rPr lang="en-GB" sz="2000" dirty="0">
                <a:solidFill>
                  <a:srgbClr val="FF0000"/>
                </a:solidFill>
                <a:effectLst/>
                <a:latin typeface="Calibri" panose="020F0502020204030204" pitchFamily="34" charset="0"/>
                <a:ea typeface="Calibri" panose="020F0502020204030204" pitchFamily="34" charset="0"/>
              </a:rPr>
              <a:t>. Up until now </a:t>
            </a:r>
            <a:r>
              <a:rPr lang="en-GB" sz="2000" dirty="0">
                <a:solidFill>
                  <a:schemeClr val="tx1"/>
                </a:solidFill>
                <a:effectLst/>
                <a:latin typeface="Calibri" panose="020F0502020204030204" pitchFamily="34" charset="0"/>
                <a:ea typeface="Calibri" panose="020F0502020204030204" pitchFamily="34" charset="0"/>
              </a:rPr>
              <a:t>the majority of work in this area has been mainly theoretical; concentrating on neural network performance with artificially generated rainfall- runoff data; </a:t>
            </a:r>
            <a:r>
              <a:rPr lang="en-GB" sz="2000" dirty="0">
                <a:solidFill>
                  <a:srgbClr val="FF0000"/>
                </a:solidFill>
                <a:effectLst/>
                <a:latin typeface="Calibri" panose="020F0502020204030204" pitchFamily="34" charset="0"/>
                <a:ea typeface="Calibri" panose="020F0502020204030204" pitchFamily="34" charset="0"/>
              </a:rPr>
              <a:t>for example </a:t>
            </a:r>
            <a:r>
              <a:rPr lang="en-GB" sz="2000" dirty="0">
                <a:solidFill>
                  <a:schemeClr val="tx1"/>
                </a:solidFill>
                <a:effectLst/>
                <a:latin typeface="Calibri" panose="020F0502020204030204" pitchFamily="34" charset="0"/>
                <a:ea typeface="Calibri" panose="020F0502020204030204" pitchFamily="34" charset="0"/>
              </a:rPr>
              <a:t>Minns and Hall (1996). </a:t>
            </a:r>
            <a:r>
              <a:rPr lang="en-GB" sz="2000" dirty="0">
                <a:solidFill>
                  <a:srgbClr val="FF0000"/>
                </a:solidFill>
                <a:latin typeface="Calibri" panose="020F0502020204030204" pitchFamily="34" charset="0"/>
                <a:ea typeface="Calibri" panose="020F0502020204030204" pitchFamily="34" charset="0"/>
              </a:rPr>
              <a:t>Even so, </a:t>
            </a:r>
            <a:r>
              <a:rPr lang="en-GB" sz="2000" dirty="0">
                <a:solidFill>
                  <a:srgbClr val="FF0000"/>
                </a:solidFill>
                <a:effectLst/>
                <a:latin typeface="Calibri" panose="020F0502020204030204" pitchFamily="34" charset="0"/>
                <a:ea typeface="Calibri" panose="020F0502020204030204" pitchFamily="34" charset="0"/>
              </a:rPr>
              <a:t> </a:t>
            </a:r>
            <a:r>
              <a:rPr lang="en-GB" sz="2000" dirty="0">
                <a:solidFill>
                  <a:schemeClr val="tx1"/>
                </a:solidFill>
                <a:effectLst/>
                <a:latin typeface="Calibri" panose="020F0502020204030204" pitchFamily="34" charset="0"/>
                <a:ea typeface="Calibri" panose="020F0502020204030204" pitchFamily="34" charset="0"/>
              </a:rPr>
              <a:t>these theoretical approaches tend to overlook the difficulty in converting and applying actual data to artificial neural network topologies. </a:t>
            </a:r>
            <a:r>
              <a:rPr lang="en-GB" sz="2000" dirty="0">
                <a:effectLst/>
                <a:latin typeface="Calibri" panose="020F0502020204030204" pitchFamily="34" charset="0"/>
                <a:ea typeface="Calibri" panose="020F0502020204030204" pitchFamily="34" charset="0"/>
              </a:rPr>
              <a:t>Hall and </a:t>
            </a:r>
            <a:r>
              <a:rPr lang="en-GB" sz="2000" dirty="0" err="1">
                <a:effectLst/>
                <a:latin typeface="Calibri" panose="020F0502020204030204" pitchFamily="34" charset="0"/>
                <a:ea typeface="Calibri" panose="020F0502020204030204" pitchFamily="34" charset="0"/>
              </a:rPr>
              <a:t>Minns</a:t>
            </a:r>
            <a:r>
              <a:rPr lang="en-GB" sz="2000" dirty="0">
                <a:effectLst/>
                <a:latin typeface="Calibri" panose="020F0502020204030204" pitchFamily="34" charset="0"/>
                <a:ea typeface="Calibri" panose="020F0502020204030204" pitchFamily="34" charset="0"/>
              </a:rPr>
              <a:t> (1993) go some way to address this criticism by applying neural networks to a small urban catchment area</a:t>
            </a:r>
            <a:r>
              <a:rPr lang="en-GB" sz="2000" dirty="0">
                <a:solidFill>
                  <a:srgbClr val="FF0000"/>
                </a:solidFill>
                <a:effectLst/>
                <a:latin typeface="Calibri" panose="020F0502020204030204" pitchFamily="34" charset="0"/>
                <a:ea typeface="Calibri" panose="020F0502020204030204" pitchFamily="34" charset="0"/>
              </a:rPr>
              <a:t>. However, </a:t>
            </a:r>
            <a:r>
              <a:rPr lang="en-GB" sz="2000" dirty="0">
                <a:effectLst/>
                <a:latin typeface="Calibri" panose="020F0502020204030204" pitchFamily="34" charset="0"/>
                <a:ea typeface="Calibri" panose="020F0502020204030204" pitchFamily="34" charset="0"/>
              </a:rPr>
              <a:t>their discussion is limited to the performance of a neural network on a small number of events.</a:t>
            </a:r>
          </a:p>
          <a:p>
            <a:endParaRPr lang="en-GB" dirty="0"/>
          </a:p>
        </p:txBody>
      </p:sp>
    </p:spTree>
    <p:extLst>
      <p:ext uri="{BB962C8B-B14F-4D97-AF65-F5344CB8AC3E}">
        <p14:creationId xmlns:p14="http://schemas.microsoft.com/office/powerpoint/2010/main" val="573407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093F71-E89E-AE78-ADCB-82C8B18F398A}"/>
              </a:ext>
            </a:extLst>
          </p:cNvPr>
          <p:cNvSpPr txBox="1"/>
          <p:nvPr/>
        </p:nvSpPr>
        <p:spPr>
          <a:xfrm>
            <a:off x="315311" y="0"/>
            <a:ext cx="8836572" cy="6278642"/>
          </a:xfrm>
          <a:prstGeom prst="rect">
            <a:avLst/>
          </a:prstGeom>
          <a:noFill/>
        </p:spPr>
        <p:txBody>
          <a:bodyPr wrap="square">
            <a:spAutoFit/>
          </a:bodyPr>
          <a:lstStyle/>
          <a:p>
            <a:endParaRPr lang="en-GB" sz="2400" dirty="0">
              <a:solidFill>
                <a:srgbClr val="4C4C4C"/>
              </a:solidFill>
              <a:latin typeface="Helvetica Neue"/>
            </a:endParaRPr>
          </a:p>
          <a:p>
            <a:endParaRPr lang="en-GB" sz="2400" dirty="0">
              <a:solidFill>
                <a:srgbClr val="4C4C4C"/>
              </a:solidFill>
              <a:latin typeface="Helvetica Neue"/>
            </a:endParaRPr>
          </a:p>
          <a:p>
            <a:r>
              <a:rPr lang="en-GB" sz="2400" dirty="0">
                <a:solidFill>
                  <a:srgbClr val="4C4C4C"/>
                </a:solidFill>
                <a:latin typeface="Helvetica Neue"/>
              </a:rPr>
              <a:t>They </a:t>
            </a:r>
            <a:r>
              <a:rPr lang="en-GB" sz="2400" b="0" i="0" dirty="0">
                <a:solidFill>
                  <a:srgbClr val="4C4C4C"/>
                </a:solidFill>
                <a:effectLst/>
                <a:latin typeface="Helvetica Neue"/>
              </a:rPr>
              <a:t> help you guide the reader through your writing and make sure the order is clear and flows well.</a:t>
            </a:r>
          </a:p>
          <a:p>
            <a:endParaRPr lang="en-GB" sz="2400" dirty="0">
              <a:solidFill>
                <a:srgbClr val="4C4C4C"/>
              </a:solidFill>
              <a:latin typeface="Helvetica Neue"/>
            </a:endParaRPr>
          </a:p>
          <a:p>
            <a:endParaRPr lang="en-GB" sz="2400" b="0" i="0" dirty="0">
              <a:solidFill>
                <a:srgbClr val="4C4C4C"/>
              </a:solidFill>
              <a:effectLst/>
              <a:latin typeface="Helvetica Neue"/>
            </a:endParaRPr>
          </a:p>
          <a:p>
            <a:endParaRPr lang="en-GB" sz="2400">
              <a:solidFill>
                <a:srgbClr val="4C4C4C"/>
              </a:solidFill>
              <a:latin typeface="Helvetica Neue"/>
            </a:endParaRPr>
          </a:p>
          <a:p>
            <a:r>
              <a:rPr lang="en-GB" sz="2400" b="0" i="0">
                <a:solidFill>
                  <a:srgbClr val="4C4C4C"/>
                </a:solidFill>
                <a:effectLst/>
                <a:latin typeface="Helvetica Neue"/>
              </a:rPr>
              <a:t>Often </a:t>
            </a:r>
            <a:r>
              <a:rPr lang="en-GB" sz="2400" b="0" i="0" dirty="0">
                <a:solidFill>
                  <a:srgbClr val="4C4C4C"/>
                </a:solidFill>
                <a:effectLst/>
                <a:latin typeface="Helvetica Neue"/>
              </a:rPr>
              <a:t>referred to as </a:t>
            </a:r>
            <a:r>
              <a:rPr lang="en-GB" sz="2400" b="0" i="0" dirty="0">
                <a:solidFill>
                  <a:srgbClr val="FF0000"/>
                </a:solidFill>
                <a:effectLst/>
                <a:latin typeface="Helvetica Neue"/>
              </a:rPr>
              <a:t>signposting language</a:t>
            </a:r>
          </a:p>
          <a:p>
            <a:r>
              <a:rPr lang="en-GB" sz="2400" b="0" i="0" dirty="0">
                <a:solidFill>
                  <a:srgbClr val="4D5156"/>
                </a:solidFill>
                <a:effectLst/>
                <a:latin typeface="Helvetica Neue"/>
              </a:rPr>
              <a:t> </a:t>
            </a:r>
          </a:p>
          <a:p>
            <a:endParaRPr lang="en-GB" sz="2400" dirty="0">
              <a:solidFill>
                <a:srgbClr val="4C4C4C"/>
              </a:solidFill>
              <a:latin typeface="Helvetica Neue"/>
            </a:endParaRPr>
          </a:p>
          <a:p>
            <a:r>
              <a:rPr lang="en-GB" sz="2400" b="0" i="0" dirty="0">
                <a:solidFill>
                  <a:srgbClr val="4C4C4C"/>
                </a:solidFill>
                <a:effectLst/>
                <a:latin typeface="Helvetica Neue"/>
              </a:rPr>
              <a:t>Without signposting language, writing can lose direction, become confused and read like a series of unrelated points. </a:t>
            </a:r>
          </a:p>
          <a:p>
            <a:endParaRPr lang="en-GB" sz="2400" b="0" i="0" dirty="0">
              <a:solidFill>
                <a:srgbClr val="4C4C4C"/>
              </a:solidFill>
              <a:effectLst/>
              <a:latin typeface="Helvetica Neue"/>
            </a:endParaRPr>
          </a:p>
          <a:p>
            <a:r>
              <a:rPr lang="en-GB" dirty="0">
                <a:hlinkClick r:id="rId2"/>
              </a:rPr>
              <a:t>https://www.ncl.ac.uk/academic-skills-kit/writing/academic-writing/signposting/</a:t>
            </a:r>
            <a:endParaRPr lang="en-GB" dirty="0"/>
          </a:p>
          <a:p>
            <a:endParaRPr lang="en-GB" sz="2400" dirty="0"/>
          </a:p>
          <a:p>
            <a:endParaRPr lang="en-GB" sz="2400" b="0" i="0" dirty="0">
              <a:solidFill>
                <a:srgbClr val="4C4C4C"/>
              </a:solidFill>
              <a:effectLst/>
              <a:latin typeface="Helvetica Neue"/>
            </a:endParaRPr>
          </a:p>
          <a:p>
            <a:endParaRPr lang="en-GB" sz="2400" dirty="0">
              <a:solidFill>
                <a:srgbClr val="4C4C4C"/>
              </a:solidFill>
              <a:latin typeface="Helvetica Neue"/>
            </a:endParaRPr>
          </a:p>
        </p:txBody>
      </p:sp>
    </p:spTree>
    <p:extLst>
      <p:ext uri="{BB962C8B-B14F-4D97-AF65-F5344CB8AC3E}">
        <p14:creationId xmlns:p14="http://schemas.microsoft.com/office/powerpoint/2010/main" val="917833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val 21"/>
          <p:cNvSpPr/>
          <p:nvPr/>
        </p:nvSpPr>
        <p:spPr>
          <a:xfrm>
            <a:off x="5094733" y="4112636"/>
            <a:ext cx="3651466" cy="2294418"/>
          </a:xfrm>
          <a:prstGeom prst="ellipse">
            <a:avLst/>
          </a:prstGeom>
          <a:solidFill>
            <a:srgbClr val="CCFF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Oval 12"/>
          <p:cNvSpPr/>
          <p:nvPr/>
        </p:nvSpPr>
        <p:spPr>
          <a:xfrm>
            <a:off x="159006" y="3429000"/>
            <a:ext cx="4831645" cy="1918161"/>
          </a:xfrm>
          <a:prstGeom prst="ellipse">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04800" y="220133"/>
            <a:ext cx="11332816" cy="1444188"/>
          </a:xfrm>
        </p:spPr>
        <p:txBody>
          <a:bodyPr>
            <a:normAutofit/>
          </a:bodyPr>
          <a:lstStyle/>
          <a:p>
            <a:r>
              <a:rPr lang="en-US" sz="2800" dirty="0">
                <a:solidFill>
                  <a:schemeClr val="tx1"/>
                </a:solidFill>
              </a:rPr>
              <a:t>Comparing different sources using </a:t>
            </a:r>
            <a:r>
              <a:rPr lang="en-US" sz="2800" b="1" dirty="0">
                <a:solidFill>
                  <a:schemeClr val="tx1"/>
                </a:solidFill>
              </a:rPr>
              <a:t>signifying markers </a:t>
            </a:r>
            <a:r>
              <a:rPr lang="en-US" sz="2800" dirty="0">
                <a:solidFill>
                  <a:schemeClr val="tx1"/>
                </a:solidFill>
              </a:rPr>
              <a:t>or </a:t>
            </a:r>
            <a:r>
              <a:rPr lang="en-US" sz="2800" b="1" dirty="0">
                <a:solidFill>
                  <a:schemeClr val="tx1"/>
                </a:solidFill>
              </a:rPr>
              <a:t>linking words, </a:t>
            </a:r>
            <a:r>
              <a:rPr lang="en-US" sz="2800" dirty="0">
                <a:solidFill>
                  <a:schemeClr val="tx1"/>
                </a:solidFill>
              </a:rPr>
              <a:t>enables you to</a:t>
            </a:r>
            <a:r>
              <a:rPr lang="en-US" sz="2800" b="1" dirty="0">
                <a:solidFill>
                  <a:schemeClr val="tx1"/>
                </a:solidFill>
              </a:rPr>
              <a:t> </a:t>
            </a:r>
            <a:r>
              <a:rPr lang="en-US" sz="2800" dirty="0">
                <a:solidFill>
                  <a:schemeClr val="tx1"/>
                </a:solidFill>
              </a:rPr>
              <a:t>establish a meaningful conversation between the different authors. </a:t>
            </a:r>
            <a:r>
              <a:rPr lang="en-US" sz="2800" dirty="0">
                <a:solidFill>
                  <a:srgbClr val="FF0000"/>
                </a:solidFill>
              </a:rPr>
              <a:t>Does your work flow?</a:t>
            </a:r>
            <a:endParaRPr lang="en-US" sz="2800" b="1" dirty="0">
              <a:solidFill>
                <a:schemeClr val="tx1"/>
              </a:solidFill>
            </a:endParaRPr>
          </a:p>
        </p:txBody>
      </p:sp>
      <p:sp>
        <p:nvSpPr>
          <p:cNvPr id="6" name="TextBox 5"/>
          <p:cNvSpPr txBox="1"/>
          <p:nvPr/>
        </p:nvSpPr>
        <p:spPr>
          <a:xfrm>
            <a:off x="880534" y="3804367"/>
            <a:ext cx="3635023" cy="1015663"/>
          </a:xfrm>
          <a:prstGeom prst="rect">
            <a:avLst/>
          </a:prstGeom>
          <a:noFill/>
        </p:spPr>
        <p:txBody>
          <a:bodyPr wrap="square" rtlCol="0">
            <a:spAutoFit/>
          </a:bodyPr>
          <a:lstStyle/>
          <a:p>
            <a:r>
              <a:rPr lang="en-US" sz="2000" i="1" dirty="0"/>
              <a:t>also		furthermore</a:t>
            </a:r>
            <a:endParaRPr lang="en-US" sz="2000" dirty="0"/>
          </a:p>
          <a:p>
            <a:r>
              <a:rPr lang="en-US" sz="2000" i="1" dirty="0"/>
              <a:t>	again</a:t>
            </a:r>
            <a:endParaRPr lang="en-US" sz="2000" dirty="0"/>
          </a:p>
          <a:p>
            <a:r>
              <a:rPr lang="en-US" sz="2000" i="1" dirty="0"/>
              <a:t>		similarly</a:t>
            </a:r>
            <a:endParaRPr lang="en-US" sz="2000" dirty="0"/>
          </a:p>
        </p:txBody>
      </p:sp>
      <p:sp>
        <p:nvSpPr>
          <p:cNvPr id="7" name="TextBox 6"/>
          <p:cNvSpPr txBox="1"/>
          <p:nvPr/>
        </p:nvSpPr>
        <p:spPr>
          <a:xfrm>
            <a:off x="5641701" y="4247062"/>
            <a:ext cx="2628221" cy="2031325"/>
          </a:xfrm>
          <a:prstGeom prst="rect">
            <a:avLst/>
          </a:prstGeom>
          <a:noFill/>
        </p:spPr>
        <p:txBody>
          <a:bodyPr wrap="square" rtlCol="0">
            <a:spAutoFit/>
          </a:bodyPr>
          <a:lstStyle/>
          <a:p>
            <a:endParaRPr lang="en-US" i="1" dirty="0"/>
          </a:p>
          <a:p>
            <a:r>
              <a:rPr lang="en-US" i="1" dirty="0"/>
              <a:t>however</a:t>
            </a:r>
            <a:endParaRPr lang="en-US" dirty="0"/>
          </a:p>
          <a:p>
            <a:r>
              <a:rPr lang="en-US" i="1" dirty="0"/>
              <a:t>	          though  	 conversely</a:t>
            </a:r>
          </a:p>
          <a:p>
            <a:endParaRPr lang="en-US" dirty="0"/>
          </a:p>
          <a:p>
            <a:r>
              <a:rPr lang="en-US" i="1" dirty="0"/>
              <a:t>on the other hand</a:t>
            </a:r>
            <a:endParaRPr lang="en-US" dirty="0"/>
          </a:p>
          <a:p>
            <a:r>
              <a:rPr lang="en-US" i="1" dirty="0"/>
              <a:t>		nonetheless</a:t>
            </a:r>
            <a:endParaRPr lang="en-US" dirty="0"/>
          </a:p>
        </p:txBody>
      </p:sp>
      <p:sp>
        <p:nvSpPr>
          <p:cNvPr id="10" name="Rectangle 9"/>
          <p:cNvSpPr/>
          <p:nvPr/>
        </p:nvSpPr>
        <p:spPr>
          <a:xfrm>
            <a:off x="880534" y="2251127"/>
            <a:ext cx="3635024" cy="804224"/>
          </a:xfrm>
          <a:prstGeom prst="rect">
            <a:avLst/>
          </a:prstGeom>
          <a:noFill/>
        </p:spPr>
        <p:txBody>
          <a:bodyPr wrap="none" lIns="91440" tIns="45720" rIns="91440" bIns="45720">
            <a:prstTxWarp prst="textChevron">
              <a:avLst>
                <a:gd name="adj" fmla="val 3844"/>
              </a:avLst>
            </a:prstTxWarp>
            <a:spAutoFit/>
          </a:bodyPr>
          <a:lstStyle/>
          <a:p>
            <a:pPr algn="ctr"/>
            <a:r>
              <a:rPr lang="en-GB" sz="5400" b="1" cap="none" spc="0" dirty="0">
                <a:ln w="12700">
                  <a:solidFill>
                    <a:schemeClr val="tx2">
                      <a:satMod val="155000"/>
                    </a:schemeClr>
                  </a:solidFill>
                  <a:prstDash val="solid"/>
                </a:ln>
                <a:solidFill>
                  <a:srgbClr val="000000"/>
                </a:solidFill>
                <a:effectLst>
                  <a:outerShdw blurRad="41275" dist="20320" dir="1800000" algn="tl" rotWithShape="0">
                    <a:srgbClr val="000000">
                      <a:alpha val="40000"/>
                    </a:srgbClr>
                  </a:outerShdw>
                </a:effectLst>
              </a:rPr>
              <a:t>Similarity</a:t>
            </a:r>
          </a:p>
        </p:txBody>
      </p:sp>
      <p:sp>
        <p:nvSpPr>
          <p:cNvPr id="11" name="Rectangle 10"/>
          <p:cNvSpPr/>
          <p:nvPr/>
        </p:nvSpPr>
        <p:spPr>
          <a:xfrm>
            <a:off x="7360355" y="2406741"/>
            <a:ext cx="3183467" cy="704727"/>
          </a:xfrm>
          <a:prstGeom prst="rect">
            <a:avLst/>
          </a:prstGeom>
          <a:noFill/>
        </p:spPr>
        <p:txBody>
          <a:bodyPr wrap="none" lIns="91440" tIns="45720" rIns="91440" bIns="45720">
            <a:prstTxWarp prst="textChevron">
              <a:avLst>
                <a:gd name="adj" fmla="val 0"/>
              </a:avLst>
            </a:prstTxWarp>
            <a:spAutoFit/>
          </a:bodyPr>
          <a:lstStyle/>
          <a:p>
            <a:pPr algn="ctr"/>
            <a:r>
              <a:rPr lang="en-GB" sz="5400" b="1" dirty="0">
                <a:ln w="12700">
                  <a:solidFill>
                    <a:schemeClr val="tx2">
                      <a:satMod val="155000"/>
                    </a:schemeClr>
                  </a:solidFill>
                  <a:prstDash val="solid"/>
                </a:ln>
                <a:solidFill>
                  <a:srgbClr val="000000"/>
                </a:solidFill>
                <a:effectLst>
                  <a:outerShdw blurRad="41275" dist="20320" dir="1800000" algn="tl" rotWithShape="0">
                    <a:srgbClr val="000000">
                      <a:alpha val="40000"/>
                    </a:srgbClr>
                  </a:outerShdw>
                </a:effectLst>
              </a:rPr>
              <a:t>Difference</a:t>
            </a:r>
            <a:endParaRPr lang="en-GB" sz="5400" b="1" cap="none" spc="0" dirty="0">
              <a:ln w="12700">
                <a:solidFill>
                  <a:schemeClr val="tx2">
                    <a:satMod val="155000"/>
                  </a:schemeClr>
                </a:solidFill>
                <a:prstDash val="solid"/>
              </a:ln>
              <a:solidFill>
                <a:srgbClr val="000000"/>
              </a:solidFill>
              <a:effectLst>
                <a:outerShdw blurRad="41275" dist="20320" dir="1800000" algn="tl" rotWithShape="0">
                  <a:srgbClr val="000000">
                    <a:alpha val="40000"/>
                  </a:srgbClr>
                </a:outerShdw>
              </a:effectLst>
            </a:endParaRPr>
          </a:p>
        </p:txBody>
      </p:sp>
      <p:cxnSp>
        <p:nvCxnSpPr>
          <p:cNvPr id="4" name="Straight Arrow Connector 3"/>
          <p:cNvCxnSpPr>
            <a:cxnSpLocks/>
          </p:cNvCxnSpPr>
          <p:nvPr/>
        </p:nvCxnSpPr>
        <p:spPr>
          <a:xfrm flipH="1">
            <a:off x="7725626" y="3242898"/>
            <a:ext cx="370700" cy="529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cxnSpLocks/>
          </p:cNvCxnSpPr>
          <p:nvPr/>
        </p:nvCxnSpPr>
        <p:spPr>
          <a:xfrm>
            <a:off x="9602275" y="3172416"/>
            <a:ext cx="356269" cy="5650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31224" y="3671802"/>
            <a:ext cx="1508911" cy="400110"/>
          </a:xfrm>
          <a:prstGeom prst="rect">
            <a:avLst/>
          </a:prstGeom>
          <a:noFill/>
        </p:spPr>
        <p:txBody>
          <a:bodyPr wrap="square" rtlCol="0">
            <a:spAutoFit/>
          </a:bodyPr>
          <a:lstStyle/>
          <a:p>
            <a:r>
              <a:rPr lang="en-GB" sz="2000" b="1" dirty="0"/>
              <a:t>Contrast</a:t>
            </a:r>
          </a:p>
        </p:txBody>
      </p:sp>
      <p:sp>
        <p:nvSpPr>
          <p:cNvPr id="21" name="TextBox 20"/>
          <p:cNvSpPr txBox="1"/>
          <p:nvPr/>
        </p:nvSpPr>
        <p:spPr>
          <a:xfrm>
            <a:off x="9602275" y="3746531"/>
            <a:ext cx="1943477" cy="369332"/>
          </a:xfrm>
          <a:prstGeom prst="rect">
            <a:avLst/>
          </a:prstGeom>
          <a:noFill/>
        </p:spPr>
        <p:txBody>
          <a:bodyPr wrap="square" rtlCol="0">
            <a:spAutoFit/>
          </a:bodyPr>
          <a:lstStyle/>
          <a:p>
            <a:r>
              <a:rPr lang="en-GB" b="1" dirty="0"/>
              <a:t>Addition</a:t>
            </a:r>
          </a:p>
        </p:txBody>
      </p:sp>
      <p:sp>
        <p:nvSpPr>
          <p:cNvPr id="23" name="Oval 22"/>
          <p:cNvSpPr/>
          <p:nvPr/>
        </p:nvSpPr>
        <p:spPr>
          <a:xfrm>
            <a:off x="8822194" y="4103012"/>
            <a:ext cx="2976576" cy="1580754"/>
          </a:xfrm>
          <a:prstGeom prst="ellipse">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GB" i="1" dirty="0">
                <a:solidFill>
                  <a:schemeClr val="tx1"/>
                </a:solidFill>
              </a:rPr>
              <a:t>what is more</a:t>
            </a:r>
          </a:p>
          <a:p>
            <a:pPr algn="ctr"/>
            <a:r>
              <a:rPr lang="en-GB" i="1" dirty="0">
                <a:solidFill>
                  <a:schemeClr val="tx1"/>
                </a:solidFill>
              </a:rPr>
              <a:t>moreover</a:t>
            </a:r>
          </a:p>
          <a:p>
            <a:pPr algn="ctr"/>
            <a:r>
              <a:rPr lang="en-GB" i="1" dirty="0">
                <a:solidFill>
                  <a:schemeClr val="tx1"/>
                </a:solidFill>
              </a:rPr>
              <a:t>additionally</a:t>
            </a:r>
          </a:p>
        </p:txBody>
      </p:sp>
    </p:spTree>
    <p:extLst>
      <p:ext uri="{BB962C8B-B14F-4D97-AF65-F5344CB8AC3E}">
        <p14:creationId xmlns:p14="http://schemas.microsoft.com/office/powerpoint/2010/main" val="55787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3" grpId="0" animBg="1"/>
      <p:bldP spid="6" grpId="0"/>
      <p:bldP spid="7" grpId="0"/>
      <p:bldP spid="10" grpId="0"/>
      <p:bldP spid="11" grpId="0"/>
      <p:bldP spid="16" grpId="0"/>
      <p:bldP spid="21" grpId="0"/>
      <p:bldP spid="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081212" y="1471871"/>
          <a:ext cx="5238924" cy="5053478"/>
        </p:xfrm>
        <a:graphic>
          <a:graphicData uri="http://schemas.openxmlformats.org/drawingml/2006/table">
            <a:tbl>
              <a:tblPr>
                <a:tableStyleId>{5C22544A-7EE6-4342-B048-85BDC9FD1C3A}</a:tableStyleId>
              </a:tblPr>
              <a:tblGrid>
                <a:gridCol w="2109315">
                  <a:extLst>
                    <a:ext uri="{9D8B030D-6E8A-4147-A177-3AD203B41FA5}">
                      <a16:colId xmlns:a16="http://schemas.microsoft.com/office/drawing/2014/main" val="20000"/>
                    </a:ext>
                  </a:extLst>
                </a:gridCol>
                <a:gridCol w="3129609">
                  <a:extLst>
                    <a:ext uri="{9D8B030D-6E8A-4147-A177-3AD203B41FA5}">
                      <a16:colId xmlns:a16="http://schemas.microsoft.com/office/drawing/2014/main" val="20001"/>
                    </a:ext>
                  </a:extLst>
                </a:gridCol>
              </a:tblGrid>
              <a:tr h="330068">
                <a:tc>
                  <a:txBody>
                    <a:bodyPr/>
                    <a:lstStyle/>
                    <a:p>
                      <a:pPr marL="285750" indent="-285750" algn="l" fontAlgn="ctr">
                        <a:buFont typeface="Arial" panose="020B0604020202020204" pitchFamily="34" charset="0"/>
                        <a:buChar char="•"/>
                      </a:pPr>
                      <a:r>
                        <a:rPr lang="en-GB" sz="1700" b="1" u="none" strike="noStrike" dirty="0">
                          <a:effectLst/>
                        </a:rPr>
                        <a:t>as a result of</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a:effectLst/>
                        </a:rPr>
                        <a:t>logical consequence</a:t>
                      </a:r>
                      <a:endParaRPr lang="en-GB" sz="1700" b="1" i="0" u="none" strike="noStrike">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0068">
                <a:tc>
                  <a:txBody>
                    <a:bodyPr/>
                    <a:lstStyle/>
                    <a:p>
                      <a:pPr marL="285750" indent="-285750" algn="l" fontAlgn="ctr">
                        <a:buFont typeface="Arial" panose="020B0604020202020204" pitchFamily="34" charset="0"/>
                        <a:buChar char="•"/>
                      </a:pPr>
                      <a:r>
                        <a:rPr lang="en-GB" sz="1700" b="1" u="none" strike="noStrike" dirty="0">
                          <a:effectLst/>
                        </a:rPr>
                        <a:t>firstly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a:effectLst/>
                        </a:rPr>
                        <a:t>structuring/ordering</a:t>
                      </a:r>
                      <a:endParaRPr lang="en-GB" sz="1700" b="1" i="0" u="none" strike="noStrike">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2526">
                <a:tc>
                  <a:txBody>
                    <a:bodyPr/>
                    <a:lstStyle/>
                    <a:p>
                      <a:pPr marL="285750" indent="-285750" algn="l" fontAlgn="ctr">
                        <a:buFont typeface="Arial" panose="020B0604020202020204" pitchFamily="34" charset="0"/>
                        <a:buChar char="•"/>
                      </a:pPr>
                      <a:r>
                        <a:rPr lang="en-GB" sz="1700" b="1" u="none" strike="noStrike" dirty="0">
                          <a:effectLst/>
                        </a:rPr>
                        <a:t>for instance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a:effectLst/>
                        </a:rPr>
                        <a:t>giving examples</a:t>
                      </a:r>
                      <a:endParaRPr lang="en-GB" sz="1700" b="1" i="0" u="none" strike="noStrike">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0068">
                <a:tc>
                  <a:txBody>
                    <a:bodyPr/>
                    <a:lstStyle/>
                    <a:p>
                      <a:pPr marL="285750" indent="-285750" algn="l" fontAlgn="ctr">
                        <a:buFont typeface="Arial" panose="020B0604020202020204" pitchFamily="34" charset="0"/>
                        <a:buChar char="•"/>
                      </a:pPr>
                      <a:r>
                        <a:rPr lang="en-GB" sz="1700" b="1" u="none" strike="noStrike" dirty="0">
                          <a:effectLst/>
                        </a:rPr>
                        <a:t>getting back to</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come back to old idea</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0068">
                <a:tc>
                  <a:txBody>
                    <a:bodyPr/>
                    <a:lstStyle/>
                    <a:p>
                      <a:pPr marL="285750" indent="-285750" algn="l" fontAlgn="ctr">
                        <a:buFont typeface="Arial" panose="020B0604020202020204" pitchFamily="34" charset="0"/>
                        <a:buChar char="•"/>
                      </a:pPr>
                      <a:r>
                        <a:rPr lang="en-GB" sz="1700" b="1" u="none" strike="noStrike" dirty="0">
                          <a:effectLst/>
                        </a:rPr>
                        <a:t>however</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show a big contrast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30068">
                <a:tc>
                  <a:txBody>
                    <a:bodyPr/>
                    <a:lstStyle/>
                    <a:p>
                      <a:pPr marL="285750" indent="-285750" algn="l" fontAlgn="ctr">
                        <a:buFont typeface="Arial" panose="020B0604020202020204" pitchFamily="34" charset="0"/>
                        <a:buChar char="•"/>
                      </a:pPr>
                      <a:r>
                        <a:rPr lang="en-GB" sz="1700" b="1" u="none" strike="noStrike" dirty="0">
                          <a:effectLst/>
                        </a:rPr>
                        <a:t>in most cases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generalising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30068">
                <a:tc>
                  <a:txBody>
                    <a:bodyPr/>
                    <a:lstStyle/>
                    <a:p>
                      <a:pPr marL="285750" indent="-285750" algn="l" fontAlgn="ctr">
                        <a:buFont typeface="Arial" panose="020B0604020202020204" pitchFamily="34" charset="0"/>
                        <a:buChar char="•"/>
                      </a:pPr>
                      <a:r>
                        <a:rPr lang="en-GB" sz="1700" b="1" u="none" strike="noStrike" dirty="0">
                          <a:effectLst/>
                        </a:rPr>
                        <a:t>in particular</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a:effectLst/>
                        </a:rPr>
                        <a:t>giving examples</a:t>
                      </a:r>
                      <a:endParaRPr lang="en-GB" sz="1700" b="1" i="0" u="none" strike="noStrike">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30068">
                <a:tc>
                  <a:txBody>
                    <a:bodyPr/>
                    <a:lstStyle/>
                    <a:p>
                      <a:pPr marL="285750" indent="-285750" algn="l" fontAlgn="ctr">
                        <a:buFont typeface="Arial" panose="020B0604020202020204" pitchFamily="34" charset="0"/>
                        <a:buChar char="•"/>
                      </a:pPr>
                      <a:r>
                        <a:rPr lang="en-GB" sz="1700" b="1" u="none" strike="noStrike" dirty="0">
                          <a:effectLst/>
                        </a:rPr>
                        <a:t>in spite of this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show a big contrast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30068">
                <a:tc>
                  <a:txBody>
                    <a:bodyPr/>
                    <a:lstStyle/>
                    <a:p>
                      <a:pPr marL="285750" indent="-285750" algn="l" fontAlgn="ctr">
                        <a:buFont typeface="Arial" panose="020B0604020202020204" pitchFamily="34" charset="0"/>
                        <a:buChar char="•"/>
                      </a:pPr>
                      <a:r>
                        <a:rPr lang="en-GB" sz="1700" b="1" u="none" strike="noStrike" dirty="0">
                          <a:effectLst/>
                        </a:rPr>
                        <a:t>incidentally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move on to new idea</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30068">
                <a:tc>
                  <a:txBody>
                    <a:bodyPr/>
                    <a:lstStyle/>
                    <a:p>
                      <a:pPr marL="285750" indent="-285750" algn="l" fontAlgn="ctr">
                        <a:buFont typeface="Arial" panose="020B0604020202020204" pitchFamily="34" charset="0"/>
                        <a:buChar char="•"/>
                      </a:pPr>
                      <a:r>
                        <a:rPr lang="en-GB" sz="1700" b="1" u="none" strike="noStrike" dirty="0">
                          <a:effectLst/>
                        </a:rPr>
                        <a:t>it follows that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logical consequence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30068">
                <a:tc>
                  <a:txBody>
                    <a:bodyPr/>
                    <a:lstStyle/>
                    <a:p>
                      <a:pPr marL="285750" indent="-285750" algn="l" fontAlgn="ctr">
                        <a:buFont typeface="Arial" panose="020B0604020202020204" pitchFamily="34" charset="0"/>
                        <a:buChar char="•"/>
                      </a:pPr>
                      <a:r>
                        <a:rPr lang="en-GB" sz="1700" b="1" u="none" strike="noStrike" dirty="0">
                          <a:effectLst/>
                        </a:rPr>
                        <a:t>nonetheless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show a big contrast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30068">
                <a:tc>
                  <a:txBody>
                    <a:bodyPr/>
                    <a:lstStyle/>
                    <a:p>
                      <a:pPr marL="285750" indent="-285750" algn="l" fontAlgn="ctr">
                        <a:buFont typeface="Arial" panose="020B0604020202020204" pitchFamily="34" charset="0"/>
                        <a:buChar char="•"/>
                      </a:pPr>
                      <a:r>
                        <a:rPr lang="en-GB" sz="1700" b="1" u="none" strike="noStrike" dirty="0">
                          <a:effectLst/>
                        </a:rPr>
                        <a:t>on the contrary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disagree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30068">
                <a:tc>
                  <a:txBody>
                    <a:bodyPr/>
                    <a:lstStyle/>
                    <a:p>
                      <a:pPr marL="285750" indent="-285750" algn="l" fontAlgn="ctr">
                        <a:buFont typeface="Arial" panose="020B0604020202020204" pitchFamily="34" charset="0"/>
                        <a:buChar char="•"/>
                      </a:pPr>
                      <a:r>
                        <a:rPr lang="en-GB" sz="1700" b="1" u="none" strike="noStrike" dirty="0">
                          <a:effectLst/>
                        </a:rPr>
                        <a:t>on the whole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generalising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30068">
                <a:tc>
                  <a:txBody>
                    <a:bodyPr/>
                    <a:lstStyle/>
                    <a:p>
                      <a:pPr marL="285750" indent="-285750" algn="l" fontAlgn="ctr">
                        <a:buFont typeface="Arial" panose="020B0604020202020204" pitchFamily="34" charset="0"/>
                        <a:buChar char="•"/>
                      </a:pPr>
                      <a:r>
                        <a:rPr lang="en-GB" sz="1700" b="1" u="none" strike="noStrike" dirty="0">
                          <a:effectLst/>
                        </a:rPr>
                        <a:t>secondly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structuring/ordering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30068">
                <a:tc>
                  <a:txBody>
                    <a:bodyPr/>
                    <a:lstStyle/>
                    <a:p>
                      <a:pPr marL="285750" indent="-285750" algn="l" fontAlgn="ctr">
                        <a:buFont typeface="Arial" panose="020B0604020202020204" pitchFamily="34" charset="0"/>
                        <a:buChar char="•"/>
                      </a:pPr>
                      <a:r>
                        <a:rPr lang="en-GB" sz="1700" b="1" u="none" strike="noStrike" dirty="0">
                          <a:effectLst/>
                        </a:rPr>
                        <a:t>therefore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logical consequence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bl>
          </a:graphicData>
        </a:graphic>
      </p:graphicFrame>
      <p:sp>
        <p:nvSpPr>
          <p:cNvPr id="3" name="Rectangle 2"/>
          <p:cNvSpPr/>
          <p:nvPr/>
        </p:nvSpPr>
        <p:spPr>
          <a:xfrm>
            <a:off x="4152900" y="1479770"/>
            <a:ext cx="3167236" cy="504557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Disagree</a:t>
            </a:r>
          </a:p>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Move on to an idea</a:t>
            </a:r>
          </a:p>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Come back to an old idea</a:t>
            </a:r>
          </a:p>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Give examples </a:t>
            </a:r>
          </a:p>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Generalise</a:t>
            </a:r>
          </a:p>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Show a logical consequence</a:t>
            </a:r>
          </a:p>
          <a:p>
            <a:pPr marL="214313" indent="-214313" defTabSz="685800">
              <a:buFont typeface="Arial" panose="020B0604020202020204" pitchFamily="34" charset="0"/>
              <a:buChar char="•"/>
            </a:pPr>
            <a:r>
              <a:rPr lang="en-GB" sz="2400" b="1" dirty="0">
                <a:solidFill>
                  <a:prstClr val="white"/>
                </a:solidFill>
                <a:effectLst>
                  <a:outerShdw blurRad="38100" dist="38100" dir="2700000" algn="tl">
                    <a:srgbClr val="000000">
                      <a:alpha val="43137"/>
                    </a:srgbClr>
                  </a:outerShdw>
                </a:effectLst>
                <a:latin typeface="Calibri" panose="020F0502020204030204"/>
              </a:rPr>
              <a:t>Show a big contrast</a:t>
            </a:r>
          </a:p>
        </p:txBody>
      </p:sp>
      <p:sp>
        <p:nvSpPr>
          <p:cNvPr id="8" name="Rectangle 7"/>
          <p:cNvSpPr/>
          <p:nvPr/>
        </p:nvSpPr>
        <p:spPr>
          <a:xfrm>
            <a:off x="4152900" y="1164633"/>
            <a:ext cx="975380" cy="295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GB" sz="1350" b="1" dirty="0">
                <a:solidFill>
                  <a:prstClr val="white"/>
                </a:solidFill>
                <a:effectLst>
                  <a:outerShdw blurRad="38100" dist="38100" dir="2700000" algn="tl">
                    <a:srgbClr val="000000">
                      <a:alpha val="43137"/>
                    </a:srgbClr>
                  </a:outerShdw>
                </a:effectLst>
                <a:latin typeface="Calibri" panose="020F0502020204030204"/>
              </a:rPr>
              <a:t>Functions</a:t>
            </a:r>
          </a:p>
        </p:txBody>
      </p:sp>
      <p:sp>
        <p:nvSpPr>
          <p:cNvPr id="9" name="Rectangle 8"/>
          <p:cNvSpPr/>
          <p:nvPr/>
        </p:nvSpPr>
        <p:spPr>
          <a:xfrm rot="16200000">
            <a:off x="1236335" y="2946309"/>
            <a:ext cx="975380" cy="295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GB" sz="1350" b="1" dirty="0">
                <a:solidFill>
                  <a:prstClr val="white"/>
                </a:solidFill>
                <a:effectLst>
                  <a:outerShdw blurRad="38100" dist="38100" dir="2700000" algn="tl">
                    <a:srgbClr val="000000">
                      <a:alpha val="43137"/>
                    </a:srgbClr>
                  </a:outerShdw>
                </a:effectLst>
                <a:latin typeface="Calibri" panose="020F0502020204030204"/>
              </a:rPr>
              <a:t>Phrases</a:t>
            </a:r>
          </a:p>
        </p:txBody>
      </p:sp>
      <p:sp>
        <p:nvSpPr>
          <p:cNvPr id="10" name="TextBox 9"/>
          <p:cNvSpPr txBox="1"/>
          <p:nvPr/>
        </p:nvSpPr>
        <p:spPr>
          <a:xfrm>
            <a:off x="8056711" y="3923156"/>
            <a:ext cx="1838325" cy="1569660"/>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defTabSz="685800"/>
            <a:r>
              <a:rPr lang="en-GB" sz="2400" b="1" dirty="0">
                <a:solidFill>
                  <a:prstClr val="black"/>
                </a:solidFill>
                <a:latin typeface="Calibri" panose="020F0502020204030204"/>
              </a:rPr>
              <a:t>Match the phrases to the functions.</a:t>
            </a:r>
          </a:p>
        </p:txBody>
      </p:sp>
      <p:sp>
        <p:nvSpPr>
          <p:cNvPr id="7" name="Rectangle 6"/>
          <p:cNvSpPr/>
          <p:nvPr/>
        </p:nvSpPr>
        <p:spPr>
          <a:xfrm>
            <a:off x="1582092" y="103385"/>
            <a:ext cx="9144000" cy="576064"/>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GB" sz="3600" b="1" dirty="0">
                <a:solidFill>
                  <a:srgbClr val="00B0F0"/>
                </a:solidFill>
                <a:latin typeface="Calibri" panose="020F0502020204030204"/>
              </a:rPr>
              <a:t>Signposting</a:t>
            </a:r>
          </a:p>
        </p:txBody>
      </p:sp>
      <p:sp>
        <p:nvSpPr>
          <p:cNvPr id="5" name="AutoShape 2" descr="Image result for crossing road sign post"/>
          <p:cNvSpPr>
            <a:spLocks noChangeAspect="1" noChangeArrowheads="1"/>
          </p:cNvSpPr>
          <p:nvPr/>
        </p:nvSpPr>
        <p:spPr bwMode="auto">
          <a:xfrm>
            <a:off x="1679575" y="-28098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76191" y="1243973"/>
            <a:ext cx="3044409" cy="2032348"/>
          </a:xfrm>
          <a:prstGeom prst="rect">
            <a:avLst/>
          </a:prstGeom>
        </p:spPr>
      </p:pic>
    </p:spTree>
    <p:extLst>
      <p:ext uri="{BB962C8B-B14F-4D97-AF65-F5344CB8AC3E}">
        <p14:creationId xmlns:p14="http://schemas.microsoft.com/office/powerpoint/2010/main" val="2937135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081213" y="1471872"/>
          <a:ext cx="5166915" cy="5053479"/>
        </p:xfrm>
        <a:graphic>
          <a:graphicData uri="http://schemas.openxmlformats.org/drawingml/2006/table">
            <a:tbl>
              <a:tblPr>
                <a:tableStyleId>{5C22544A-7EE6-4342-B048-85BDC9FD1C3A}</a:tableStyleId>
              </a:tblPr>
              <a:tblGrid>
                <a:gridCol w="2080323">
                  <a:extLst>
                    <a:ext uri="{9D8B030D-6E8A-4147-A177-3AD203B41FA5}">
                      <a16:colId xmlns:a16="http://schemas.microsoft.com/office/drawing/2014/main" val="20000"/>
                    </a:ext>
                  </a:extLst>
                </a:gridCol>
                <a:gridCol w="3086592">
                  <a:extLst>
                    <a:ext uri="{9D8B030D-6E8A-4147-A177-3AD203B41FA5}">
                      <a16:colId xmlns:a16="http://schemas.microsoft.com/office/drawing/2014/main" val="20001"/>
                    </a:ext>
                  </a:extLst>
                </a:gridCol>
              </a:tblGrid>
              <a:tr h="330068">
                <a:tc>
                  <a:txBody>
                    <a:bodyPr/>
                    <a:lstStyle/>
                    <a:p>
                      <a:pPr marL="342900" indent="-342900" algn="l" fontAlgn="ctr">
                        <a:buFont typeface="Arial" panose="020B0604020202020204" pitchFamily="34" charset="0"/>
                        <a:buChar char="•"/>
                      </a:pPr>
                      <a:r>
                        <a:rPr lang="en-GB" sz="1700" b="1" u="none" strike="noStrike" dirty="0">
                          <a:effectLst/>
                        </a:rPr>
                        <a:t>as a result of</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a:effectLst/>
                        </a:rPr>
                        <a:t>  logical </a:t>
                      </a:r>
                      <a:r>
                        <a:rPr lang="en-GB" sz="1700" b="1" u="none" strike="noStrike" dirty="0">
                          <a:effectLst/>
                        </a:rPr>
                        <a:t>consequence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30068">
                <a:tc>
                  <a:txBody>
                    <a:bodyPr/>
                    <a:lstStyle/>
                    <a:p>
                      <a:pPr marL="342900" indent="-342900" algn="l" fontAlgn="ctr">
                        <a:buFont typeface="Arial" panose="020B0604020202020204" pitchFamily="34" charset="0"/>
                        <a:buChar char="•"/>
                      </a:pPr>
                      <a:r>
                        <a:rPr lang="en-GB" sz="1700" b="1" u="none" strike="noStrike" dirty="0">
                          <a:effectLst/>
                        </a:rPr>
                        <a:t>firstly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structuring/ordering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2527">
                <a:tc>
                  <a:txBody>
                    <a:bodyPr/>
                    <a:lstStyle/>
                    <a:p>
                      <a:pPr marL="342900" indent="-342900" algn="l" fontAlgn="ctr">
                        <a:buFont typeface="Arial" panose="020B0604020202020204" pitchFamily="34" charset="0"/>
                        <a:buChar char="•"/>
                      </a:pPr>
                      <a:r>
                        <a:rPr lang="en-GB" sz="1700" b="1" u="none" strike="noStrike" dirty="0">
                          <a:effectLst/>
                        </a:rPr>
                        <a:t>for instance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giving examples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0068">
                <a:tc>
                  <a:txBody>
                    <a:bodyPr/>
                    <a:lstStyle/>
                    <a:p>
                      <a:pPr marL="342900" indent="-342900" algn="l" fontAlgn="ctr">
                        <a:buFont typeface="Arial" panose="020B0604020202020204" pitchFamily="34" charset="0"/>
                        <a:buChar char="•"/>
                      </a:pPr>
                      <a:r>
                        <a:rPr lang="en-GB" sz="1700" b="1" u="none" strike="noStrike" dirty="0">
                          <a:effectLst/>
                        </a:rPr>
                        <a:t>getting back to</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come back to old idea</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30068">
                <a:tc>
                  <a:txBody>
                    <a:bodyPr/>
                    <a:lstStyle/>
                    <a:p>
                      <a:pPr marL="342900" indent="-342900" algn="l" fontAlgn="ctr">
                        <a:buFont typeface="Arial" panose="020B0604020202020204" pitchFamily="34" charset="0"/>
                        <a:buChar char="•"/>
                      </a:pPr>
                      <a:r>
                        <a:rPr lang="en-GB" sz="1700" b="1" u="none" strike="noStrike" dirty="0">
                          <a:effectLst/>
                        </a:rPr>
                        <a:t>however</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show a big contrast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30068">
                <a:tc>
                  <a:txBody>
                    <a:bodyPr/>
                    <a:lstStyle/>
                    <a:p>
                      <a:pPr marL="342900" indent="-342900" algn="l" fontAlgn="ctr">
                        <a:buFont typeface="Arial" panose="020B0604020202020204" pitchFamily="34" charset="0"/>
                        <a:buChar char="•"/>
                      </a:pPr>
                      <a:r>
                        <a:rPr lang="en-GB" sz="1700" b="1" u="none" strike="noStrike" dirty="0">
                          <a:effectLst/>
                        </a:rPr>
                        <a:t>in most cases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generalising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30068">
                <a:tc>
                  <a:txBody>
                    <a:bodyPr/>
                    <a:lstStyle/>
                    <a:p>
                      <a:pPr marL="342900" indent="-342900" algn="l" fontAlgn="ctr">
                        <a:buFont typeface="Arial" panose="020B0604020202020204" pitchFamily="34" charset="0"/>
                        <a:buChar char="•"/>
                      </a:pPr>
                      <a:r>
                        <a:rPr lang="en-GB" sz="1700" b="1" u="none" strike="noStrike" dirty="0">
                          <a:effectLst/>
                        </a:rPr>
                        <a:t>in particular</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giving examples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30068">
                <a:tc>
                  <a:txBody>
                    <a:bodyPr/>
                    <a:lstStyle/>
                    <a:p>
                      <a:pPr marL="342900" indent="-342900" algn="l" fontAlgn="ctr">
                        <a:buFont typeface="Arial" panose="020B0604020202020204" pitchFamily="34" charset="0"/>
                        <a:buChar char="•"/>
                      </a:pPr>
                      <a:r>
                        <a:rPr lang="en-GB" sz="1700" b="1" u="none" strike="noStrike" dirty="0">
                          <a:effectLst/>
                        </a:rPr>
                        <a:t>in spite of this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show a big contrast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30068">
                <a:tc>
                  <a:txBody>
                    <a:bodyPr/>
                    <a:lstStyle/>
                    <a:p>
                      <a:pPr marL="342900" indent="-342900" algn="l" fontAlgn="ctr">
                        <a:buFont typeface="Arial" panose="020B0604020202020204" pitchFamily="34" charset="0"/>
                        <a:buChar char="•"/>
                      </a:pPr>
                      <a:r>
                        <a:rPr lang="en-GB" sz="1700" b="1" u="none" strike="noStrike" dirty="0">
                          <a:effectLst/>
                        </a:rPr>
                        <a:t>incidentally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move on to new idea</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30068">
                <a:tc>
                  <a:txBody>
                    <a:bodyPr/>
                    <a:lstStyle/>
                    <a:p>
                      <a:pPr marL="342900" indent="-342900" algn="l" fontAlgn="ctr">
                        <a:buFont typeface="Arial" panose="020B0604020202020204" pitchFamily="34" charset="0"/>
                        <a:buChar char="•"/>
                      </a:pPr>
                      <a:r>
                        <a:rPr lang="en-GB" sz="1700" b="1" u="none" strike="noStrike" dirty="0">
                          <a:effectLst/>
                        </a:rPr>
                        <a:t>it follows that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logical consequence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30068">
                <a:tc>
                  <a:txBody>
                    <a:bodyPr/>
                    <a:lstStyle/>
                    <a:p>
                      <a:pPr marL="342900" indent="-342900" algn="l" fontAlgn="ctr">
                        <a:buFont typeface="Arial" panose="020B0604020202020204" pitchFamily="34" charset="0"/>
                        <a:buChar char="•"/>
                      </a:pPr>
                      <a:r>
                        <a:rPr lang="en-GB" sz="1700" b="1" u="none" strike="noStrike" dirty="0">
                          <a:effectLst/>
                        </a:rPr>
                        <a:t>nonetheless</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show a big contrast</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30068">
                <a:tc>
                  <a:txBody>
                    <a:bodyPr/>
                    <a:lstStyle/>
                    <a:p>
                      <a:pPr marL="342900" indent="-342900" algn="l" fontAlgn="ctr">
                        <a:buFont typeface="Arial" panose="020B0604020202020204" pitchFamily="34" charset="0"/>
                        <a:buChar char="•"/>
                      </a:pPr>
                      <a:r>
                        <a:rPr lang="en-GB" sz="1700" b="1" u="none" strike="noStrike" dirty="0">
                          <a:effectLst/>
                        </a:rPr>
                        <a:t>on the contrary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disagree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30068">
                <a:tc>
                  <a:txBody>
                    <a:bodyPr/>
                    <a:lstStyle/>
                    <a:p>
                      <a:pPr marL="342900" indent="-342900" algn="l" fontAlgn="ctr">
                        <a:buFont typeface="Arial" panose="020B0604020202020204" pitchFamily="34" charset="0"/>
                        <a:buChar char="•"/>
                      </a:pPr>
                      <a:r>
                        <a:rPr lang="en-GB" sz="1700" b="1" u="none" strike="noStrike" dirty="0">
                          <a:effectLst/>
                        </a:rPr>
                        <a:t>on the whole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generalising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330068">
                <a:tc>
                  <a:txBody>
                    <a:bodyPr/>
                    <a:lstStyle/>
                    <a:p>
                      <a:pPr marL="342900" indent="-342900" algn="l" fontAlgn="ctr">
                        <a:buFont typeface="Arial" panose="020B0604020202020204" pitchFamily="34" charset="0"/>
                        <a:buChar char="•"/>
                      </a:pPr>
                      <a:r>
                        <a:rPr lang="en-GB" sz="1700" b="1" u="none" strike="noStrike" dirty="0">
                          <a:effectLst/>
                        </a:rPr>
                        <a:t>secondly</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structuring/ordering</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330068">
                <a:tc>
                  <a:txBody>
                    <a:bodyPr/>
                    <a:lstStyle/>
                    <a:p>
                      <a:pPr marL="342900" indent="-342900" algn="l" fontAlgn="ctr">
                        <a:buFont typeface="Arial" panose="020B0604020202020204" pitchFamily="34" charset="0"/>
                        <a:buChar char="•"/>
                      </a:pPr>
                      <a:r>
                        <a:rPr lang="en-GB" sz="1700" b="1" u="none" strike="noStrike" dirty="0">
                          <a:effectLst/>
                        </a:rPr>
                        <a:t>therefore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GB" sz="1700" b="1" u="none" strike="noStrike" dirty="0">
                          <a:effectLst/>
                        </a:rPr>
                        <a:t>  logical consequence</a:t>
                      </a:r>
                      <a:endParaRPr lang="en-GB" sz="1700" b="1" i="0" u="none" strike="noStrike" dirty="0">
                        <a:solidFill>
                          <a:srgbClr val="000000"/>
                        </a:solidFill>
                        <a:effectLst/>
                        <a:latin typeface="Calibri" panose="020F0502020204030204" pitchFamily="34" charset="0"/>
                      </a:endParaRPr>
                    </a:p>
                  </a:txBody>
                  <a:tcPr marL="3548" marR="3548" marT="354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bl>
          </a:graphicData>
        </a:graphic>
      </p:graphicFrame>
      <p:sp>
        <p:nvSpPr>
          <p:cNvPr id="8" name="Rectangle 7"/>
          <p:cNvSpPr/>
          <p:nvPr/>
        </p:nvSpPr>
        <p:spPr>
          <a:xfrm>
            <a:off x="4152900" y="1164633"/>
            <a:ext cx="975380" cy="295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GB" sz="1350" b="1" dirty="0">
                <a:solidFill>
                  <a:prstClr val="white"/>
                </a:solidFill>
                <a:effectLst>
                  <a:outerShdw blurRad="38100" dist="38100" dir="2700000" algn="tl">
                    <a:srgbClr val="000000">
                      <a:alpha val="43137"/>
                    </a:srgbClr>
                  </a:outerShdw>
                </a:effectLst>
                <a:latin typeface="Calibri" panose="020F0502020204030204"/>
              </a:rPr>
              <a:t>Functions</a:t>
            </a:r>
          </a:p>
        </p:txBody>
      </p:sp>
      <p:sp>
        <p:nvSpPr>
          <p:cNvPr id="9" name="Rectangle 8"/>
          <p:cNvSpPr/>
          <p:nvPr/>
        </p:nvSpPr>
        <p:spPr>
          <a:xfrm rot="16200000">
            <a:off x="1236335" y="2946309"/>
            <a:ext cx="975380" cy="295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GB" sz="1350" b="1" dirty="0">
                <a:solidFill>
                  <a:prstClr val="white"/>
                </a:solidFill>
                <a:effectLst>
                  <a:outerShdw blurRad="38100" dist="38100" dir="2700000" algn="tl">
                    <a:srgbClr val="000000">
                      <a:alpha val="43137"/>
                    </a:srgbClr>
                  </a:outerShdw>
                </a:effectLst>
                <a:latin typeface="Calibri" panose="020F0502020204030204"/>
              </a:rPr>
              <a:t>Phrases</a:t>
            </a:r>
          </a:p>
        </p:txBody>
      </p:sp>
      <p:sp>
        <p:nvSpPr>
          <p:cNvPr id="10" name="TextBox 9"/>
          <p:cNvSpPr txBox="1"/>
          <p:nvPr/>
        </p:nvSpPr>
        <p:spPr>
          <a:xfrm>
            <a:off x="7896201" y="3923156"/>
            <a:ext cx="1838325" cy="1569660"/>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defTabSz="685800"/>
            <a:r>
              <a:rPr lang="en-GB" sz="2400" b="1" dirty="0">
                <a:solidFill>
                  <a:prstClr val="black"/>
                </a:solidFill>
                <a:latin typeface="Calibri" panose="020F0502020204030204"/>
              </a:rPr>
              <a:t>Match the phrases to the functions.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76191" y="1449995"/>
            <a:ext cx="3044409" cy="2032348"/>
          </a:xfrm>
          <a:prstGeom prst="rect">
            <a:avLst/>
          </a:prstGeom>
        </p:spPr>
      </p:pic>
      <p:sp>
        <p:nvSpPr>
          <p:cNvPr id="7" name="Rectangle 6"/>
          <p:cNvSpPr/>
          <p:nvPr/>
        </p:nvSpPr>
        <p:spPr>
          <a:xfrm>
            <a:off x="1561901" y="147755"/>
            <a:ext cx="9144000" cy="576064"/>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GB" sz="3600" b="1" dirty="0">
                <a:solidFill>
                  <a:srgbClr val="00B0F0"/>
                </a:solidFill>
                <a:latin typeface="Calibri" panose="020F0502020204030204"/>
              </a:rPr>
              <a:t>Signposting</a:t>
            </a:r>
          </a:p>
        </p:txBody>
      </p:sp>
    </p:spTree>
    <p:extLst>
      <p:ext uri="{BB962C8B-B14F-4D97-AF65-F5344CB8AC3E}">
        <p14:creationId xmlns:p14="http://schemas.microsoft.com/office/powerpoint/2010/main" val="2936738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B71F80-1F92-4074-84D9-16A062B21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EA8B6B-9364-403D-A42B-061B3E3C31DE}"/>
              </a:ext>
            </a:extLst>
          </p:cNvPr>
          <p:cNvSpPr>
            <a:spLocks noGrp="1"/>
          </p:cNvSpPr>
          <p:nvPr>
            <p:ph type="title"/>
          </p:nvPr>
        </p:nvSpPr>
        <p:spPr>
          <a:xfrm>
            <a:off x="1286933" y="609600"/>
            <a:ext cx="10197494" cy="1099457"/>
          </a:xfrm>
        </p:spPr>
        <p:txBody>
          <a:bodyPr>
            <a:normAutofit/>
          </a:bodyPr>
          <a:lstStyle/>
          <a:p>
            <a:pPr>
              <a:lnSpc>
                <a:spcPct val="90000"/>
              </a:lnSpc>
            </a:pPr>
            <a:br>
              <a:rPr lang="en-US" sz="2300"/>
            </a:br>
            <a:r>
              <a:rPr lang="en-US" sz="2300"/>
              <a:t>Using the Manchester </a:t>
            </a:r>
            <a:r>
              <a:rPr lang="en-US" sz="2300" err="1"/>
              <a:t>Phrasebank</a:t>
            </a:r>
            <a:br>
              <a:rPr lang="en-US" sz="2300"/>
            </a:br>
            <a:endParaRPr lang="en-GB" sz="2300"/>
          </a:p>
        </p:txBody>
      </p:sp>
      <p:sp>
        <p:nvSpPr>
          <p:cNvPr id="11" name="Isosceles Triangle 10">
            <a:extLst>
              <a:ext uri="{FF2B5EF4-FFF2-40B4-BE49-F238E27FC236}">
                <a16:creationId xmlns:a16="http://schemas.microsoft.com/office/drawing/2014/main" id="{7209C9DA-6E0D-46D9-8275-C52222D8C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Isosceles Triangle 12">
            <a:extLst>
              <a:ext uri="{FF2B5EF4-FFF2-40B4-BE49-F238E27FC236}">
                <a16:creationId xmlns:a16="http://schemas.microsoft.com/office/drawing/2014/main" id="{3EB57A4D-E0D0-46DA-B339-F24CA46FA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0D8FA6FD-89E9-270B-EBE8-94A037ED67C1}"/>
              </a:ext>
            </a:extLst>
          </p:cNvPr>
          <p:cNvGraphicFramePr>
            <a:graphicFrameLocks noGrp="1"/>
          </p:cNvGraphicFramePr>
          <p:nvPr>
            <p:ph idx="1"/>
            <p:extLst>
              <p:ext uri="{D42A27DB-BD31-4B8C-83A1-F6EECF244321}">
                <p14:modId xmlns:p14="http://schemas.microsoft.com/office/powerpoint/2010/main" val="4090628155"/>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9210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802" y="71919"/>
            <a:ext cx="8124620" cy="1397424"/>
          </a:xfrm>
        </p:spPr>
        <p:txBody>
          <a:bodyPr>
            <a:noAutofit/>
          </a:bodyPr>
          <a:lstStyle/>
          <a:p>
            <a:pPr algn="ctr"/>
            <a:r>
              <a:rPr lang="en-GB" sz="2800" dirty="0">
                <a:solidFill>
                  <a:schemeClr val="tx1"/>
                </a:solidFill>
              </a:rPr>
              <a:t>Some useful phrases for Literature Reviews</a:t>
            </a:r>
            <a:br>
              <a:rPr lang="en-GB" sz="2800" dirty="0">
                <a:solidFill>
                  <a:schemeClr val="tx1"/>
                </a:solidFill>
              </a:rPr>
            </a:br>
            <a:r>
              <a:rPr lang="en-GB" sz="2800" dirty="0">
                <a:solidFill>
                  <a:schemeClr val="tx1"/>
                </a:solidFill>
              </a:rPr>
              <a:t>From the Manchester </a:t>
            </a:r>
            <a:r>
              <a:rPr lang="en-GB" sz="2800" dirty="0" err="1">
                <a:solidFill>
                  <a:schemeClr val="tx1"/>
                </a:solidFill>
              </a:rPr>
              <a:t>Phrasebank</a:t>
            </a:r>
            <a:r>
              <a:rPr lang="en-GB" sz="2800" dirty="0">
                <a:solidFill>
                  <a:schemeClr val="tx1"/>
                </a:solidFill>
              </a:rPr>
              <a:t>*</a:t>
            </a:r>
          </a:p>
        </p:txBody>
      </p:sp>
      <p:sp>
        <p:nvSpPr>
          <p:cNvPr id="11" name="Rectangle 10"/>
          <p:cNvSpPr/>
          <p:nvPr/>
        </p:nvSpPr>
        <p:spPr>
          <a:xfrm>
            <a:off x="1043492" y="1619705"/>
            <a:ext cx="4701831" cy="4293483"/>
          </a:xfrm>
          <a:prstGeom prst="rect">
            <a:avLst/>
          </a:prstGeom>
          <a:solidFill>
            <a:srgbClr val="FCEEE4"/>
          </a:solidFill>
        </p:spPr>
        <p:style>
          <a:lnRef idx="2">
            <a:schemeClr val="dk1"/>
          </a:lnRef>
          <a:fillRef idx="1">
            <a:schemeClr val="lt1"/>
          </a:fillRef>
          <a:effectRef idx="0">
            <a:schemeClr val="dk1"/>
          </a:effectRef>
          <a:fontRef idx="minor">
            <a:schemeClr val="dk1"/>
          </a:fontRef>
        </p:style>
        <p:txBody>
          <a:bodyPr wrap="square">
            <a:spAutoFit/>
          </a:bodyPr>
          <a:lstStyle/>
          <a:p>
            <a:pPr marL="285750" indent="-285750">
              <a:lnSpc>
                <a:spcPct val="150000"/>
              </a:lnSpc>
              <a:buFont typeface="Arial" panose="020B0604020202020204" pitchFamily="34" charset="0"/>
              <a:buChar char="•"/>
            </a:pPr>
            <a:r>
              <a:rPr lang="en-GB" sz="1400" b="1" dirty="0"/>
              <a:t>The existing body of research on X suggests that … </a:t>
            </a:r>
          </a:p>
          <a:p>
            <a:pPr marL="285750" indent="-285750">
              <a:lnSpc>
                <a:spcPct val="150000"/>
              </a:lnSpc>
              <a:buFont typeface="Arial" panose="020B0604020202020204" pitchFamily="34" charset="0"/>
              <a:buChar char="•"/>
            </a:pPr>
            <a:r>
              <a:rPr lang="en-GB" sz="1400" b="1" dirty="0"/>
              <a:t>Recent evidence suggests that …</a:t>
            </a:r>
          </a:p>
          <a:p>
            <a:pPr marL="285750" indent="-285750">
              <a:lnSpc>
                <a:spcPct val="150000"/>
              </a:lnSpc>
              <a:buFont typeface="Arial" panose="020B0604020202020204" pitchFamily="34" charset="0"/>
              <a:buChar char="•"/>
            </a:pPr>
            <a:r>
              <a:rPr lang="en-GB" sz="1400" b="1" dirty="0"/>
              <a:t>It has previously been observed that …</a:t>
            </a:r>
          </a:p>
          <a:p>
            <a:pPr marL="285750" indent="-285750">
              <a:lnSpc>
                <a:spcPct val="150000"/>
              </a:lnSpc>
              <a:buFont typeface="Arial" panose="020B0604020202020204" pitchFamily="34" charset="0"/>
              <a:buChar char="•"/>
            </a:pPr>
            <a:r>
              <a:rPr lang="en-GB" sz="1400" b="1" dirty="0"/>
              <a:t>Previous research has established that …</a:t>
            </a:r>
          </a:p>
          <a:p>
            <a:pPr marL="285750" indent="-285750">
              <a:lnSpc>
                <a:spcPct val="150000"/>
              </a:lnSpc>
              <a:buFont typeface="Arial" panose="020B0604020202020204" pitchFamily="34" charset="0"/>
              <a:buChar char="•"/>
            </a:pPr>
            <a:r>
              <a:rPr lang="en-GB" sz="1400" b="1" dirty="0"/>
              <a:t>Data from several studies suggest that …</a:t>
            </a:r>
          </a:p>
          <a:p>
            <a:pPr marL="285750" indent="-285750">
              <a:lnSpc>
                <a:spcPct val="150000"/>
              </a:lnSpc>
              <a:buFont typeface="Arial" panose="020B0604020202020204" pitchFamily="34" charset="0"/>
              <a:buChar char="•"/>
            </a:pPr>
            <a:r>
              <a:rPr lang="en-GB" sz="1400" b="1" dirty="0"/>
              <a:t>Recently investigators have examined the effects of X on Y.</a:t>
            </a:r>
          </a:p>
          <a:p>
            <a:pPr marL="285750" indent="-285750">
              <a:lnSpc>
                <a:spcPct val="150000"/>
              </a:lnSpc>
              <a:buFont typeface="Arial" panose="020B0604020202020204" pitchFamily="34" charset="0"/>
              <a:buChar char="•"/>
            </a:pPr>
            <a:r>
              <a:rPr lang="en-GB" sz="1400" b="1" dirty="0"/>
              <a:t>Surveys such as that conducted by Smith (1988) have shown that …</a:t>
            </a:r>
          </a:p>
          <a:p>
            <a:pPr marL="285750" indent="-285750">
              <a:lnSpc>
                <a:spcPct val="150000"/>
              </a:lnSpc>
              <a:buFont typeface="Arial" panose="020B0604020202020204" pitchFamily="34" charset="0"/>
              <a:buChar char="•"/>
            </a:pPr>
            <a:r>
              <a:rPr lang="en-GB" sz="1400" b="1" dirty="0"/>
              <a:t>Studies over the past two decades have provided important information on …</a:t>
            </a:r>
          </a:p>
          <a:p>
            <a:pPr marL="285750" indent="-285750">
              <a:lnSpc>
                <a:spcPct val="150000"/>
              </a:lnSpc>
              <a:buFont typeface="Arial" panose="020B0604020202020204" pitchFamily="34" charset="0"/>
              <a:buChar char="•"/>
            </a:pPr>
            <a:r>
              <a:rPr lang="en-GB" sz="1400" b="1" dirty="0"/>
              <a:t>A considerable amount of literature has been published on X. These studies …</a:t>
            </a:r>
          </a:p>
        </p:txBody>
      </p:sp>
      <p:sp>
        <p:nvSpPr>
          <p:cNvPr id="13" name="TextBox 12"/>
          <p:cNvSpPr txBox="1"/>
          <p:nvPr/>
        </p:nvSpPr>
        <p:spPr>
          <a:xfrm>
            <a:off x="1043492" y="1250373"/>
            <a:ext cx="4701831" cy="369332"/>
          </a:xfrm>
          <a:prstGeom prst="rect">
            <a:avLst/>
          </a:prstGeom>
          <a:solidFill>
            <a:srgbClr val="FFC000"/>
          </a:solidFill>
        </p:spPr>
        <p:style>
          <a:lnRef idx="0">
            <a:schemeClr val="accent5"/>
          </a:lnRef>
          <a:fillRef idx="3">
            <a:schemeClr val="accent5"/>
          </a:fillRef>
          <a:effectRef idx="3">
            <a:schemeClr val="accent5"/>
          </a:effectRef>
          <a:fontRef idx="minor">
            <a:schemeClr val="lt1"/>
          </a:fontRef>
        </p:style>
        <p:txBody>
          <a:bodyPr wrap="square" rtlCol="0" anchor="ctr">
            <a:spAutoFit/>
          </a:bodyPr>
          <a:lstStyle/>
          <a:p>
            <a:pPr algn="ctr" defTabSz="685800"/>
            <a:r>
              <a:rPr lang="en-GB" b="1" dirty="0">
                <a:solidFill>
                  <a:schemeClr val="tx1"/>
                </a:solidFill>
              </a:rPr>
              <a:t>Providing the context</a:t>
            </a:r>
            <a:endParaRPr lang="en-GB" b="1" dirty="0">
              <a:solidFill>
                <a:schemeClr val="tx1"/>
              </a:solidFill>
              <a:effectLst>
                <a:outerShdw blurRad="38100" dist="38100" dir="2700000" algn="tl">
                  <a:srgbClr val="000000">
                    <a:alpha val="43137"/>
                  </a:srgbClr>
                </a:outerShdw>
              </a:effectLst>
              <a:cs typeface="Arial" panose="020B0604020202020204" pitchFamily="34" charset="0"/>
            </a:endParaRPr>
          </a:p>
        </p:txBody>
      </p:sp>
      <p:sp>
        <p:nvSpPr>
          <p:cNvPr id="16" name="TextBox 15"/>
          <p:cNvSpPr txBox="1"/>
          <p:nvPr/>
        </p:nvSpPr>
        <p:spPr>
          <a:xfrm>
            <a:off x="6357300" y="4254302"/>
            <a:ext cx="5185868" cy="338554"/>
          </a:xfrm>
          <a:prstGeom prst="rect">
            <a:avLst/>
          </a:prstGeom>
          <a:solidFill>
            <a:srgbClr val="FFC000"/>
          </a:solidFill>
        </p:spPr>
        <p:style>
          <a:lnRef idx="0">
            <a:schemeClr val="accent5"/>
          </a:lnRef>
          <a:fillRef idx="3">
            <a:schemeClr val="accent5"/>
          </a:fillRef>
          <a:effectRef idx="3">
            <a:schemeClr val="accent5"/>
          </a:effectRef>
          <a:fontRef idx="minor">
            <a:schemeClr val="lt1"/>
          </a:fontRef>
        </p:style>
        <p:txBody>
          <a:bodyPr wrap="square" rtlCol="0" anchor="ctr">
            <a:spAutoFit/>
          </a:bodyPr>
          <a:lstStyle/>
          <a:p>
            <a:pPr algn="ctr" defTabSz="685800"/>
            <a:r>
              <a:rPr lang="en-GB" sz="1600" b="1" dirty="0">
                <a:solidFill>
                  <a:schemeClr val="tx1"/>
                </a:solidFill>
                <a:effectLst>
                  <a:outerShdw blurRad="38100" dist="38100" dir="2700000" algn="tl">
                    <a:srgbClr val="000000">
                      <a:alpha val="43137"/>
                    </a:srgbClr>
                  </a:outerShdw>
                </a:effectLst>
                <a:cs typeface="Arial" panose="020B0604020202020204" pitchFamily="34" charset="0"/>
              </a:rPr>
              <a:t>Emphasizing the significance of your project</a:t>
            </a:r>
          </a:p>
        </p:txBody>
      </p:sp>
      <p:sp>
        <p:nvSpPr>
          <p:cNvPr id="17" name="Rectangle 16"/>
          <p:cNvSpPr/>
          <p:nvPr/>
        </p:nvSpPr>
        <p:spPr>
          <a:xfrm>
            <a:off x="6357300" y="4592856"/>
            <a:ext cx="5185868" cy="2031325"/>
          </a:xfrm>
          <a:prstGeom prst="rect">
            <a:avLst/>
          </a:prstGeom>
          <a:solidFill>
            <a:srgbClr val="FCEEE4"/>
          </a:solidFill>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en-GB" sz="1400" b="1" dirty="0"/>
              <a:t>This project provides new insights into …</a:t>
            </a:r>
          </a:p>
          <a:p>
            <a:pPr marL="285750" indent="-285750">
              <a:buFont typeface="Arial" panose="020B0604020202020204" pitchFamily="34" charset="0"/>
              <a:buChar char="•"/>
            </a:pPr>
            <a:r>
              <a:rPr lang="en-GB" sz="1400" b="1" dirty="0"/>
              <a:t>The present study fills a gap in the area of…</a:t>
            </a:r>
          </a:p>
          <a:p>
            <a:pPr marL="285750" indent="-285750">
              <a:buFont typeface="Arial" panose="020B0604020202020204" pitchFamily="34" charset="0"/>
              <a:buChar char="•"/>
            </a:pPr>
            <a:r>
              <a:rPr lang="en-GB" sz="1400" b="1" dirty="0"/>
              <a:t>This investigation will enhance our understanding of …</a:t>
            </a:r>
          </a:p>
          <a:p>
            <a:pPr marL="285750" indent="-285750">
              <a:buFont typeface="Arial" panose="020B0604020202020204" pitchFamily="34" charset="0"/>
              <a:buChar char="•"/>
            </a:pPr>
            <a:r>
              <a:rPr lang="en-GB" sz="1400" b="1" dirty="0"/>
              <a:t>There are several important areas where this study makes an original contribution to …</a:t>
            </a:r>
          </a:p>
          <a:p>
            <a:pPr marL="285750" indent="-285750">
              <a:buFont typeface="Arial" panose="020B0604020202020204" pitchFamily="34" charset="0"/>
              <a:buChar char="•"/>
            </a:pPr>
            <a:r>
              <a:rPr lang="en-GB" sz="1400" b="1" dirty="0"/>
              <a:t>The findings should make an important contribution to the field of ….</a:t>
            </a:r>
          </a:p>
          <a:p>
            <a:pPr marL="285750" indent="-285750">
              <a:buFont typeface="Arial" panose="020B0604020202020204" pitchFamily="34" charset="0"/>
              <a:buChar char="•"/>
            </a:pPr>
            <a:r>
              <a:rPr lang="en-GB" sz="1400" b="1" dirty="0"/>
              <a:t>Therefore, this study makes a major contribution to research on X by demonstrating …</a:t>
            </a:r>
            <a:endParaRPr lang="en-GB" sz="1400" b="1" dirty="0">
              <a:solidFill>
                <a:prstClr val="black"/>
              </a:solidFill>
              <a:latin typeface="Calibri" panose="020F0502020204030204"/>
            </a:endParaRPr>
          </a:p>
        </p:txBody>
      </p:sp>
      <p:sp>
        <p:nvSpPr>
          <p:cNvPr id="19" name="TextBox 18"/>
          <p:cNvSpPr txBox="1"/>
          <p:nvPr/>
        </p:nvSpPr>
        <p:spPr>
          <a:xfrm>
            <a:off x="6357300" y="1180814"/>
            <a:ext cx="5185868" cy="338554"/>
          </a:xfrm>
          <a:prstGeom prst="rect">
            <a:avLst/>
          </a:prstGeom>
          <a:solidFill>
            <a:srgbClr val="FFC000"/>
          </a:solidFill>
        </p:spPr>
        <p:style>
          <a:lnRef idx="0">
            <a:schemeClr val="accent5"/>
          </a:lnRef>
          <a:fillRef idx="3">
            <a:schemeClr val="accent5"/>
          </a:fillRef>
          <a:effectRef idx="3">
            <a:schemeClr val="accent5"/>
          </a:effectRef>
          <a:fontRef idx="minor">
            <a:schemeClr val="lt1"/>
          </a:fontRef>
        </p:style>
        <p:txBody>
          <a:bodyPr wrap="square" rtlCol="0" anchor="ctr">
            <a:spAutoFit/>
          </a:bodyPr>
          <a:lstStyle/>
          <a:p>
            <a:pPr algn="ctr" defTabSz="685800"/>
            <a:r>
              <a:rPr lang="en-GB" sz="1600" b="1" dirty="0">
                <a:solidFill>
                  <a:schemeClr val="tx1"/>
                </a:solidFill>
                <a:effectLst>
                  <a:outerShdw blurRad="38100" dist="38100" dir="2700000" algn="tl">
                    <a:srgbClr val="000000">
                      <a:alpha val="43137"/>
                    </a:srgbClr>
                  </a:outerShdw>
                </a:effectLst>
                <a:cs typeface="Arial" panose="020B0604020202020204" pitchFamily="34" charset="0"/>
              </a:rPr>
              <a:t>Showing gaps or limitations of previous research</a:t>
            </a:r>
          </a:p>
        </p:txBody>
      </p:sp>
      <p:sp>
        <p:nvSpPr>
          <p:cNvPr id="20" name="Rectangle 19"/>
          <p:cNvSpPr/>
          <p:nvPr/>
        </p:nvSpPr>
        <p:spPr>
          <a:xfrm>
            <a:off x="6357300" y="1526892"/>
            <a:ext cx="5185868" cy="2646878"/>
          </a:xfrm>
          <a:prstGeom prst="rect">
            <a:avLst/>
          </a:prstGeom>
          <a:solidFill>
            <a:srgbClr val="FCEEE4"/>
          </a:solidFill>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Arial" panose="020B0604020202020204" pitchFamily="34" charset="0"/>
              <a:buChar char="•"/>
            </a:pPr>
            <a:r>
              <a:rPr lang="en-GB" sz="1400" b="1" dirty="0"/>
              <a:t>Previous studies of X have not dealt with …</a:t>
            </a:r>
          </a:p>
          <a:p>
            <a:pPr marL="285750" indent="-285750">
              <a:buFont typeface="Arial" panose="020B0604020202020204" pitchFamily="34" charset="0"/>
              <a:buChar char="•"/>
            </a:pPr>
            <a:r>
              <a:rPr lang="en-GB" sz="1400" b="1" dirty="0"/>
              <a:t>Researchers have not treated X in much detail.</a:t>
            </a:r>
          </a:p>
          <a:p>
            <a:pPr marL="285750" indent="-285750">
              <a:buFont typeface="Arial" panose="020B0604020202020204" pitchFamily="34" charset="0"/>
              <a:buChar char="•"/>
            </a:pPr>
            <a:r>
              <a:rPr lang="en-GB" sz="1400" b="1" dirty="0"/>
              <a:t>Such expositions are unsatisfactory because they …</a:t>
            </a:r>
          </a:p>
          <a:p>
            <a:pPr marL="285750" indent="-285750">
              <a:buFont typeface="Arial" panose="020B0604020202020204" pitchFamily="34" charset="0"/>
              <a:buChar char="•"/>
            </a:pPr>
            <a:r>
              <a:rPr lang="en-GB" sz="1400" b="1" dirty="0"/>
              <a:t>Most studies in the field of X have only focused on …</a:t>
            </a:r>
          </a:p>
          <a:p>
            <a:pPr marL="285750" indent="-285750">
              <a:buFont typeface="Arial" panose="020B0604020202020204" pitchFamily="34" charset="0"/>
              <a:buChar char="•"/>
            </a:pPr>
            <a:r>
              <a:rPr lang="en-GB" sz="1400" b="1" dirty="0"/>
              <a:t>Such approaches, however, have failed to address …</a:t>
            </a:r>
          </a:p>
          <a:p>
            <a:pPr marL="285750" indent="-285750">
              <a:buFont typeface="Arial" panose="020B0604020202020204" pitchFamily="34" charset="0"/>
              <a:buChar char="•"/>
            </a:pPr>
            <a:r>
              <a:rPr lang="en-GB" sz="1400" b="1" dirty="0"/>
              <a:t>Very little is known about X in … </a:t>
            </a:r>
          </a:p>
          <a:p>
            <a:pPr marL="285750" indent="-285750">
              <a:buFont typeface="Arial" panose="020B0604020202020204" pitchFamily="34" charset="0"/>
              <a:buChar char="•"/>
            </a:pPr>
            <a:r>
              <a:rPr lang="en-GB" sz="1400" b="1" dirty="0"/>
              <a:t>It is still not known whether …</a:t>
            </a:r>
          </a:p>
          <a:p>
            <a:pPr marL="285750" indent="-285750">
              <a:buFont typeface="Arial" panose="020B0604020202020204" pitchFamily="34" charset="0"/>
              <a:buChar char="•"/>
            </a:pPr>
            <a:r>
              <a:rPr lang="en-GB" sz="1400" b="1" dirty="0"/>
              <a:t>Apart from Smith (2014), there is a general lack of research in …</a:t>
            </a:r>
          </a:p>
          <a:p>
            <a:pPr marL="285750" indent="-285750">
              <a:buFont typeface="Arial" panose="020B0604020202020204" pitchFamily="34" charset="0"/>
              <a:buChar char="•"/>
            </a:pPr>
            <a:r>
              <a:rPr lang="en-GB" sz="1400" b="1" dirty="0"/>
              <a:t>To date, there are few studies that have investigated the association between …</a:t>
            </a:r>
          </a:p>
          <a:p>
            <a:pPr defTabSz="685800"/>
            <a:endParaRPr lang="en-GB" sz="1200" b="1" dirty="0">
              <a:solidFill>
                <a:prstClr val="black"/>
              </a:solidFill>
              <a:latin typeface="Calibri" panose="020F0502020204030204"/>
            </a:endParaRPr>
          </a:p>
        </p:txBody>
      </p:sp>
      <p:sp>
        <p:nvSpPr>
          <p:cNvPr id="21" name="Rectangle 20"/>
          <p:cNvSpPr/>
          <p:nvPr/>
        </p:nvSpPr>
        <p:spPr>
          <a:xfrm>
            <a:off x="948179" y="6251742"/>
            <a:ext cx="6229825" cy="276999"/>
          </a:xfrm>
          <a:prstGeom prst="rect">
            <a:avLst/>
          </a:prstGeom>
        </p:spPr>
        <p:txBody>
          <a:bodyPr wrap="square">
            <a:spAutoFit/>
          </a:bodyPr>
          <a:lstStyle/>
          <a:p>
            <a:r>
              <a:rPr lang="en-GB" sz="1200" dirty="0">
                <a:solidFill>
                  <a:srgbClr val="000000"/>
                </a:solidFill>
              </a:rPr>
              <a:t>*Adapted from http://www.phrasebank.manchester.ac.uk/</a:t>
            </a:r>
          </a:p>
        </p:txBody>
      </p:sp>
    </p:spTree>
    <p:extLst>
      <p:ext uri="{BB962C8B-B14F-4D97-AF65-F5344CB8AC3E}">
        <p14:creationId xmlns:p14="http://schemas.microsoft.com/office/powerpoint/2010/main" val="1474126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Use of language: </a:t>
            </a:r>
            <a:r>
              <a:rPr lang="en-GB" b="1" dirty="0">
                <a:solidFill>
                  <a:schemeClr val="accent1"/>
                </a:solidFill>
              </a:rPr>
              <a:t>Providing the context</a:t>
            </a:r>
            <a:br>
              <a:rPr lang="en-GB" dirty="0"/>
            </a:br>
            <a:endParaRPr lang="en-GB" dirty="0"/>
          </a:p>
        </p:txBody>
      </p:sp>
      <p:sp>
        <p:nvSpPr>
          <p:cNvPr id="3" name="Content Placeholder 2"/>
          <p:cNvSpPr>
            <a:spLocks noGrp="1"/>
          </p:cNvSpPr>
          <p:nvPr>
            <p:ph idx="1"/>
          </p:nvPr>
        </p:nvSpPr>
        <p:spPr>
          <a:xfrm>
            <a:off x="2254928" y="1509203"/>
            <a:ext cx="10626571" cy="3444537"/>
          </a:xfrm>
        </p:spPr>
        <p:txBody>
          <a:bodyPr>
            <a:noAutofit/>
          </a:bodyPr>
          <a:lstStyle/>
          <a:p>
            <a:pPr marL="0" indent="0">
              <a:lnSpc>
                <a:spcPct val="150000"/>
              </a:lnSpc>
              <a:buNone/>
            </a:pPr>
            <a:r>
              <a:rPr lang="en-GB" dirty="0"/>
              <a:t>Recent evidence suggests that …</a:t>
            </a:r>
            <a:br>
              <a:rPr lang="en-GB" dirty="0"/>
            </a:br>
            <a:r>
              <a:rPr lang="en-GB" dirty="0"/>
              <a:t>It has previously been observed that …</a:t>
            </a:r>
            <a:br>
              <a:rPr lang="en-GB" dirty="0"/>
            </a:br>
            <a:r>
              <a:rPr lang="en-GB" dirty="0"/>
              <a:t>Previous research has established that …</a:t>
            </a:r>
            <a:br>
              <a:rPr lang="en-GB" dirty="0"/>
            </a:br>
            <a:r>
              <a:rPr lang="en-GB" dirty="0"/>
              <a:t>Data from several studies suggest that …</a:t>
            </a:r>
            <a:br>
              <a:rPr lang="en-GB" dirty="0"/>
            </a:br>
            <a:r>
              <a:rPr lang="en-GB" dirty="0"/>
              <a:t>The existing body of research on X suggests that …</a:t>
            </a:r>
            <a:br>
              <a:rPr lang="en-GB" dirty="0"/>
            </a:br>
            <a:r>
              <a:rPr lang="en-GB" dirty="0"/>
              <a:t>It is now well established from a variety of studies, that …</a:t>
            </a:r>
            <a:br>
              <a:rPr lang="en-GB" dirty="0"/>
            </a:br>
            <a:r>
              <a:rPr lang="en-GB" dirty="0"/>
              <a:t>Recently investigators have examined the effects of X on Y.</a:t>
            </a:r>
            <a:br>
              <a:rPr lang="en-GB" dirty="0"/>
            </a:br>
            <a:r>
              <a:rPr lang="en-GB" dirty="0"/>
              <a:t>Surveys such as that conducted by Smith (1988) have shown that …</a:t>
            </a:r>
            <a:br>
              <a:rPr lang="en-GB" dirty="0"/>
            </a:br>
            <a:r>
              <a:rPr lang="en-GB" dirty="0"/>
              <a:t>Studies over the past two decades have provided important information on …</a:t>
            </a:r>
            <a:br>
              <a:rPr lang="en-GB" dirty="0"/>
            </a:br>
            <a:r>
              <a:rPr lang="en-GB" dirty="0"/>
              <a:t>A considerable amount of literature has been published on X. These studies …</a:t>
            </a:r>
          </a:p>
        </p:txBody>
      </p:sp>
      <p:sp>
        <p:nvSpPr>
          <p:cNvPr id="4" name="TextBox 3"/>
          <p:cNvSpPr txBox="1"/>
          <p:nvPr/>
        </p:nvSpPr>
        <p:spPr>
          <a:xfrm>
            <a:off x="1695635" y="6161103"/>
            <a:ext cx="8149701" cy="646331"/>
          </a:xfrm>
          <a:prstGeom prst="rect">
            <a:avLst/>
          </a:prstGeom>
          <a:noFill/>
        </p:spPr>
        <p:txBody>
          <a:bodyPr wrap="square" rtlCol="0">
            <a:spAutoFit/>
          </a:bodyPr>
          <a:lstStyle/>
          <a:p>
            <a:r>
              <a:rPr lang="en-GB" dirty="0">
                <a:hlinkClick r:id="rId2"/>
              </a:rPr>
              <a:t>http://www.phrasebank.manchester.ac.uk/</a:t>
            </a:r>
            <a:endParaRPr lang="en-GB" dirty="0"/>
          </a:p>
          <a:p>
            <a:endParaRPr lang="en-GB" dirty="0"/>
          </a:p>
        </p:txBody>
      </p:sp>
    </p:spTree>
    <p:extLst>
      <p:ext uri="{BB962C8B-B14F-4D97-AF65-F5344CB8AC3E}">
        <p14:creationId xmlns:p14="http://schemas.microsoft.com/office/powerpoint/2010/main" val="3381612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 of language: </a:t>
            </a:r>
            <a:r>
              <a:rPr lang="en-GB" b="1" dirty="0">
                <a:solidFill>
                  <a:schemeClr val="accent1"/>
                </a:solidFill>
              </a:rPr>
              <a:t>Emphasizing the significance of your work</a:t>
            </a:r>
            <a:endParaRPr lang="en-GB" b="1" dirty="0"/>
          </a:p>
        </p:txBody>
      </p:sp>
      <p:sp>
        <p:nvSpPr>
          <p:cNvPr id="3" name="Content Placeholder 2"/>
          <p:cNvSpPr>
            <a:spLocks noGrp="1"/>
          </p:cNvSpPr>
          <p:nvPr>
            <p:ph idx="1"/>
          </p:nvPr>
        </p:nvSpPr>
        <p:spPr>
          <a:xfrm>
            <a:off x="2263806" y="1905001"/>
            <a:ext cx="10110817" cy="4877538"/>
          </a:xfrm>
        </p:spPr>
        <p:txBody>
          <a:bodyPr>
            <a:normAutofit/>
          </a:bodyPr>
          <a:lstStyle/>
          <a:p>
            <a:pPr marL="0" indent="0">
              <a:lnSpc>
                <a:spcPct val="150000"/>
              </a:lnSpc>
              <a:buNone/>
            </a:pPr>
            <a:br>
              <a:rPr lang="en-GB" dirty="0"/>
            </a:br>
            <a:r>
              <a:rPr lang="en-GB" dirty="0"/>
              <a:t>This study provides new insights into …</a:t>
            </a:r>
            <a:br>
              <a:rPr lang="en-GB" dirty="0"/>
            </a:br>
            <a:r>
              <a:rPr lang="en-GB" dirty="0"/>
              <a:t>The study offers some important insights into …</a:t>
            </a:r>
            <a:br>
              <a:rPr lang="en-GB" dirty="0"/>
            </a:br>
            <a:r>
              <a:rPr lang="en-GB" dirty="0"/>
              <a:t>The present study fills a gap in the literature by …</a:t>
            </a:r>
            <a:br>
              <a:rPr lang="en-GB" dirty="0"/>
            </a:br>
            <a:r>
              <a:rPr lang="en-GB" dirty="0"/>
              <a:t>Understanding the link between X and Y will help …</a:t>
            </a:r>
            <a:br>
              <a:rPr lang="en-GB" dirty="0"/>
            </a:br>
            <a:r>
              <a:rPr lang="en-GB" dirty="0"/>
              <a:t>This investigation will enhance our understanding of …</a:t>
            </a:r>
            <a:br>
              <a:rPr lang="en-GB" dirty="0"/>
            </a:br>
            <a:r>
              <a:rPr lang="en-GB" dirty="0"/>
              <a:t>The findings should make an important contribution to the field of ….</a:t>
            </a:r>
            <a:br>
              <a:rPr lang="en-GB" dirty="0"/>
            </a:br>
            <a:r>
              <a:rPr lang="en-GB" dirty="0"/>
              <a:t>This study aims to contribute to this growing area of research by exploring …</a:t>
            </a:r>
            <a:br>
              <a:rPr lang="en-GB" dirty="0"/>
            </a:br>
            <a:r>
              <a:rPr lang="en-GB" dirty="0"/>
              <a:t>Therefore, this study makes a major contribution to research on X by demonstrating …</a:t>
            </a:r>
            <a:br>
              <a:rPr lang="en-GB" dirty="0"/>
            </a:br>
            <a:r>
              <a:rPr lang="en-GB" dirty="0"/>
              <a:t>There are several important areas where this study makes an original contribution to …</a:t>
            </a:r>
          </a:p>
        </p:txBody>
      </p:sp>
    </p:spTree>
    <p:extLst>
      <p:ext uri="{BB962C8B-B14F-4D97-AF65-F5344CB8AC3E}">
        <p14:creationId xmlns:p14="http://schemas.microsoft.com/office/powerpoint/2010/main" val="1914527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5430" y="629268"/>
            <a:ext cx="6586491" cy="1286160"/>
          </a:xfrm>
        </p:spPr>
        <p:txBody>
          <a:bodyPr anchor="b">
            <a:normAutofit fontScale="90000"/>
          </a:bodyPr>
          <a:lstStyle/>
          <a:p>
            <a:r>
              <a:rPr lang="en-GB" sz="4100" b="1" dirty="0"/>
              <a:t>Common problems with literature reviews:</a:t>
            </a:r>
          </a:p>
        </p:txBody>
      </p:sp>
      <p:sp>
        <p:nvSpPr>
          <p:cNvPr id="3" name="Content Placeholder 2"/>
          <p:cNvSpPr>
            <a:spLocks noGrp="1"/>
          </p:cNvSpPr>
          <p:nvPr>
            <p:ph idx="1"/>
          </p:nvPr>
        </p:nvSpPr>
        <p:spPr>
          <a:xfrm>
            <a:off x="4965431" y="2438400"/>
            <a:ext cx="6586489" cy="3785419"/>
          </a:xfrm>
        </p:spPr>
        <p:txBody>
          <a:bodyPr>
            <a:normAutofit/>
          </a:bodyPr>
          <a:lstStyle/>
          <a:p>
            <a:pPr marL="469900" indent="-469900"/>
            <a:r>
              <a:rPr lang="en-US" altLang="en-US" dirty="0"/>
              <a:t>Too vague and general (not specific enough to your specific research questions).</a:t>
            </a:r>
          </a:p>
          <a:p>
            <a:pPr marL="469900" indent="-469900"/>
            <a:r>
              <a:rPr lang="en-US" altLang="en-US" dirty="0"/>
              <a:t>Too few sources consulted and within a limited range.</a:t>
            </a:r>
          </a:p>
          <a:p>
            <a:pPr marL="469900" indent="-469900"/>
            <a:r>
              <a:rPr lang="en-US" altLang="en-US" dirty="0"/>
              <a:t>Use of sources that are not relevant to your specific enquiry.</a:t>
            </a:r>
          </a:p>
          <a:p>
            <a:pPr marL="469900" indent="-469900"/>
            <a:r>
              <a:rPr lang="en-US" altLang="en-US" dirty="0"/>
              <a:t>Lack of debate.</a:t>
            </a:r>
          </a:p>
          <a:p>
            <a:pPr marL="469900" indent="-469900"/>
            <a:r>
              <a:rPr lang="en-US" altLang="en-US" dirty="0"/>
              <a:t>Outdated sources.</a:t>
            </a:r>
          </a:p>
          <a:p>
            <a:pPr marL="0" indent="0">
              <a:buNone/>
            </a:pPr>
            <a:endParaRPr lang="en-GB" sz="2000" dirty="0"/>
          </a:p>
        </p:txBody>
      </p:sp>
      <p:sp>
        <p:nvSpPr>
          <p:cNvPr id="4" name="Footer Placeholder 3">
            <a:extLst>
              <a:ext uri="{FF2B5EF4-FFF2-40B4-BE49-F238E27FC236}">
                <a16:creationId xmlns:a16="http://schemas.microsoft.com/office/drawing/2014/main" id="{B34AD826-D283-4A07-AA74-80C731D55671}"/>
              </a:ext>
            </a:extLst>
          </p:cNvPr>
          <p:cNvSpPr>
            <a:spLocks noGrp="1"/>
          </p:cNvSpPr>
          <p:nvPr>
            <p:ph type="ftr" sz="quarter" idx="11"/>
          </p:nvPr>
        </p:nvSpPr>
        <p:spPr/>
        <p:txBody>
          <a:bodyPr/>
          <a:lstStyle/>
          <a:p>
            <a:r>
              <a:rPr lang="en-GB"/>
              <a:t>Academic Tutor: Zainab Nurji October 2021</a:t>
            </a:r>
          </a:p>
        </p:txBody>
      </p:sp>
      <p:pic>
        <p:nvPicPr>
          <p:cNvPr id="5" name="Picture 4">
            <a:extLst>
              <a:ext uri="{FF2B5EF4-FFF2-40B4-BE49-F238E27FC236}">
                <a16:creationId xmlns:a16="http://schemas.microsoft.com/office/drawing/2014/main" id="{378526F2-ED75-4CFD-8138-BA183D209030}"/>
              </a:ext>
            </a:extLst>
          </p:cNvPr>
          <p:cNvPicPr>
            <a:picLocks noChangeAspect="1"/>
          </p:cNvPicPr>
          <p:nvPr/>
        </p:nvPicPr>
        <p:blipFill rotWithShape="1">
          <a:blip r:embed="rId2"/>
          <a:srcRect l="44648" r="4656"/>
          <a:stretch/>
        </p:blipFill>
        <p:spPr>
          <a:xfrm>
            <a:off x="20" y="10"/>
            <a:ext cx="4635571" cy="6857990"/>
          </a:xfrm>
          <a:prstGeom prst="rect">
            <a:avLst/>
          </a:prstGeom>
          <a:effectLst/>
        </p:spPr>
      </p:pic>
    </p:spTree>
    <p:extLst>
      <p:ext uri="{BB962C8B-B14F-4D97-AF65-F5344CB8AC3E}">
        <p14:creationId xmlns:p14="http://schemas.microsoft.com/office/powerpoint/2010/main" val="298942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top view of books with different cover colours">
            <a:extLst>
              <a:ext uri="{FF2B5EF4-FFF2-40B4-BE49-F238E27FC236}">
                <a16:creationId xmlns:a16="http://schemas.microsoft.com/office/drawing/2014/main" id="{29B4527F-013C-8E91-AB88-A4A0A4C714BE}"/>
              </a:ext>
            </a:extLst>
          </p:cNvPr>
          <p:cNvPicPr>
            <a:picLocks noChangeAspect="1"/>
          </p:cNvPicPr>
          <p:nvPr/>
        </p:nvPicPr>
        <p:blipFill>
          <a:blip r:embed="rId2"/>
          <a:srcRect t="6716" r="-2" b="6715"/>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AF80CFFE-A501-2C37-6496-22826A5310CC}"/>
              </a:ext>
            </a:extLst>
          </p:cNvPr>
          <p:cNvSpPr>
            <a:spLocks noGrp="1"/>
          </p:cNvSpPr>
          <p:nvPr>
            <p:ph type="title"/>
          </p:nvPr>
        </p:nvSpPr>
        <p:spPr>
          <a:xfrm>
            <a:off x="677333" y="609600"/>
            <a:ext cx="3851123" cy="1320800"/>
          </a:xfrm>
        </p:spPr>
        <p:txBody>
          <a:bodyPr>
            <a:normAutofit/>
          </a:bodyPr>
          <a:lstStyle/>
          <a:p>
            <a:r>
              <a:rPr lang="en-GB" sz="3300" dirty="0"/>
              <a:t>An example </a:t>
            </a:r>
            <a:br>
              <a:rPr lang="en-GB" sz="3300" dirty="0"/>
            </a:br>
            <a:r>
              <a:rPr lang="en-GB" sz="3300" dirty="0"/>
              <a:t>Literature Review</a:t>
            </a:r>
          </a:p>
        </p:txBody>
      </p:sp>
      <p:sp>
        <p:nvSpPr>
          <p:cNvPr id="3" name="Content Placeholder 2">
            <a:extLst>
              <a:ext uri="{FF2B5EF4-FFF2-40B4-BE49-F238E27FC236}">
                <a16:creationId xmlns:a16="http://schemas.microsoft.com/office/drawing/2014/main" id="{11A1D89A-14EC-6594-1DD6-2503CC42191C}"/>
              </a:ext>
            </a:extLst>
          </p:cNvPr>
          <p:cNvSpPr>
            <a:spLocks noGrp="1"/>
          </p:cNvSpPr>
          <p:nvPr>
            <p:ph idx="1"/>
          </p:nvPr>
        </p:nvSpPr>
        <p:spPr>
          <a:xfrm>
            <a:off x="677334" y="2160589"/>
            <a:ext cx="3851122" cy="3880773"/>
          </a:xfrm>
        </p:spPr>
        <p:txBody>
          <a:bodyPr>
            <a:normAutofit/>
          </a:bodyPr>
          <a:lstStyle/>
          <a:p>
            <a:pPr marL="0" indent="0">
              <a:spcAft>
                <a:spcPts val="800"/>
              </a:spcAft>
              <a:buNone/>
            </a:pPr>
            <a:r>
              <a:rPr lang="en-GB" kern="100" dirty="0">
                <a:effectLst/>
                <a:latin typeface="Aptos" panose="020B0004020202020204" pitchFamily="34" charset="0"/>
                <a:ea typeface="Aptos" panose="020B0004020202020204" pitchFamily="34" charset="0"/>
                <a:cs typeface="Times New Roman" panose="02020603050405020304" pitchFamily="18" charset="0"/>
              </a:rPr>
              <a:t>The focus of a literature review,  is to summarize and synthesize the arguments and ideas of others without adding new contributions.</a:t>
            </a:r>
          </a:p>
          <a:p>
            <a:pPr marL="0" indent="0">
              <a:spcAft>
                <a:spcPts val="800"/>
              </a:spcAft>
              <a:buNone/>
            </a:pPr>
            <a:endParaRPr lang="en-GB" kern="100" dirty="0">
              <a:latin typeface="Aptos" panose="020B0004020202020204" pitchFamily="34" charset="0"/>
              <a:ea typeface="Aptos" panose="020B0004020202020204" pitchFamily="34" charset="0"/>
              <a:cs typeface="Times New Roman" panose="02020603050405020304" pitchFamily="18" charset="0"/>
            </a:endParaRPr>
          </a:p>
          <a:p>
            <a:pPr marL="0" indent="0">
              <a:spcAft>
                <a:spcPts val="800"/>
              </a:spcAft>
              <a:buNone/>
            </a:pPr>
            <a:r>
              <a:rPr lang="en-GB" kern="100" dirty="0">
                <a:latin typeface="Aptos" panose="020B0004020202020204" pitchFamily="34" charset="0"/>
                <a:ea typeface="Aptos" panose="020B0004020202020204" pitchFamily="34" charset="0"/>
                <a:cs typeface="Times New Roman" panose="02020603050405020304" pitchFamily="18" charset="0"/>
              </a:rPr>
              <a:t>Please read the example of a   Literature Review </a:t>
            </a:r>
            <a:r>
              <a:rPr lang="en-GB" kern="100" dirty="0">
                <a:effectLst/>
                <a:latin typeface="Aptos" panose="020B0004020202020204" pitchFamily="34" charset="0"/>
                <a:ea typeface="Aptos" panose="020B0004020202020204" pitchFamily="34" charset="0"/>
                <a:cs typeface="Times New Roman" panose="02020603050405020304" pitchFamily="18" charset="0"/>
              </a:rPr>
              <a:t> regarding women in STEM fields </a:t>
            </a:r>
          </a:p>
          <a:p>
            <a:pPr marL="0" indent="0">
              <a:spcAft>
                <a:spcPts val="800"/>
              </a:spcAft>
              <a:buNone/>
            </a:pP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endParaRPr lang="en-GB" kern="100" dirty="0">
              <a:latin typeface="Aptos" panose="020B0004020202020204" pitchFamily="34" charset="0"/>
              <a:ea typeface="Aptos" panose="020B0004020202020204" pitchFamily="34" charset="0"/>
              <a:cs typeface="Times New Roman" panose="02020603050405020304" pitchFamily="18" charset="0"/>
            </a:endParaRPr>
          </a:p>
          <a:p>
            <a:pPr>
              <a:spcAft>
                <a:spcPts val="800"/>
              </a:spcAft>
            </a:pP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pPr>
              <a:spcAft>
                <a:spcPts val="800"/>
              </a:spcAft>
            </a:pPr>
            <a:endParaRPr lang="en-GB" kern="100" dirty="0">
              <a:latin typeface="Aptos" panose="020B0004020202020204" pitchFamily="34" charset="0"/>
              <a:ea typeface="Aptos" panose="020B0004020202020204" pitchFamily="34" charset="0"/>
              <a:cs typeface="Times New Roman" panose="02020603050405020304" pitchFamily="18" charset="0"/>
            </a:endParaRPr>
          </a:p>
          <a:p>
            <a:pPr>
              <a:spcAft>
                <a:spcPts val="800"/>
              </a:spcAft>
            </a:pPr>
            <a:endParaRPr lang="en-GB"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cxnSp>
        <p:nvCxnSpPr>
          <p:cNvPr id="24" name="Straight Connector 2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892802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7655"/>
            <a:ext cx="8596668" cy="1772745"/>
          </a:xfrm>
        </p:spPr>
        <p:txBody>
          <a:bodyPr>
            <a:normAutofit/>
          </a:bodyPr>
          <a:lstStyle/>
          <a:p>
            <a:r>
              <a:rPr lang="en-GB" b="1" dirty="0"/>
              <a:t>Final advice</a:t>
            </a:r>
            <a:r>
              <a:rPr lang="en-GB" dirty="0"/>
              <a:t>	</a:t>
            </a:r>
          </a:p>
        </p:txBody>
      </p:sp>
      <p:sp>
        <p:nvSpPr>
          <p:cNvPr id="3" name="Content Placeholder 2"/>
          <p:cNvSpPr>
            <a:spLocks noGrp="1"/>
          </p:cNvSpPr>
          <p:nvPr>
            <p:ph idx="1"/>
          </p:nvPr>
        </p:nvSpPr>
        <p:spPr>
          <a:xfrm>
            <a:off x="677334" y="804041"/>
            <a:ext cx="10437356" cy="5896304"/>
          </a:xfrm>
        </p:spPr>
        <p:txBody>
          <a:bodyPr vert="horz" lIns="91440" tIns="45720" rIns="91440" bIns="45720" rtlCol="0" anchor="t">
            <a:normAutofit fontScale="92500" lnSpcReduction="20000"/>
          </a:bodyPr>
          <a:lstStyle/>
          <a:p>
            <a:pPr>
              <a:buFont typeface="Wingdings" panose="05000000000000000000" pitchFamily="2" charset="2"/>
              <a:buChar char="ü"/>
            </a:pPr>
            <a:r>
              <a:rPr lang="en-GB" sz="2800" dirty="0">
                <a:solidFill>
                  <a:srgbClr val="000000"/>
                </a:solidFill>
              </a:rPr>
              <a:t>Do as much reading as you can and early – and don’t leave writing until later, as the process will help cement your understanding of your topic.</a:t>
            </a:r>
          </a:p>
          <a:p>
            <a:pPr>
              <a:buFont typeface="Wingdings" panose="05000000000000000000" pitchFamily="2" charset="2"/>
              <a:buChar char="ü"/>
            </a:pPr>
            <a:endParaRPr lang="en-GB" sz="2800" dirty="0">
              <a:solidFill>
                <a:srgbClr val="000000"/>
              </a:solidFill>
            </a:endParaRPr>
          </a:p>
          <a:p>
            <a:pPr>
              <a:buFont typeface="Wingdings" panose="05000000000000000000" pitchFamily="2" charset="2"/>
              <a:buChar char="ü"/>
            </a:pPr>
            <a:r>
              <a:rPr lang="en-GB" sz="2800" dirty="0">
                <a:solidFill>
                  <a:srgbClr val="000000"/>
                </a:solidFill>
              </a:rPr>
              <a:t>Think about how your research fits into existing knowledge and research.</a:t>
            </a:r>
          </a:p>
          <a:p>
            <a:pPr>
              <a:buFont typeface="Wingdings" panose="05000000000000000000" pitchFamily="2" charset="2"/>
              <a:buChar char="ü"/>
            </a:pPr>
            <a:endParaRPr lang="en-GB" sz="2800" dirty="0">
              <a:solidFill>
                <a:srgbClr val="000000"/>
              </a:solidFill>
            </a:endParaRPr>
          </a:p>
          <a:p>
            <a:pPr>
              <a:buFont typeface="Wingdings" panose="05000000000000000000" pitchFamily="2" charset="2"/>
              <a:buChar char="ü"/>
            </a:pPr>
            <a:r>
              <a:rPr lang="en-GB" sz="2800" dirty="0">
                <a:solidFill>
                  <a:srgbClr val="000000"/>
                </a:solidFill>
              </a:rPr>
              <a:t>Synthesise, compare, contrast - don't just  write up your literature review in a list form - create a synthesis matrix and identify themes to organise the review.</a:t>
            </a:r>
          </a:p>
          <a:p>
            <a:pPr marL="0" indent="0">
              <a:buNone/>
            </a:pPr>
            <a:endParaRPr lang="en-GB" sz="2800" dirty="0">
              <a:solidFill>
                <a:srgbClr val="000000"/>
              </a:solidFill>
            </a:endParaRPr>
          </a:p>
          <a:p>
            <a:pPr>
              <a:buFont typeface="Wingdings" panose="05000000000000000000" pitchFamily="2" charset="2"/>
              <a:buChar char="ü"/>
            </a:pPr>
            <a:r>
              <a:rPr lang="en-GB" sz="2800" dirty="0">
                <a:solidFill>
                  <a:srgbClr val="000000"/>
                </a:solidFill>
              </a:rPr>
              <a:t>Make a plan of the review structure before you write, even if you change it later.</a:t>
            </a:r>
          </a:p>
          <a:p>
            <a:pPr marL="0" indent="0">
              <a:buNone/>
            </a:pPr>
            <a:endParaRPr lang="en-GB" sz="2800" dirty="0">
              <a:solidFill>
                <a:srgbClr val="000000"/>
              </a:solidFill>
            </a:endParaRPr>
          </a:p>
          <a:p>
            <a:pPr>
              <a:buFont typeface="Wingdings" panose="05000000000000000000" pitchFamily="2" charset="2"/>
              <a:buChar char="ü"/>
            </a:pPr>
            <a:r>
              <a:rPr lang="en-GB" sz="2800" dirty="0">
                <a:solidFill>
                  <a:srgbClr val="000000"/>
                </a:solidFill>
              </a:rPr>
              <a:t>Record all information for references as you go!</a:t>
            </a:r>
          </a:p>
          <a:p>
            <a:pPr>
              <a:buFont typeface="Wingdings" panose="05000000000000000000" pitchFamily="2" charset="2"/>
              <a:buChar char="ü"/>
            </a:pPr>
            <a:endParaRPr lang="en-GB" sz="3400" dirty="0">
              <a:solidFill>
                <a:srgbClr val="000000"/>
              </a:solidFill>
            </a:endParaRPr>
          </a:p>
          <a:p>
            <a:pPr>
              <a:buFont typeface="Wingdings" panose="05000000000000000000" pitchFamily="2" charset="2"/>
              <a:buChar char="ü"/>
            </a:pPr>
            <a:endParaRPr lang="en-GB" sz="3400" dirty="0">
              <a:solidFill>
                <a:srgbClr val="000000"/>
              </a:solidFill>
            </a:endParaRPr>
          </a:p>
          <a:p>
            <a:pPr>
              <a:buFont typeface="Wingdings" panose="05000000000000000000" pitchFamily="2" charset="2"/>
              <a:buChar char="ü"/>
            </a:pPr>
            <a:endParaRPr lang="en-GB" sz="2600" dirty="0">
              <a:solidFill>
                <a:srgbClr val="000000"/>
              </a:solidFill>
            </a:endParaRPr>
          </a:p>
          <a:p>
            <a:pPr marL="0" indent="0">
              <a:buNone/>
            </a:pPr>
            <a:endParaRPr lang="en-GB" sz="2800" dirty="0">
              <a:solidFill>
                <a:schemeClr val="bg1"/>
              </a:solidFill>
            </a:endParaRPr>
          </a:p>
          <a:p>
            <a:endParaRPr lang="en-GB" dirty="0"/>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44273" y="6120926"/>
            <a:ext cx="1495425" cy="349653"/>
          </a:xfrm>
          <a:prstGeom prst="rect">
            <a:avLst/>
          </a:prstGeom>
        </p:spPr>
      </p:pic>
    </p:spTree>
    <p:custDataLst>
      <p:tags r:id="rId1"/>
    </p:custDataLst>
    <p:extLst>
      <p:ext uri="{BB962C8B-B14F-4D97-AF65-F5344CB8AC3E}">
        <p14:creationId xmlns:p14="http://schemas.microsoft.com/office/powerpoint/2010/main" val="2545502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372109" cy="7393982"/>
          </a:xfrm>
          <a:prstGeom prst="rect">
            <a:avLst/>
          </a:prstGeom>
        </p:spPr>
      </p:pic>
    </p:spTree>
    <p:extLst>
      <p:ext uri="{BB962C8B-B14F-4D97-AF65-F5344CB8AC3E}">
        <p14:creationId xmlns:p14="http://schemas.microsoft.com/office/powerpoint/2010/main" val="1605716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5559" y="1059906"/>
            <a:ext cx="8064896" cy="223224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342900" indent="-342900" defTabSz="914400">
              <a:buFont typeface="Arial" panose="020B0604020202020204" pitchFamily="34" charset="0"/>
              <a:buChar char="•"/>
              <a:defRPr/>
            </a:pPr>
            <a:r>
              <a:rPr lang="en-GB" sz="2800" b="1" dirty="0">
                <a:solidFill>
                  <a:prstClr val="white"/>
                </a:solidFill>
                <a:latin typeface="Arial"/>
              </a:rPr>
              <a:t>phrasebank.manchester.ac.uk</a:t>
            </a:r>
          </a:p>
          <a:p>
            <a:pPr marL="342900" indent="-342900" defTabSz="914400">
              <a:buFont typeface="Arial" panose="020B0604020202020204" pitchFamily="34" charset="0"/>
              <a:buChar char="•"/>
              <a:defRPr/>
            </a:pPr>
            <a:r>
              <a:rPr lang="en-GB" sz="2800" b="1" dirty="0">
                <a:solidFill>
                  <a:prstClr val="white"/>
                </a:solidFill>
                <a:latin typeface="Arial"/>
                <a:hlinkClick r:id="rId2">
                  <a:extLst>
                    <a:ext uri="{A12FA001-AC4F-418D-AE19-62706E023703}">
                      <ahyp:hlinkClr xmlns:ahyp="http://schemas.microsoft.com/office/drawing/2018/hyperlinkcolor" val="tx"/>
                    </a:ext>
                  </a:extLst>
                </a:hlinkClick>
              </a:rPr>
              <a:t>https://moodle.uel.ac.uk/mod/page/view.php?id=802139</a:t>
            </a:r>
            <a:endParaRPr lang="en-GB" sz="2800" b="1" dirty="0">
              <a:solidFill>
                <a:prstClr val="white"/>
              </a:solidFill>
              <a:latin typeface="Arial"/>
            </a:endParaRPr>
          </a:p>
          <a:p>
            <a:pPr marL="342900" indent="-342900" defTabSz="914400">
              <a:buFont typeface="Arial" panose="020B0604020202020204" pitchFamily="34" charset="0"/>
              <a:buChar char="•"/>
              <a:defRPr/>
            </a:pPr>
            <a:r>
              <a:rPr lang="en-US" sz="2800" b="1" dirty="0">
                <a:solidFill>
                  <a:prstClr val="white"/>
                </a:solidFill>
                <a:latin typeface="Arial"/>
              </a:rPr>
              <a:t>UEL Moodle-&gt; Student Links-&gt; Study Skills</a:t>
            </a:r>
            <a:endParaRPr lang="en-GB" sz="2800" b="1" dirty="0">
              <a:solidFill>
                <a:prstClr val="white"/>
              </a:solidFill>
              <a:latin typeface="Arial"/>
            </a:endParaRPr>
          </a:p>
          <a:p>
            <a:pPr marL="342900" indent="-342900" defTabSz="914400">
              <a:buFont typeface="Arial" panose="020B0604020202020204" pitchFamily="34" charset="0"/>
              <a:buChar char="•"/>
              <a:defRPr/>
            </a:pPr>
            <a:r>
              <a:rPr lang="en-GB" sz="2800" b="1" dirty="0">
                <a:solidFill>
                  <a:prstClr val="white"/>
                </a:solidFill>
                <a:latin typeface="Arial"/>
              </a:rPr>
              <a:t>citethemrightonline.com</a:t>
            </a:r>
          </a:p>
        </p:txBody>
      </p:sp>
      <p:sp>
        <p:nvSpPr>
          <p:cNvPr id="5" name="Rectangle 4"/>
          <p:cNvSpPr/>
          <p:nvPr/>
        </p:nvSpPr>
        <p:spPr>
          <a:xfrm>
            <a:off x="2739009" y="3718855"/>
            <a:ext cx="6857999" cy="19982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t"/>
          <a:lstStyle/>
          <a:p>
            <a:pPr defTabSz="914400">
              <a:defRPr/>
            </a:pPr>
            <a:r>
              <a:rPr lang="en-GB" sz="3038" u="sng" dirty="0">
                <a:solidFill>
                  <a:prstClr val="white"/>
                </a:solidFill>
                <a:latin typeface="Arial"/>
              </a:rPr>
              <a:t>Academic writing drop-ins</a:t>
            </a:r>
          </a:p>
          <a:p>
            <a:pPr defTabSz="914400">
              <a:defRPr/>
            </a:pPr>
            <a:endParaRPr lang="en-GB" sz="3038" u="sng" dirty="0">
              <a:solidFill>
                <a:prstClr val="white"/>
              </a:solidFill>
              <a:latin typeface="Arial"/>
            </a:endParaRPr>
          </a:p>
          <a:p>
            <a:pPr marL="428625" indent="-428625" defTabSz="914400">
              <a:buFont typeface="Arial" panose="020B0604020202020204" pitchFamily="34" charset="0"/>
              <a:buChar char="•"/>
              <a:defRPr/>
            </a:pPr>
            <a:r>
              <a:rPr lang="en-GB" sz="3038" b="1" dirty="0">
                <a:solidFill>
                  <a:prstClr val="white"/>
                </a:solidFill>
                <a:latin typeface="Arial"/>
              </a:rPr>
              <a:t>Every weekday 10am-11am and 1pm-2pm on MS Teams</a:t>
            </a:r>
          </a:p>
        </p:txBody>
      </p:sp>
      <p:sp>
        <p:nvSpPr>
          <p:cNvPr id="4" name="Rectangle 3"/>
          <p:cNvSpPr/>
          <p:nvPr/>
        </p:nvSpPr>
        <p:spPr>
          <a:xfrm>
            <a:off x="3863752" y="236384"/>
            <a:ext cx="4163354" cy="646331"/>
          </a:xfrm>
          <a:prstGeom prst="rect">
            <a:avLst/>
          </a:prstGeom>
        </p:spPr>
        <p:txBody>
          <a:bodyPr wrap="square">
            <a:spAutoFit/>
          </a:bodyPr>
          <a:lstStyle/>
          <a:p>
            <a:pPr algn="ctr" defTabSz="914400">
              <a:defRPr/>
            </a:pPr>
            <a:r>
              <a:rPr lang="en-GB" sz="3600" b="1" dirty="0">
                <a:solidFill>
                  <a:srgbClr val="0070C0"/>
                </a:solidFill>
                <a:latin typeface="Arial"/>
              </a:rPr>
              <a:t>Useful Resources</a:t>
            </a:r>
            <a:endParaRPr lang="en-GB" sz="3600" dirty="0">
              <a:solidFill>
                <a:srgbClr val="0070C0"/>
              </a:solidFill>
              <a:latin typeface="Arial"/>
            </a:endParaRPr>
          </a:p>
        </p:txBody>
      </p:sp>
      <p:pic>
        <p:nvPicPr>
          <p:cNvPr id="6" name="Picture 5">
            <a:extLst>
              <a:ext uri="{FF2B5EF4-FFF2-40B4-BE49-F238E27FC236}">
                <a16:creationId xmlns:a16="http://schemas.microsoft.com/office/drawing/2014/main" id="{70ABCE9E-8F98-442C-8BEE-AC0DA08C5F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4510" y="5877272"/>
            <a:ext cx="819962" cy="819962"/>
          </a:xfrm>
          <a:prstGeom prst="rect">
            <a:avLst/>
          </a:prstGeom>
        </p:spPr>
      </p:pic>
    </p:spTree>
    <p:extLst>
      <p:ext uri="{BB962C8B-B14F-4D97-AF65-F5344CB8AC3E}">
        <p14:creationId xmlns:p14="http://schemas.microsoft.com/office/powerpoint/2010/main" val="1542529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B56FF-41E1-CD49-AE22-D9B6E62D7B94}"/>
              </a:ext>
            </a:extLst>
          </p:cNvPr>
          <p:cNvSpPr>
            <a:spLocks noGrp="1"/>
          </p:cNvSpPr>
          <p:nvPr>
            <p:ph type="title"/>
          </p:nvPr>
        </p:nvSpPr>
        <p:spPr>
          <a:xfrm>
            <a:off x="5536734" y="273878"/>
            <a:ext cx="4064438" cy="1656522"/>
          </a:xfrm>
        </p:spPr>
        <p:txBody>
          <a:bodyPr>
            <a:normAutofit/>
          </a:bodyPr>
          <a:lstStyle/>
          <a:p>
            <a:r>
              <a:rPr lang="en-US" dirty="0"/>
              <a:t> Apply the test:</a:t>
            </a:r>
          </a:p>
        </p:txBody>
      </p:sp>
      <p:sp>
        <p:nvSpPr>
          <p:cNvPr id="3" name="Content Placeholder 2">
            <a:extLst>
              <a:ext uri="{FF2B5EF4-FFF2-40B4-BE49-F238E27FC236}">
                <a16:creationId xmlns:a16="http://schemas.microsoft.com/office/drawing/2014/main" id="{57BF4271-DB83-AF42-81FD-A8C349AB46F9}"/>
              </a:ext>
            </a:extLst>
          </p:cNvPr>
          <p:cNvSpPr>
            <a:spLocks noGrp="1"/>
          </p:cNvSpPr>
          <p:nvPr>
            <p:ph idx="1"/>
          </p:nvPr>
        </p:nvSpPr>
        <p:spPr>
          <a:xfrm>
            <a:off x="5209563" y="1451113"/>
            <a:ext cx="6632273" cy="4590249"/>
          </a:xfrm>
        </p:spPr>
        <p:txBody>
          <a:bodyPr>
            <a:normAutofit/>
          </a:bodyPr>
          <a:lstStyle/>
          <a:p>
            <a:r>
              <a:rPr lang="en-US" sz="2400" dirty="0"/>
              <a:t>Module Guides contain your Core and Recommended readings for each module</a:t>
            </a:r>
          </a:p>
          <a:p>
            <a:endParaRPr lang="en-US" sz="2400" dirty="0"/>
          </a:p>
          <a:p>
            <a:r>
              <a:rPr lang="en-US" sz="2400" dirty="0"/>
              <a:t>UEL Library </a:t>
            </a:r>
            <a:r>
              <a:rPr lang="en-GB" sz="2400" dirty="0">
                <a:solidFill>
                  <a:schemeClr val="tx1"/>
                </a:solidFill>
                <a:hlinkClick r:id="rId2">
                  <a:extLst>
                    <a:ext uri="{A12FA001-AC4F-418D-AE19-62706E023703}">
                      <ahyp:hlinkClr xmlns:ahyp="http://schemas.microsoft.com/office/drawing/2018/hyperlinkcolor" val="tx"/>
                    </a:ext>
                  </a:extLst>
                </a:hlinkClick>
              </a:rPr>
              <a:t>https://uelac.sharepoint.com/sites/libraryandlearningservices</a:t>
            </a:r>
            <a:endParaRPr lang="en-US" sz="2400" dirty="0">
              <a:solidFill>
                <a:schemeClr val="tx1"/>
              </a:solidFill>
            </a:endParaRPr>
          </a:p>
          <a:p>
            <a:pPr marL="0" indent="0">
              <a:buNone/>
            </a:pPr>
            <a:endParaRPr lang="en-US" sz="2400" dirty="0"/>
          </a:p>
          <a:p>
            <a:r>
              <a:rPr lang="en-US" sz="2400" dirty="0"/>
              <a:t>Google Scholar</a:t>
            </a:r>
          </a:p>
          <a:p>
            <a:endParaRPr lang="en-US" dirty="0"/>
          </a:p>
          <a:p>
            <a:pPr marL="0" indent="0">
              <a:buNone/>
            </a:pPr>
            <a:endParaRPr lang="en-US" dirty="0"/>
          </a:p>
        </p:txBody>
      </p:sp>
      <p:pic>
        <p:nvPicPr>
          <p:cNvPr id="5" name="Picture 4">
            <a:extLst>
              <a:ext uri="{FF2B5EF4-FFF2-40B4-BE49-F238E27FC236}">
                <a16:creationId xmlns:a16="http://schemas.microsoft.com/office/drawing/2014/main" id="{BAC29BBA-0824-DD41-956F-7A36EBFA9039}"/>
              </a:ext>
            </a:extLst>
          </p:cNvPr>
          <p:cNvPicPr>
            <a:picLocks noChangeAspect="1"/>
          </p:cNvPicPr>
          <p:nvPr/>
        </p:nvPicPr>
        <p:blipFill rotWithShape="1">
          <a:blip r:embed="rId3"/>
          <a:srcRect l="24582" r="23105"/>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4" name="Rectangle 3">
            <a:extLst>
              <a:ext uri="{FF2B5EF4-FFF2-40B4-BE49-F238E27FC236}">
                <a16:creationId xmlns:a16="http://schemas.microsoft.com/office/drawing/2014/main" id="{B80BD647-D113-724D-8086-8EB08285D3B4}"/>
              </a:ext>
            </a:extLst>
          </p:cNvPr>
          <p:cNvSpPr/>
          <p:nvPr/>
        </p:nvSpPr>
        <p:spPr>
          <a:xfrm>
            <a:off x="7777397" y="4837893"/>
            <a:ext cx="4064439" cy="1656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2400" dirty="0"/>
              <a:t> Search for  books or articles which could be a relevant source for your dissertation</a:t>
            </a:r>
          </a:p>
        </p:txBody>
      </p:sp>
    </p:spTree>
    <p:extLst>
      <p:ext uri="{BB962C8B-B14F-4D97-AF65-F5344CB8AC3E}">
        <p14:creationId xmlns:p14="http://schemas.microsoft.com/office/powerpoint/2010/main" val="40491158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878" y="974185"/>
            <a:ext cx="10515600" cy="771506"/>
          </a:xfrm>
        </p:spPr>
        <p:txBody>
          <a:bodyPr/>
          <a:lstStyle/>
          <a:p>
            <a:pPr algn="ctr"/>
            <a:r>
              <a:rPr lang="en-GB" b="1" u="sng" dirty="0"/>
              <a:t>Questions?</a:t>
            </a:r>
          </a:p>
        </p:txBody>
      </p:sp>
      <p:pic>
        <p:nvPicPr>
          <p:cNvPr id="1026" name="Picture 2" descr="Image result for questi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11939" y="1745690"/>
            <a:ext cx="3493477" cy="35368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id="{3A2CF145-E8DB-4807-AC26-A79DE6F847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21199"/>
            <a:ext cx="12192000" cy="771506"/>
          </a:xfrm>
          <a:prstGeom prst="rect">
            <a:avLst/>
          </a:prstGeom>
        </p:spPr>
      </p:pic>
      <p:sp>
        <p:nvSpPr>
          <p:cNvPr id="3" name="TextBox 2">
            <a:extLst>
              <a:ext uri="{FF2B5EF4-FFF2-40B4-BE49-F238E27FC236}">
                <a16:creationId xmlns:a16="http://schemas.microsoft.com/office/drawing/2014/main" id="{E9136AD1-42AE-4F54-AB0E-4473A97A51EF}"/>
              </a:ext>
            </a:extLst>
          </p:cNvPr>
          <p:cNvSpPr txBox="1"/>
          <p:nvPr/>
        </p:nvSpPr>
        <p:spPr>
          <a:xfrm>
            <a:off x="1343025" y="5529263"/>
            <a:ext cx="8958263" cy="2308324"/>
          </a:xfrm>
          <a:prstGeom prst="rect">
            <a:avLst/>
          </a:prstGeom>
          <a:noFill/>
        </p:spPr>
        <p:txBody>
          <a:bodyPr wrap="square" rtlCol="0">
            <a:spAutoFit/>
          </a:bodyPr>
          <a:lstStyle/>
          <a:p>
            <a:pPr algn="ctr"/>
            <a:r>
              <a:rPr lang="en-GB" sz="3600" dirty="0"/>
              <a:t>If you have any questions email</a:t>
            </a:r>
          </a:p>
          <a:p>
            <a:pPr algn="ctr"/>
            <a:r>
              <a:rPr lang="en-GB" sz="3600" dirty="0" err="1">
                <a:solidFill>
                  <a:srgbClr val="FF0000"/>
                </a:solidFill>
              </a:rPr>
              <a:t>a.manser@uel.a.cuk</a:t>
            </a:r>
            <a:endParaRPr lang="en-GB" sz="3600" dirty="0">
              <a:solidFill>
                <a:srgbClr val="FF0000"/>
              </a:solidFill>
            </a:endParaRPr>
          </a:p>
          <a:p>
            <a:pPr algn="ctr"/>
            <a:endParaRPr lang="en-GB" sz="3600" dirty="0"/>
          </a:p>
          <a:p>
            <a:pPr algn="ctr"/>
            <a:endParaRPr lang="en-GB" sz="3600" dirty="0"/>
          </a:p>
        </p:txBody>
      </p:sp>
    </p:spTree>
    <p:extLst>
      <p:ext uri="{BB962C8B-B14F-4D97-AF65-F5344CB8AC3E}">
        <p14:creationId xmlns:p14="http://schemas.microsoft.com/office/powerpoint/2010/main" val="29114874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GB" sz="1200"/>
          </a:p>
        </p:txBody>
      </p:sp>
      <p:sp>
        <p:nvSpPr>
          <p:cNvPr id="3" name="Freeform 3"/>
          <p:cNvSpPr/>
          <p:nvPr/>
        </p:nvSpPr>
        <p:spPr>
          <a:xfrm>
            <a:off x="2024174" y="2463800"/>
            <a:ext cx="3012852" cy="3502440"/>
          </a:xfrm>
          <a:custGeom>
            <a:avLst/>
            <a:gdLst/>
            <a:ahLst/>
            <a:cxnLst/>
            <a:rect l="l" t="t" r="r" b="b"/>
            <a:pathLst>
              <a:path w="4519278" h="5253660">
                <a:moveTo>
                  <a:pt x="0" y="0"/>
                </a:moveTo>
                <a:lnTo>
                  <a:pt x="4519278" y="0"/>
                </a:lnTo>
                <a:lnTo>
                  <a:pt x="4519278" y="5253660"/>
                </a:lnTo>
                <a:lnTo>
                  <a:pt x="0" y="5253660"/>
                </a:lnTo>
                <a:lnTo>
                  <a:pt x="0" y="0"/>
                </a:lnTo>
                <a:close/>
              </a:path>
            </a:pathLst>
          </a:custGeom>
          <a:blipFill>
            <a:blip r:embed="rId3"/>
            <a:stretch>
              <a:fillRect/>
            </a:stretch>
          </a:blipFill>
        </p:spPr>
        <p:txBody>
          <a:bodyPr/>
          <a:lstStyle/>
          <a:p>
            <a:endParaRPr lang="en-GB" sz="1200"/>
          </a:p>
        </p:txBody>
      </p:sp>
      <p:sp>
        <p:nvSpPr>
          <p:cNvPr id="6" name="Freeform 4">
            <a:extLst>
              <a:ext uri="{FF2B5EF4-FFF2-40B4-BE49-F238E27FC236}">
                <a16:creationId xmlns:a16="http://schemas.microsoft.com/office/drawing/2014/main" id="{1CA99A9B-5BC5-07E4-98EB-093D0E8368A4}"/>
              </a:ext>
            </a:extLst>
          </p:cNvPr>
          <p:cNvSpPr/>
          <p:nvPr/>
        </p:nvSpPr>
        <p:spPr>
          <a:xfrm>
            <a:off x="863600" y="1185793"/>
            <a:ext cx="5334000" cy="935773"/>
          </a:xfrm>
          <a:custGeom>
            <a:avLst/>
            <a:gdLst/>
            <a:ahLst/>
            <a:cxnLst/>
            <a:rect l="l" t="t" r="r" b="b"/>
            <a:pathLst>
              <a:path w="8448418" h="1869213">
                <a:moveTo>
                  <a:pt x="0" y="0"/>
                </a:moveTo>
                <a:lnTo>
                  <a:pt x="8448418" y="0"/>
                </a:lnTo>
                <a:lnTo>
                  <a:pt x="8448418" y="1869212"/>
                </a:lnTo>
                <a:lnTo>
                  <a:pt x="0" y="18692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sz="1200" dirty="0"/>
          </a:p>
        </p:txBody>
      </p:sp>
      <p:sp>
        <p:nvSpPr>
          <p:cNvPr id="8" name="TextBox 7">
            <a:extLst>
              <a:ext uri="{FF2B5EF4-FFF2-40B4-BE49-F238E27FC236}">
                <a16:creationId xmlns:a16="http://schemas.microsoft.com/office/drawing/2014/main" id="{12B415CB-3870-547F-3989-7FD8D7D32F25}"/>
              </a:ext>
            </a:extLst>
          </p:cNvPr>
          <p:cNvSpPr txBox="1"/>
          <p:nvPr/>
        </p:nvSpPr>
        <p:spPr>
          <a:xfrm>
            <a:off x="1215940" y="1328716"/>
            <a:ext cx="4629321" cy="1173270"/>
          </a:xfrm>
          <a:prstGeom prst="rect">
            <a:avLst/>
          </a:prstGeom>
          <a:noFill/>
        </p:spPr>
        <p:txBody>
          <a:bodyPr wrap="square">
            <a:spAutoFit/>
          </a:bodyPr>
          <a:lstStyle/>
          <a:p>
            <a:pPr>
              <a:lnSpc>
                <a:spcPts val="4446"/>
              </a:lnSpc>
            </a:pPr>
            <a:r>
              <a:rPr lang="en-US" sz="3200" b="1" dirty="0">
                <a:solidFill>
                  <a:srgbClr val="000000"/>
                </a:solidFill>
                <a:latin typeface="Founders Grotesk 1"/>
              </a:rPr>
              <a:t>FIND US ON INSTAGRAM </a:t>
            </a:r>
          </a:p>
        </p:txBody>
      </p:sp>
    </p:spTree>
    <p:extLst>
      <p:ext uri="{BB962C8B-B14F-4D97-AF65-F5344CB8AC3E}">
        <p14:creationId xmlns:p14="http://schemas.microsoft.com/office/powerpoint/2010/main" val="1036194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2507" y="1084590"/>
            <a:ext cx="6457950" cy="969771"/>
          </a:xfrm>
        </p:spPr>
        <p:txBody>
          <a:bodyPr>
            <a:normAutofit/>
          </a:bodyPr>
          <a:lstStyle/>
          <a:p>
            <a:pPr algn="ctr"/>
            <a:r>
              <a:rPr lang="en-GB" b="1" u="sng" dirty="0"/>
              <a:t>How to find us </a:t>
            </a:r>
          </a:p>
        </p:txBody>
      </p:sp>
      <p:pic>
        <p:nvPicPr>
          <p:cNvPr id="2050" name="Group 5" descr="image001">
            <a:extLst>
              <a:ext uri="{FF2B5EF4-FFF2-40B4-BE49-F238E27FC236}">
                <a16:creationId xmlns:a16="http://schemas.microsoft.com/office/drawing/2014/main" id="{81295322-B607-437C-AF0D-3DA472866A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95" y="2146246"/>
            <a:ext cx="10099826" cy="403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5FCE0148-D096-4144-A9F5-D6B938A0E1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21199"/>
            <a:ext cx="12192000" cy="771506"/>
          </a:xfrm>
          <a:prstGeom prst="rect">
            <a:avLst/>
          </a:prstGeom>
        </p:spPr>
      </p:pic>
    </p:spTree>
    <p:extLst>
      <p:ext uri="{BB962C8B-B14F-4D97-AF65-F5344CB8AC3E}">
        <p14:creationId xmlns:p14="http://schemas.microsoft.com/office/powerpoint/2010/main" val="1896639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result for tick box"/>
          <p:cNvSpPr>
            <a:spLocks noChangeAspect="1" noChangeArrowheads="1"/>
          </p:cNvSpPr>
          <p:nvPr/>
        </p:nvSpPr>
        <p:spPr bwMode="auto">
          <a:xfrm>
            <a:off x="1640681" y="748904"/>
            <a:ext cx="228600" cy="2286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1" rIns="68580" bIns="34291" numCol="1" anchor="t" anchorCtr="0" compatLnSpc="1">
            <a:prstTxWarp prst="textNoShape">
              <a:avLst/>
            </a:prstTxWarp>
          </a:bodyPr>
          <a:lstStyle/>
          <a:p>
            <a:pPr defTabSz="685800">
              <a:defRPr/>
            </a:pPr>
            <a:endParaRPr lang="en-GB" sz="1351">
              <a:solidFill>
                <a:prstClr val="black"/>
              </a:solidFill>
              <a:latin typeface="Calibri" panose="020F0502020204030204"/>
            </a:endParaRPr>
          </a:p>
        </p:txBody>
      </p:sp>
      <p:sp>
        <p:nvSpPr>
          <p:cNvPr id="7" name="TextBox 6"/>
          <p:cNvSpPr txBox="1"/>
          <p:nvPr/>
        </p:nvSpPr>
        <p:spPr>
          <a:xfrm>
            <a:off x="2067498" y="896651"/>
            <a:ext cx="7418349" cy="1107996"/>
          </a:xfrm>
          <a:prstGeom prst="rect">
            <a:avLst/>
          </a:prstGeom>
          <a:solidFill>
            <a:schemeClr val="bg2">
              <a:lumMod val="25000"/>
            </a:schemeClr>
          </a:solidFill>
        </p:spPr>
        <p:txBody>
          <a:bodyPr wrap="square" rtlCol="0" anchor="t">
            <a:spAutoFit/>
          </a:bodyPr>
          <a:lstStyle/>
          <a:p>
            <a:pPr algn="r" defTabSz="685800">
              <a:defRPr/>
            </a:pPr>
            <a:r>
              <a:rPr lang="en-GB" sz="6600" b="1" dirty="0">
                <a:solidFill>
                  <a:prstClr val="white"/>
                </a:solidFill>
                <a:latin typeface="Raleway" panose="020B0503030101060003" pitchFamily="34" charset="0"/>
              </a:rPr>
              <a:t>MyFeedback</a:t>
            </a:r>
            <a:endParaRPr lang="en-US" sz="6600" dirty="0">
              <a:solidFill>
                <a:prstClr val="white"/>
              </a:solidFill>
              <a:latin typeface="Calibri" panose="020F0502020204030204"/>
            </a:endParaRPr>
          </a:p>
        </p:txBody>
      </p:sp>
      <p:sp>
        <p:nvSpPr>
          <p:cNvPr id="8" name="Flowchart: Alternate Process 7"/>
          <p:cNvSpPr/>
          <p:nvPr/>
        </p:nvSpPr>
        <p:spPr>
          <a:xfrm flipV="1">
            <a:off x="1514668" y="5210774"/>
            <a:ext cx="9153333" cy="40434"/>
          </a:xfrm>
          <a:prstGeom prst="flowChartAlternateProcess">
            <a:avLst/>
          </a:prstGeom>
          <a:solidFill>
            <a:srgbClr val="00C4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GB" sz="1351">
              <a:solidFill>
                <a:prstClr val="white"/>
              </a:solidFill>
              <a:latin typeface="Calibri" panose="020F0502020204030204"/>
            </a:endParaRPr>
          </a:p>
        </p:txBody>
      </p:sp>
      <p:sp>
        <p:nvSpPr>
          <p:cNvPr id="11" name="TextBox 10"/>
          <p:cNvSpPr txBox="1"/>
          <p:nvPr/>
        </p:nvSpPr>
        <p:spPr>
          <a:xfrm>
            <a:off x="2244163" y="5356769"/>
            <a:ext cx="7694342" cy="461665"/>
          </a:xfrm>
          <a:prstGeom prst="rect">
            <a:avLst/>
          </a:prstGeom>
          <a:noFill/>
        </p:spPr>
        <p:txBody>
          <a:bodyPr wrap="square" rtlCol="0">
            <a:spAutoFit/>
          </a:bodyPr>
          <a:lstStyle/>
          <a:p>
            <a:pPr defTabSz="685800">
              <a:defRPr/>
            </a:pPr>
            <a:r>
              <a:rPr lang="en-GB" sz="2400" b="1" dirty="0">
                <a:solidFill>
                  <a:prstClr val="white"/>
                </a:solidFill>
                <a:latin typeface="Raleway" panose="020B0503030101060003" pitchFamily="34" charset="0"/>
              </a:rPr>
              <a:t>Referencing</a:t>
            </a:r>
            <a:r>
              <a:rPr lang="en-GB" sz="2400" b="1" dirty="0">
                <a:solidFill>
                  <a:prstClr val="black"/>
                </a:solidFill>
                <a:latin typeface="Raleway" panose="020B0503030101060003" pitchFamily="34" charset="0"/>
              </a:rPr>
              <a:t>   </a:t>
            </a:r>
            <a:r>
              <a:rPr lang="en-GB" sz="2400" b="1" dirty="0">
                <a:solidFill>
                  <a:srgbClr val="FFFFFF"/>
                </a:solidFill>
                <a:latin typeface="Raleway" panose="020B0503030101060003" pitchFamily="34" charset="0"/>
              </a:rPr>
              <a:t>|</a:t>
            </a:r>
            <a:r>
              <a:rPr lang="en-GB" sz="2400" b="1" dirty="0">
                <a:solidFill>
                  <a:prstClr val="black"/>
                </a:solidFill>
                <a:latin typeface="Raleway" panose="020B0503030101060003" pitchFamily="34" charset="0"/>
              </a:rPr>
              <a:t>   </a:t>
            </a:r>
            <a:r>
              <a:rPr lang="en-GB" sz="2400" b="1" dirty="0">
                <a:solidFill>
                  <a:prstClr val="white"/>
                </a:solidFill>
                <a:latin typeface="Raleway" panose="020B0503030101060003" pitchFamily="34" charset="0"/>
              </a:rPr>
              <a:t>Structure  </a:t>
            </a:r>
            <a:r>
              <a:rPr lang="en-GB" sz="2400" b="1" dirty="0">
                <a:solidFill>
                  <a:prstClr val="black"/>
                </a:solidFill>
                <a:latin typeface="Raleway" panose="020B0503030101060003" pitchFamily="34" charset="0"/>
              </a:rPr>
              <a:t> </a:t>
            </a:r>
            <a:r>
              <a:rPr lang="en-GB" sz="2400" b="1" dirty="0">
                <a:solidFill>
                  <a:srgbClr val="FFFFFF"/>
                </a:solidFill>
                <a:latin typeface="Raleway" panose="020B0503030101060003" pitchFamily="34" charset="0"/>
              </a:rPr>
              <a:t>|</a:t>
            </a:r>
            <a:r>
              <a:rPr lang="en-GB" sz="2400" b="1" dirty="0">
                <a:solidFill>
                  <a:prstClr val="black"/>
                </a:solidFill>
                <a:latin typeface="Raleway" panose="020B0503030101060003" pitchFamily="34" charset="0"/>
              </a:rPr>
              <a:t>   </a:t>
            </a:r>
            <a:r>
              <a:rPr lang="en-GB" sz="2400" b="1" dirty="0">
                <a:solidFill>
                  <a:prstClr val="white"/>
                </a:solidFill>
                <a:latin typeface="Raleway" panose="020B0503030101060003" pitchFamily="34" charset="0"/>
              </a:rPr>
              <a:t>Grammar  </a:t>
            </a:r>
            <a:r>
              <a:rPr lang="en-GB" sz="2400" b="1" dirty="0">
                <a:solidFill>
                  <a:prstClr val="black"/>
                </a:solidFill>
                <a:latin typeface="Raleway" panose="020B0503030101060003" pitchFamily="34" charset="0"/>
              </a:rPr>
              <a:t> </a:t>
            </a:r>
            <a:r>
              <a:rPr lang="en-GB" sz="2400" b="1" dirty="0">
                <a:solidFill>
                  <a:srgbClr val="FFFFFF"/>
                </a:solidFill>
                <a:latin typeface="Raleway" panose="020B0503030101060003" pitchFamily="34" charset="0"/>
              </a:rPr>
              <a:t>|</a:t>
            </a:r>
            <a:r>
              <a:rPr lang="en-GB" sz="2400" b="1" dirty="0">
                <a:solidFill>
                  <a:prstClr val="black"/>
                </a:solidFill>
                <a:latin typeface="Raleway" panose="020B0503030101060003" pitchFamily="34" charset="0"/>
              </a:rPr>
              <a:t>   </a:t>
            </a:r>
            <a:r>
              <a:rPr lang="en-GB" sz="2400" b="1" dirty="0">
                <a:solidFill>
                  <a:prstClr val="white"/>
                </a:solidFill>
                <a:latin typeface="Raleway" panose="020B0503030101060003" pitchFamily="34" charset="0"/>
              </a:rPr>
              <a:t>Spelling</a:t>
            </a:r>
          </a:p>
        </p:txBody>
      </p:sp>
      <p:sp>
        <p:nvSpPr>
          <p:cNvPr id="15" name="Rounded Rectangle 14"/>
          <p:cNvSpPr/>
          <p:nvPr/>
        </p:nvSpPr>
        <p:spPr>
          <a:xfrm>
            <a:off x="1869282" y="2243173"/>
            <a:ext cx="8333456" cy="118271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GB" sz="2700" b="1" i="1" dirty="0">
                <a:solidFill>
                  <a:prstClr val="black">
                    <a:lumMod val="85000"/>
                    <a:lumOff val="15000"/>
                  </a:prstClr>
                </a:solidFill>
                <a:latin typeface="Raleway" panose="020B0503030101060003" pitchFamily="34" charset="0"/>
              </a:rPr>
              <a:t>Pssst…Did you know that you can get feedback on your written assignments before you submit?</a:t>
            </a:r>
          </a:p>
        </p:txBody>
      </p:sp>
      <p:pic>
        <p:nvPicPr>
          <p:cNvPr id="12" name="Picture 2" descr="Image result for tick"/>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06972" y="977506"/>
            <a:ext cx="831434" cy="81088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869282" y="3644969"/>
            <a:ext cx="8423919" cy="738664"/>
          </a:xfrm>
          <a:prstGeom prst="rect">
            <a:avLst/>
          </a:prstGeom>
        </p:spPr>
        <p:txBody>
          <a:bodyPr wrap="square">
            <a:spAutoFit/>
          </a:bodyPr>
          <a:lstStyle/>
          <a:p>
            <a:pPr algn="ctr" defTabSz="685800">
              <a:defRPr/>
            </a:pPr>
            <a:r>
              <a:rPr lang="en-GB" sz="2100" dirty="0">
                <a:solidFill>
                  <a:prstClr val="white"/>
                </a:solidFill>
                <a:latin typeface="Raleway" panose="020B0503030101060003" pitchFamily="34" charset="0"/>
              </a:rPr>
              <a:t>For fast, focused feedback upload your draft written assignments via the Moodle Study Skills tab.</a:t>
            </a:r>
          </a:p>
        </p:txBody>
      </p:sp>
      <p:sp>
        <p:nvSpPr>
          <p:cNvPr id="10" name="Flowchart: Alternate Process 9"/>
          <p:cNvSpPr/>
          <p:nvPr/>
        </p:nvSpPr>
        <p:spPr>
          <a:xfrm flipV="1">
            <a:off x="1524001" y="1991606"/>
            <a:ext cx="9153333" cy="40434"/>
          </a:xfrm>
          <a:prstGeom prst="flowChartAlternateProcess">
            <a:avLst/>
          </a:prstGeom>
          <a:solidFill>
            <a:srgbClr val="00C49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GB" sz="1351">
              <a:solidFill>
                <a:prstClr val="white"/>
              </a:solidFill>
              <a:latin typeface="Calibri" panose="020F0502020204030204"/>
            </a:endParaRPr>
          </a:p>
        </p:txBody>
      </p:sp>
      <p:sp>
        <p:nvSpPr>
          <p:cNvPr id="13" name="TextBox 12"/>
          <p:cNvSpPr txBox="1"/>
          <p:nvPr/>
        </p:nvSpPr>
        <p:spPr>
          <a:xfrm>
            <a:off x="1987550" y="4482377"/>
            <a:ext cx="8382000" cy="507831"/>
          </a:xfrm>
          <a:prstGeom prst="rect">
            <a:avLst/>
          </a:prstGeom>
          <a:noFill/>
        </p:spPr>
        <p:txBody>
          <a:bodyPr wrap="square" rtlCol="0">
            <a:spAutoFit/>
          </a:bodyPr>
          <a:lstStyle/>
          <a:p>
            <a:pPr defTabSz="685800">
              <a:defRPr/>
            </a:pPr>
            <a:r>
              <a:rPr lang="en-GB" sz="2700" dirty="0">
                <a:solidFill>
                  <a:prstClr val="white"/>
                </a:solidFill>
                <a:latin typeface="Raleway" panose="020B0503030101060003" pitchFamily="34" charset="0"/>
                <a:sym typeface="Wingdings" panose="05000000000000000000" pitchFamily="2" charset="2"/>
              </a:rPr>
              <a:t> </a:t>
            </a:r>
            <a:r>
              <a:rPr lang="en-GB" sz="2700" dirty="0">
                <a:solidFill>
                  <a:prstClr val="white"/>
                </a:solidFill>
                <a:latin typeface="Raleway" panose="020B0503030101060003" pitchFamily="34" charset="0"/>
              </a:rPr>
              <a:t>Find us on </a:t>
            </a:r>
            <a:r>
              <a:rPr lang="en-GB" sz="2700" b="1" dirty="0">
                <a:solidFill>
                  <a:prstClr val="white"/>
                </a:solidFill>
                <a:latin typeface="Raleway" panose="020B0503030101060003" pitchFamily="34" charset="0"/>
              </a:rPr>
              <a:t>Moodle </a:t>
            </a:r>
            <a:r>
              <a:rPr lang="en-GB" sz="2700" dirty="0">
                <a:solidFill>
                  <a:prstClr val="white"/>
                </a:solidFill>
                <a:latin typeface="Raleway" panose="020B0503030101060003" pitchFamily="34" charset="0"/>
                <a:sym typeface="Wingdings" panose="05000000000000000000" pitchFamily="2" charset="2"/>
              </a:rPr>
              <a:t> </a:t>
            </a:r>
            <a:r>
              <a:rPr lang="en-GB" sz="2400" dirty="0">
                <a:solidFill>
                  <a:prstClr val="white"/>
                </a:solidFill>
                <a:latin typeface="Raleway" panose="020B0503030101060003" pitchFamily="34" charset="0"/>
                <a:sym typeface="Wingdings" panose="05000000000000000000" pitchFamily="2" charset="2"/>
              </a:rPr>
              <a:t>Student Links  Study Skills</a:t>
            </a:r>
            <a:endParaRPr lang="en-GB" sz="2400" dirty="0">
              <a:solidFill>
                <a:prstClr val="white"/>
              </a:solidFill>
              <a:latin typeface="Raleway" panose="020B0503030101060003" pitchFamily="34" charset="0"/>
            </a:endParaRPr>
          </a:p>
        </p:txBody>
      </p:sp>
    </p:spTree>
    <p:extLst>
      <p:ext uri="{BB962C8B-B14F-4D97-AF65-F5344CB8AC3E}">
        <p14:creationId xmlns:p14="http://schemas.microsoft.com/office/powerpoint/2010/main" val="575494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363" y="2464"/>
            <a:ext cx="8363272" cy="1282154"/>
          </a:xfrm>
        </p:spPr>
        <p:txBody>
          <a:bodyPr>
            <a:normAutofit/>
          </a:bodyPr>
          <a:lstStyle/>
          <a:p>
            <a:pPr algn="ctr"/>
            <a:r>
              <a:rPr lang="en-GB" b="1" dirty="0">
                <a:latin typeface="Founders Grotesk Cond Bold"/>
              </a:rPr>
              <a:t>Thanks for listening.</a:t>
            </a:r>
            <a:br>
              <a:rPr lang="en-GB" b="1" dirty="0">
                <a:latin typeface="Founders Grotesk Cond Bold"/>
              </a:rPr>
            </a:br>
            <a:r>
              <a:rPr lang="en-GB" b="1" dirty="0">
                <a:latin typeface="Founders Grotesk Cond Bold"/>
              </a:rPr>
              <a:t>Your feedback please:</a:t>
            </a:r>
            <a:endParaRPr lang="en-GB" sz="5400" dirty="0"/>
          </a:p>
        </p:txBody>
      </p:sp>
      <p:sp>
        <p:nvSpPr>
          <p:cNvPr id="10" name="Rectangle 5">
            <a:extLst>
              <a:ext uri="{FF2B5EF4-FFF2-40B4-BE49-F238E27FC236}">
                <a16:creationId xmlns:a16="http://schemas.microsoft.com/office/drawing/2014/main" id="{AE187000-F9AC-14AD-96C7-F7ABB8A07752}"/>
              </a:ext>
            </a:extLst>
          </p:cNvPr>
          <p:cNvSpPr>
            <a:spLocks noGrp="1" noChangeArrowheads="1"/>
          </p:cNvSpPr>
          <p:nvPr>
            <p:ph idx="1"/>
          </p:nvPr>
        </p:nvSpPr>
        <p:spPr bwMode="auto">
          <a:xfrm>
            <a:off x="3353229" y="1349171"/>
            <a:ext cx="548554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lang="en-US" altLang="en-US" sz="4000" b="1" dirty="0">
                <a:solidFill>
                  <a:srgbClr val="0070C0"/>
                </a:solidFill>
                <a:latin typeface="Calibri" panose="020F0502020204030204" pitchFamily="34" charset="0"/>
                <a:cs typeface="Calibri" panose="020F0502020204030204" pitchFamily="34" charset="0"/>
              </a:rPr>
              <a:t>http://tiny.cc/tutoring24</a:t>
            </a:r>
          </a:p>
        </p:txBody>
      </p:sp>
      <p:pic>
        <p:nvPicPr>
          <p:cNvPr id="4" name="Picture 3">
            <a:extLst>
              <a:ext uri="{FF2B5EF4-FFF2-40B4-BE49-F238E27FC236}">
                <a16:creationId xmlns:a16="http://schemas.microsoft.com/office/drawing/2014/main" id="{066EC958-3AAC-4AB5-9934-99257672AE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4510" y="5877272"/>
            <a:ext cx="819962" cy="819962"/>
          </a:xfrm>
          <a:prstGeom prst="rect">
            <a:avLst/>
          </a:prstGeom>
        </p:spPr>
      </p:pic>
      <p:sp>
        <p:nvSpPr>
          <p:cNvPr id="7" name="Footer Placeholder 5">
            <a:extLst>
              <a:ext uri="{FF2B5EF4-FFF2-40B4-BE49-F238E27FC236}">
                <a16:creationId xmlns:a16="http://schemas.microsoft.com/office/drawing/2014/main" id="{F8225263-71C5-CF2F-9414-BD299AD1AA9C}"/>
              </a:ext>
            </a:extLst>
          </p:cNvPr>
          <p:cNvSpPr txBox="1">
            <a:spLocks/>
          </p:cNvSpPr>
          <p:nvPr/>
        </p:nvSpPr>
        <p:spPr>
          <a:xfrm>
            <a:off x="9912424" y="6669360"/>
            <a:ext cx="864096" cy="188640"/>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a:pPr>
            <a:r>
              <a:rPr lang="en-GB" sz="1000">
                <a:solidFill>
                  <a:prstClr val="black">
                    <a:tint val="75000"/>
                  </a:prstClr>
                </a:solidFill>
                <a:latin typeface="Calibri" panose="020F0502020204030204"/>
              </a:rPr>
              <a:t>Dr J. Malik</a:t>
            </a:r>
            <a:endParaRPr lang="en-GB" sz="1000" dirty="0">
              <a:solidFill>
                <a:prstClr val="black">
                  <a:tint val="75000"/>
                </a:prstClr>
              </a:solidFill>
              <a:latin typeface="Calibri" panose="020F0502020204030204"/>
            </a:endParaRPr>
          </a:p>
        </p:txBody>
      </p:sp>
      <p:pic>
        <p:nvPicPr>
          <p:cNvPr id="12" name="Picture 11" descr="A qr code with black dots&#10;&#10;Description automatically generated">
            <a:extLst>
              <a:ext uri="{FF2B5EF4-FFF2-40B4-BE49-F238E27FC236}">
                <a16:creationId xmlns:a16="http://schemas.microsoft.com/office/drawing/2014/main" id="{069D14AE-AC26-E968-07C0-CB9CCD3A6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3753" y="2169878"/>
            <a:ext cx="4527357" cy="4527357"/>
          </a:xfrm>
          <a:prstGeom prst="rect">
            <a:avLst/>
          </a:prstGeom>
        </p:spPr>
      </p:pic>
    </p:spTree>
    <p:extLst>
      <p:ext uri="{BB962C8B-B14F-4D97-AF65-F5344CB8AC3E}">
        <p14:creationId xmlns:p14="http://schemas.microsoft.com/office/powerpoint/2010/main" val="1013489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70" b="-9370"/>
            </a:stretch>
          </a:blipFill>
        </p:spPr>
        <p:txBody>
          <a:bodyPr/>
          <a:lstStyle/>
          <a:p>
            <a:endParaRPr lang="en-GB" sz="1200"/>
          </a:p>
        </p:txBody>
      </p:sp>
      <p:grpSp>
        <p:nvGrpSpPr>
          <p:cNvPr id="3" name="Group 3"/>
          <p:cNvGrpSpPr/>
          <p:nvPr/>
        </p:nvGrpSpPr>
        <p:grpSpPr>
          <a:xfrm>
            <a:off x="148856" y="4364047"/>
            <a:ext cx="12498500" cy="2536483"/>
            <a:chOff x="0" y="0"/>
            <a:chExt cx="8568685" cy="1738954"/>
          </a:xfrm>
        </p:grpSpPr>
        <p:sp>
          <p:nvSpPr>
            <p:cNvPr id="4" name="Freeform 4"/>
            <p:cNvSpPr/>
            <p:nvPr/>
          </p:nvSpPr>
          <p:spPr>
            <a:xfrm>
              <a:off x="0" y="0"/>
              <a:ext cx="8568686" cy="1738954"/>
            </a:xfrm>
            <a:custGeom>
              <a:avLst/>
              <a:gdLst/>
              <a:ahLst/>
              <a:cxnLst/>
              <a:rect l="l" t="t" r="r" b="b"/>
              <a:pathLst>
                <a:path w="8568686" h="1738954">
                  <a:moveTo>
                    <a:pt x="0" y="0"/>
                  </a:moveTo>
                  <a:lnTo>
                    <a:pt x="8568686" y="0"/>
                  </a:lnTo>
                  <a:lnTo>
                    <a:pt x="8568686" y="1738954"/>
                  </a:lnTo>
                  <a:lnTo>
                    <a:pt x="0" y="1738954"/>
                  </a:lnTo>
                  <a:close/>
                </a:path>
              </a:pathLst>
            </a:custGeom>
            <a:solidFill>
              <a:srgbClr val="D9D9D9"/>
            </a:solidFill>
          </p:spPr>
          <p:txBody>
            <a:bodyPr/>
            <a:lstStyle/>
            <a:p>
              <a:endParaRPr lang="en-GB" sz="1200"/>
            </a:p>
          </p:txBody>
        </p:sp>
      </p:grpSp>
      <p:sp>
        <p:nvSpPr>
          <p:cNvPr id="5" name="TextBox 5"/>
          <p:cNvSpPr txBox="1"/>
          <p:nvPr/>
        </p:nvSpPr>
        <p:spPr>
          <a:xfrm>
            <a:off x="2537399" y="4622280"/>
            <a:ext cx="6799913" cy="925125"/>
          </a:xfrm>
          <a:prstGeom prst="rect">
            <a:avLst/>
          </a:prstGeom>
        </p:spPr>
        <p:txBody>
          <a:bodyPr lIns="0" tIns="0" rIns="0" bIns="0" rtlCol="0" anchor="t">
            <a:spAutoFit/>
          </a:bodyPr>
          <a:lstStyle/>
          <a:p>
            <a:pPr algn="ctr">
              <a:lnSpc>
                <a:spcPts val="7924"/>
              </a:lnSpc>
              <a:spcBef>
                <a:spcPct val="0"/>
              </a:spcBef>
            </a:pPr>
            <a:r>
              <a:rPr lang="en-US" sz="5660" dirty="0">
                <a:solidFill>
                  <a:srgbClr val="282727"/>
                </a:solidFill>
                <a:latin typeface="Poppins Bold"/>
              </a:rPr>
              <a:t>THANK YOU!</a:t>
            </a:r>
          </a:p>
        </p:txBody>
      </p:sp>
      <p:grpSp>
        <p:nvGrpSpPr>
          <p:cNvPr id="6" name="Group 6"/>
          <p:cNvGrpSpPr/>
          <p:nvPr/>
        </p:nvGrpSpPr>
        <p:grpSpPr>
          <a:xfrm>
            <a:off x="1694710" y="5789185"/>
            <a:ext cx="8485290" cy="819043"/>
            <a:chOff x="0" y="0"/>
            <a:chExt cx="16970579" cy="1638086"/>
          </a:xfrm>
        </p:grpSpPr>
        <p:pic>
          <p:nvPicPr>
            <p:cNvPr id="7" name="Picture 7"/>
            <p:cNvPicPr>
              <a:picLocks noChangeAspect="1"/>
            </p:cNvPicPr>
            <p:nvPr/>
          </p:nvPicPr>
          <p:blipFill>
            <a:blip r:embed="rId3"/>
            <a:srcRect t="12022" b="12022"/>
            <a:stretch>
              <a:fillRect/>
            </a:stretch>
          </p:blipFill>
          <p:spPr>
            <a:xfrm>
              <a:off x="0" y="0"/>
              <a:ext cx="16970579" cy="1638086"/>
            </a:xfrm>
            <a:prstGeom prst="rect">
              <a:avLst/>
            </a:prstGeom>
          </p:spPr>
        </p:pic>
      </p:grpSp>
      <p:sp>
        <p:nvSpPr>
          <p:cNvPr id="8" name="Freeform 8"/>
          <p:cNvSpPr/>
          <p:nvPr/>
        </p:nvSpPr>
        <p:spPr>
          <a:xfrm>
            <a:off x="2968488" y="1000530"/>
            <a:ext cx="7101314" cy="1571166"/>
          </a:xfrm>
          <a:custGeom>
            <a:avLst/>
            <a:gdLst/>
            <a:ahLst/>
            <a:cxnLst/>
            <a:rect l="l" t="t" r="r" b="b"/>
            <a:pathLst>
              <a:path w="10651971" h="2356749">
                <a:moveTo>
                  <a:pt x="0" y="0"/>
                </a:moveTo>
                <a:lnTo>
                  <a:pt x="10651972" y="0"/>
                </a:lnTo>
                <a:lnTo>
                  <a:pt x="10651972" y="2356748"/>
                </a:lnTo>
                <a:lnTo>
                  <a:pt x="0" y="23567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sz="1200"/>
          </a:p>
        </p:txBody>
      </p:sp>
      <p:sp>
        <p:nvSpPr>
          <p:cNvPr id="9" name="TextBox 9"/>
          <p:cNvSpPr txBox="1"/>
          <p:nvPr/>
        </p:nvSpPr>
        <p:spPr>
          <a:xfrm>
            <a:off x="3490065" y="958736"/>
            <a:ext cx="5524528" cy="2154436"/>
          </a:xfrm>
          <a:prstGeom prst="rect">
            <a:avLst/>
          </a:prstGeom>
        </p:spPr>
        <p:txBody>
          <a:bodyPr lIns="0" tIns="0" rIns="0" bIns="0" rtlCol="0" anchor="t">
            <a:spAutoFit/>
          </a:bodyPr>
          <a:lstStyle/>
          <a:p>
            <a:pPr>
              <a:lnSpc>
                <a:spcPts val="5556"/>
              </a:lnSpc>
            </a:pPr>
            <a:r>
              <a:rPr lang="en-US" sz="4790" dirty="0">
                <a:solidFill>
                  <a:srgbClr val="230F0F"/>
                </a:solidFill>
                <a:latin typeface="Founders Grotesk 1"/>
              </a:rPr>
              <a:t>For your questions, contact us:</a:t>
            </a:r>
          </a:p>
          <a:p>
            <a:pPr>
              <a:lnSpc>
                <a:spcPts val="5556"/>
              </a:lnSpc>
            </a:pPr>
            <a:endParaRPr lang="en-US" sz="4790" dirty="0">
              <a:solidFill>
                <a:srgbClr val="230F0F"/>
              </a:solidFill>
              <a:latin typeface="Founders Grotesk 1"/>
            </a:endParaRPr>
          </a:p>
        </p:txBody>
      </p:sp>
      <p:sp>
        <p:nvSpPr>
          <p:cNvPr id="10" name="TextBox 10"/>
          <p:cNvSpPr txBox="1"/>
          <p:nvPr/>
        </p:nvSpPr>
        <p:spPr>
          <a:xfrm>
            <a:off x="6519145" y="1627363"/>
            <a:ext cx="4290283" cy="689869"/>
          </a:xfrm>
          <a:prstGeom prst="rect">
            <a:avLst/>
          </a:prstGeom>
        </p:spPr>
        <p:txBody>
          <a:bodyPr lIns="0" tIns="0" rIns="0" bIns="0" rtlCol="0" anchor="t">
            <a:spAutoFit/>
          </a:bodyPr>
          <a:lstStyle/>
          <a:p>
            <a:pPr>
              <a:lnSpc>
                <a:spcPts val="5866"/>
              </a:lnSpc>
              <a:spcBef>
                <a:spcPct val="0"/>
              </a:spcBef>
            </a:pPr>
            <a:r>
              <a:rPr lang="en-US" sz="4190">
                <a:solidFill>
                  <a:srgbClr val="230F0F"/>
                </a:solidFill>
                <a:latin typeface="Founders Grotesk 2"/>
              </a:rPr>
              <a:t> tutors@uel.ac.uk</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8BE9E8F1F50747A3063E9FB33061E6" ma:contentTypeVersion="11" ma:contentTypeDescription="Create a new document." ma:contentTypeScope="" ma:versionID="f89c692eb5b4a19d3cca6d4222ac34b9">
  <xsd:schema xmlns:xsd="http://www.w3.org/2001/XMLSchema" xmlns:xs="http://www.w3.org/2001/XMLSchema" xmlns:p="http://schemas.microsoft.com/office/2006/metadata/properties" xmlns:ns2="4383576d-b83c-40d9-b2fc-ed119eb90700" xmlns:ns3="6b8d5dd3-a197-4f6a-8dc5-e4dbdad36377" targetNamespace="http://schemas.microsoft.com/office/2006/metadata/properties" ma:root="true" ma:fieldsID="5f0aac8b0e947a76b323a62824394b0d" ns2:_="" ns3:_="">
    <xsd:import namespace="4383576d-b83c-40d9-b2fc-ed119eb90700"/>
    <xsd:import namespace="6b8d5dd3-a197-4f6a-8dc5-e4dbdad363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83576d-b83c-40d9-b2fc-ed119eb907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8d5dd3-a197-4f6a-8dc5-e4dbdad36377"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8B9577A-3D67-4A79-A066-10C43AE1D1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83576d-b83c-40d9-b2fc-ed119eb90700"/>
    <ds:schemaRef ds:uri="6b8d5dd3-a197-4f6a-8dc5-e4dbdad363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C96D69-35F8-4D31-A19D-FA483ACD8B5B}">
  <ds:schemaRefs>
    <ds:schemaRef ds:uri="http://schemas.microsoft.com/sharepoint/v3/contenttype/forms"/>
  </ds:schemaRefs>
</ds:datastoreItem>
</file>

<file path=customXml/itemProps3.xml><?xml version="1.0" encoding="utf-8"?>
<ds:datastoreItem xmlns:ds="http://schemas.openxmlformats.org/officeDocument/2006/customXml" ds:itemID="{2768BFED-E4AD-48DC-A12F-C6536AE94C53}">
  <ds:schemaRefs>
    <ds:schemaRef ds:uri="http://purl.org/dc/dcmitype/"/>
    <ds:schemaRef ds:uri="http://www.w3.org/XML/1998/namespace"/>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http://purl.org/dc/terms/"/>
    <ds:schemaRef ds:uri="6b8d5dd3-a197-4f6a-8dc5-e4dbdad36377"/>
    <ds:schemaRef ds:uri="4383576d-b83c-40d9-b2fc-ed119eb90700"/>
  </ds:schemaRefs>
</ds:datastoreItem>
</file>

<file path=docProps/app.xml><?xml version="1.0" encoding="utf-8"?>
<Properties xmlns="http://schemas.openxmlformats.org/officeDocument/2006/extended-properties" xmlns:vt="http://schemas.openxmlformats.org/officeDocument/2006/docPropsVTypes">
  <Template/>
  <TotalTime>634</TotalTime>
  <Words>3062</Words>
  <Application>Microsoft Office PowerPoint</Application>
  <PresentationFormat>Widescreen</PresentationFormat>
  <Paragraphs>434</Paragraphs>
  <Slides>42</Slides>
  <Notes>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42</vt:i4>
      </vt:variant>
    </vt:vector>
  </HeadingPairs>
  <TitlesOfParts>
    <vt:vector size="56" baseType="lpstr">
      <vt:lpstr>Aptos</vt:lpstr>
      <vt:lpstr>Arial</vt:lpstr>
      <vt:lpstr>Calibri</vt:lpstr>
      <vt:lpstr>Calisto MT</vt:lpstr>
      <vt:lpstr>Founders Grotesk 1</vt:lpstr>
      <vt:lpstr>Founders Grotesk 2</vt:lpstr>
      <vt:lpstr>Founders Grotesk Cond Bold</vt:lpstr>
      <vt:lpstr>Helvetica Neue</vt:lpstr>
      <vt:lpstr>Poppins Bold</vt:lpstr>
      <vt:lpstr>Raleway</vt:lpstr>
      <vt:lpstr>Trebuchet MS</vt:lpstr>
      <vt:lpstr>Wingdings</vt:lpstr>
      <vt:lpstr>Wingdings 3</vt:lpstr>
      <vt:lpstr>Facet</vt:lpstr>
      <vt:lpstr> Writing a literature review</vt:lpstr>
      <vt:lpstr> Dissertation Structure </vt:lpstr>
      <vt:lpstr>What we mean by “Literature”…</vt:lpstr>
      <vt:lpstr>The literature review:</vt:lpstr>
      <vt:lpstr>The Purpose of a Literature Review</vt:lpstr>
      <vt:lpstr>The literature review is not…</vt:lpstr>
      <vt:lpstr>How do you start?</vt:lpstr>
      <vt:lpstr>Approaching academic reading (discuss what you think)</vt:lpstr>
      <vt:lpstr>Active reading (1)</vt:lpstr>
      <vt:lpstr>How to Read the articles</vt:lpstr>
      <vt:lpstr>PowerPoint Presentation</vt:lpstr>
      <vt:lpstr>How to Organise your Notes</vt:lpstr>
      <vt:lpstr>Noting information down: organisation is key!</vt:lpstr>
      <vt:lpstr>PowerPoint Presentation</vt:lpstr>
      <vt:lpstr>Organising your ideas is important. </vt:lpstr>
      <vt:lpstr>Your literature review should </vt:lpstr>
      <vt:lpstr>An example: A time management app for UEL students…</vt:lpstr>
      <vt:lpstr>Sample literature review structure</vt:lpstr>
      <vt:lpstr>A Possible structure</vt:lpstr>
      <vt:lpstr>Check for clarity and coherence </vt:lpstr>
      <vt:lpstr>PowerPoint Presentation</vt:lpstr>
      <vt:lpstr>Why are the words in red useful?</vt:lpstr>
      <vt:lpstr>PowerPoint Presentation</vt:lpstr>
      <vt:lpstr>Comparing different sources using signifying markers or linking words, enables you to establish a meaningful conversation between the different authors. Does your work flow?</vt:lpstr>
      <vt:lpstr>PowerPoint Presentation</vt:lpstr>
      <vt:lpstr>PowerPoint Presentation</vt:lpstr>
      <vt:lpstr> Using the Manchester Phrasebank </vt:lpstr>
      <vt:lpstr>Some useful phrases for Literature Reviews From the Manchester Phrasebank*</vt:lpstr>
      <vt:lpstr>Use of language: Providing the context </vt:lpstr>
      <vt:lpstr>Use of language: Emphasizing the significance of your work</vt:lpstr>
      <vt:lpstr>Common problems with literature reviews:</vt:lpstr>
      <vt:lpstr>An example  Literature Review</vt:lpstr>
      <vt:lpstr>Final advice </vt:lpstr>
      <vt:lpstr>PowerPoint Presentation</vt:lpstr>
      <vt:lpstr>PowerPoint Presentation</vt:lpstr>
      <vt:lpstr> Apply the test:</vt:lpstr>
      <vt:lpstr>Questions?</vt:lpstr>
      <vt:lpstr>PowerPoint Presentation</vt:lpstr>
      <vt:lpstr>How to find us </vt:lpstr>
      <vt:lpstr>PowerPoint Presentation</vt:lpstr>
      <vt:lpstr>Thanks for listening. Your feedback please: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MS6400 Literature Reviews and Reading Strategies</dc:title>
  <dc:creator>Family Matautia</dc:creator>
  <cp:lastModifiedBy>Angela Manser</cp:lastModifiedBy>
  <cp:revision>166</cp:revision>
  <dcterms:created xsi:type="dcterms:W3CDTF">2020-11-13T14:51:13Z</dcterms:created>
  <dcterms:modified xsi:type="dcterms:W3CDTF">2025-03-12T12:17:47Z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0x010100328BE9E8F1F50747A3063E9FB33061E6</vt:lpwstr>
  </property>
</Properties>
</file>