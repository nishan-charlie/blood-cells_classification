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1.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 id="2147483684" r:id="rId4"/>
    <p:sldMasterId id="2147483696" r:id="rId5"/>
  </p:sldMasterIdLst>
  <p:notesMasterIdLst>
    <p:notesMasterId r:id="rId48"/>
  </p:notesMasterIdLst>
  <p:sldIdLst>
    <p:sldId id="287" r:id="rId6"/>
    <p:sldId id="280" r:id="rId7"/>
    <p:sldId id="312" r:id="rId8"/>
    <p:sldId id="322" r:id="rId9"/>
    <p:sldId id="323" r:id="rId10"/>
    <p:sldId id="324" r:id="rId11"/>
    <p:sldId id="325" r:id="rId12"/>
    <p:sldId id="326" r:id="rId13"/>
    <p:sldId id="327" r:id="rId14"/>
    <p:sldId id="281" r:id="rId15"/>
    <p:sldId id="316" r:id="rId16"/>
    <p:sldId id="282" r:id="rId17"/>
    <p:sldId id="317" r:id="rId18"/>
    <p:sldId id="314" r:id="rId19"/>
    <p:sldId id="266" r:id="rId20"/>
    <p:sldId id="262" r:id="rId21"/>
    <p:sldId id="265" r:id="rId22"/>
    <p:sldId id="307" r:id="rId23"/>
    <p:sldId id="321" r:id="rId24"/>
    <p:sldId id="308" r:id="rId25"/>
    <p:sldId id="328" r:id="rId26"/>
    <p:sldId id="329" r:id="rId27"/>
    <p:sldId id="263" r:id="rId28"/>
    <p:sldId id="283" r:id="rId29"/>
    <p:sldId id="284" r:id="rId30"/>
    <p:sldId id="318" r:id="rId31"/>
    <p:sldId id="319" r:id="rId32"/>
    <p:sldId id="260" r:id="rId33"/>
    <p:sldId id="259" r:id="rId34"/>
    <p:sldId id="268" r:id="rId35"/>
    <p:sldId id="305" r:id="rId36"/>
    <p:sldId id="269" r:id="rId37"/>
    <p:sldId id="276" r:id="rId38"/>
    <p:sldId id="285" r:id="rId39"/>
    <p:sldId id="289" r:id="rId40"/>
    <p:sldId id="320" r:id="rId41"/>
    <p:sldId id="290" r:id="rId42"/>
    <p:sldId id="279" r:id="rId43"/>
    <p:sldId id="291" r:id="rId44"/>
    <p:sldId id="310" r:id="rId45"/>
    <p:sldId id="309" r:id="rId46"/>
    <p:sldId id="286"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73" d="100"/>
          <a:sy n="73" d="100"/>
        </p:scale>
        <p:origin x="1738" y="5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slide" Target="slides/slide21.xml"/><Relationship Id="rId39" Type="http://schemas.openxmlformats.org/officeDocument/2006/relationships/slide" Target="slides/slide34.xml"/><Relationship Id="rId21" Type="http://schemas.openxmlformats.org/officeDocument/2006/relationships/slide" Target="slides/slide16.xml"/><Relationship Id="rId34" Type="http://schemas.openxmlformats.org/officeDocument/2006/relationships/slide" Target="slides/slide29.xml"/><Relationship Id="rId42" Type="http://schemas.openxmlformats.org/officeDocument/2006/relationships/slide" Target="slides/slide37.xml"/><Relationship Id="rId47" Type="http://schemas.openxmlformats.org/officeDocument/2006/relationships/slide" Target="slides/slide42.xml"/><Relationship Id="rId50" Type="http://schemas.openxmlformats.org/officeDocument/2006/relationships/viewProps" Target="viewProps.xml"/><Relationship Id="rId7" Type="http://schemas.openxmlformats.org/officeDocument/2006/relationships/slide" Target="slides/slide2.xml"/><Relationship Id="rId2" Type="http://schemas.openxmlformats.org/officeDocument/2006/relationships/slideMaster" Target="slideMasters/slideMaster2.xml"/><Relationship Id="rId16" Type="http://schemas.openxmlformats.org/officeDocument/2006/relationships/slide" Target="slides/slide11.xml"/><Relationship Id="rId29" Type="http://schemas.openxmlformats.org/officeDocument/2006/relationships/slide" Target="slides/slide24.xml"/><Relationship Id="rId11" Type="http://schemas.openxmlformats.org/officeDocument/2006/relationships/slide" Target="slides/slide6.xml"/><Relationship Id="rId24" Type="http://schemas.openxmlformats.org/officeDocument/2006/relationships/slide" Target="slides/slide19.xml"/><Relationship Id="rId32" Type="http://schemas.openxmlformats.org/officeDocument/2006/relationships/slide" Target="slides/slide27.xml"/><Relationship Id="rId37" Type="http://schemas.openxmlformats.org/officeDocument/2006/relationships/slide" Target="slides/slide32.xml"/><Relationship Id="rId40" Type="http://schemas.openxmlformats.org/officeDocument/2006/relationships/slide" Target="slides/slide35.xml"/><Relationship Id="rId45" Type="http://schemas.openxmlformats.org/officeDocument/2006/relationships/slide" Target="slides/slide40.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presProps" Target="presProps.xml"/><Relationship Id="rId10" Type="http://schemas.openxmlformats.org/officeDocument/2006/relationships/slide" Target="slides/slide5.xml"/><Relationship Id="rId19" Type="http://schemas.openxmlformats.org/officeDocument/2006/relationships/slide" Target="slides/slide14.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notesMaster" Target="notesMasters/notesMaster1.xml"/><Relationship Id="rId8" Type="http://schemas.openxmlformats.org/officeDocument/2006/relationships/slide" Target="slides/slide3.xml"/><Relationship Id="rId51" Type="http://schemas.openxmlformats.org/officeDocument/2006/relationships/theme" Target="theme/theme1.xml"/><Relationship Id="rId3" Type="http://schemas.openxmlformats.org/officeDocument/2006/relationships/slideMaster" Target="slideMasters/slideMaster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20" Type="http://schemas.openxmlformats.org/officeDocument/2006/relationships/slide" Target="slides/slide15.xml"/><Relationship Id="rId41" Type="http://schemas.openxmlformats.org/officeDocument/2006/relationships/slide" Target="slides/slide36.xml"/><Relationship Id="rId1" Type="http://schemas.openxmlformats.org/officeDocument/2006/relationships/slideMaster" Target="slideMasters/slideMaster1.xml"/><Relationship Id="rId6" Type="http://schemas.openxmlformats.org/officeDocument/2006/relationships/slide" Target="slides/slid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384A197-77CC-4607-B352-F9002116EA46}" type="datetimeFigureOut">
              <a:rPr lang="en-US" smtClean="0"/>
              <a:pPr/>
              <a:t>10/19/2020</a:t>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E6DF3A-D143-41B3-B46C-567B977C4EAB}" type="slidenum">
              <a:rPr lang="en-GB" smtClean="0"/>
              <a:pPr/>
              <a:t>‹#›</a:t>
            </a:fld>
            <a:endParaRPr lang="en-GB"/>
          </a:p>
        </p:txBody>
      </p:sp>
    </p:spTree>
    <p:extLst>
      <p:ext uri="{BB962C8B-B14F-4D97-AF65-F5344CB8AC3E}">
        <p14:creationId xmlns:p14="http://schemas.microsoft.com/office/powerpoint/2010/main" val="6529312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9C03CB75-049E-411F-A398-78FE6BE5E82E}" type="slidenum">
              <a:rPr lang="en-US" smtClean="0"/>
              <a:pPr/>
              <a:t>1</a:t>
            </a:fld>
            <a:endParaRPr lang="en-US"/>
          </a:p>
        </p:txBody>
      </p:sp>
    </p:spTree>
    <p:extLst>
      <p:ext uri="{BB962C8B-B14F-4D97-AF65-F5344CB8AC3E}">
        <p14:creationId xmlns:p14="http://schemas.microsoft.com/office/powerpoint/2010/main" val="10735891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a:t>
            </a:fld>
            <a:endParaRPr lang="en-GB"/>
          </a:p>
        </p:txBody>
      </p:sp>
    </p:spTree>
    <p:extLst>
      <p:ext uri="{BB962C8B-B14F-4D97-AF65-F5344CB8AC3E}">
        <p14:creationId xmlns:p14="http://schemas.microsoft.com/office/powerpoint/2010/main" val="183698804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10</a:t>
            </a:fld>
            <a:endParaRPr lang="en-GB"/>
          </a:p>
        </p:txBody>
      </p:sp>
    </p:spTree>
    <p:extLst>
      <p:ext uri="{BB962C8B-B14F-4D97-AF65-F5344CB8AC3E}">
        <p14:creationId xmlns:p14="http://schemas.microsoft.com/office/powerpoint/2010/main" val="40997279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12</a:t>
            </a:fld>
            <a:endParaRPr lang="en-GB"/>
          </a:p>
        </p:txBody>
      </p:sp>
    </p:spTree>
    <p:extLst>
      <p:ext uri="{BB962C8B-B14F-4D97-AF65-F5344CB8AC3E}">
        <p14:creationId xmlns:p14="http://schemas.microsoft.com/office/powerpoint/2010/main" val="8415227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solidFill>
                  <a:prstClr val="black"/>
                </a:solidFill>
              </a:rPr>
              <a:pPr/>
              <a:t>13</a:t>
            </a:fld>
            <a:endParaRPr lang="en-GB">
              <a:solidFill>
                <a:prstClr val="black"/>
              </a:solidFill>
            </a:endParaRPr>
          </a:p>
        </p:txBody>
      </p:sp>
    </p:spTree>
    <p:extLst>
      <p:ext uri="{BB962C8B-B14F-4D97-AF65-F5344CB8AC3E}">
        <p14:creationId xmlns:p14="http://schemas.microsoft.com/office/powerpoint/2010/main" val="38722949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15</a:t>
            </a:fld>
            <a:endParaRPr lang="en-GB"/>
          </a:p>
        </p:txBody>
      </p:sp>
    </p:spTree>
    <p:extLst>
      <p:ext uri="{BB962C8B-B14F-4D97-AF65-F5344CB8AC3E}">
        <p14:creationId xmlns:p14="http://schemas.microsoft.com/office/powerpoint/2010/main" val="39621424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16</a:t>
            </a:fld>
            <a:endParaRPr lang="en-GB"/>
          </a:p>
        </p:txBody>
      </p:sp>
    </p:spTree>
    <p:extLst>
      <p:ext uri="{BB962C8B-B14F-4D97-AF65-F5344CB8AC3E}">
        <p14:creationId xmlns:p14="http://schemas.microsoft.com/office/powerpoint/2010/main" val="13906959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17</a:t>
            </a:fld>
            <a:endParaRPr lang="en-GB"/>
          </a:p>
        </p:txBody>
      </p:sp>
    </p:spTree>
    <p:extLst>
      <p:ext uri="{BB962C8B-B14F-4D97-AF65-F5344CB8AC3E}">
        <p14:creationId xmlns:p14="http://schemas.microsoft.com/office/powerpoint/2010/main" val="536207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18</a:t>
            </a:fld>
            <a:endParaRPr lang="en-GB"/>
          </a:p>
        </p:txBody>
      </p:sp>
    </p:spTree>
    <p:extLst>
      <p:ext uri="{BB962C8B-B14F-4D97-AF65-F5344CB8AC3E}">
        <p14:creationId xmlns:p14="http://schemas.microsoft.com/office/powerpoint/2010/main" val="367228678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20</a:t>
            </a:fld>
            <a:endParaRPr lang="en-GB"/>
          </a:p>
        </p:txBody>
      </p:sp>
    </p:spTree>
    <p:extLst>
      <p:ext uri="{BB962C8B-B14F-4D97-AF65-F5344CB8AC3E}">
        <p14:creationId xmlns:p14="http://schemas.microsoft.com/office/powerpoint/2010/main" val="34013899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23</a:t>
            </a:fld>
            <a:endParaRPr lang="en-GB"/>
          </a:p>
        </p:txBody>
      </p:sp>
    </p:spTree>
    <p:extLst>
      <p:ext uri="{BB962C8B-B14F-4D97-AF65-F5344CB8AC3E}">
        <p14:creationId xmlns:p14="http://schemas.microsoft.com/office/powerpoint/2010/main" val="5949228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24</a:t>
            </a:fld>
            <a:endParaRPr lang="en-GB"/>
          </a:p>
        </p:txBody>
      </p:sp>
    </p:spTree>
    <p:extLst>
      <p:ext uri="{BB962C8B-B14F-4D97-AF65-F5344CB8AC3E}">
        <p14:creationId xmlns:p14="http://schemas.microsoft.com/office/powerpoint/2010/main" val="364866290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25</a:t>
            </a:fld>
            <a:endParaRPr lang="en-GB"/>
          </a:p>
        </p:txBody>
      </p:sp>
    </p:spTree>
    <p:extLst>
      <p:ext uri="{BB962C8B-B14F-4D97-AF65-F5344CB8AC3E}">
        <p14:creationId xmlns:p14="http://schemas.microsoft.com/office/powerpoint/2010/main" val="16715793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28</a:t>
            </a:fld>
            <a:endParaRPr lang="en-GB"/>
          </a:p>
        </p:txBody>
      </p:sp>
    </p:spTree>
    <p:extLst>
      <p:ext uri="{BB962C8B-B14F-4D97-AF65-F5344CB8AC3E}">
        <p14:creationId xmlns:p14="http://schemas.microsoft.com/office/powerpoint/2010/main" val="36557693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29</a:t>
            </a:fld>
            <a:endParaRPr lang="en-GB"/>
          </a:p>
        </p:txBody>
      </p:sp>
    </p:spTree>
    <p:extLst>
      <p:ext uri="{BB962C8B-B14F-4D97-AF65-F5344CB8AC3E}">
        <p14:creationId xmlns:p14="http://schemas.microsoft.com/office/powerpoint/2010/main" val="25020134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30</a:t>
            </a:fld>
            <a:endParaRPr lang="en-GB"/>
          </a:p>
        </p:txBody>
      </p:sp>
    </p:spTree>
    <p:extLst>
      <p:ext uri="{BB962C8B-B14F-4D97-AF65-F5344CB8AC3E}">
        <p14:creationId xmlns:p14="http://schemas.microsoft.com/office/powerpoint/2010/main" val="411021421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31</a:t>
            </a:fld>
            <a:endParaRPr lang="en-GB"/>
          </a:p>
        </p:txBody>
      </p:sp>
    </p:spTree>
    <p:extLst>
      <p:ext uri="{BB962C8B-B14F-4D97-AF65-F5344CB8AC3E}">
        <p14:creationId xmlns:p14="http://schemas.microsoft.com/office/powerpoint/2010/main" val="47404377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32</a:t>
            </a:fld>
            <a:endParaRPr lang="en-GB"/>
          </a:p>
        </p:txBody>
      </p:sp>
    </p:spTree>
    <p:extLst>
      <p:ext uri="{BB962C8B-B14F-4D97-AF65-F5344CB8AC3E}">
        <p14:creationId xmlns:p14="http://schemas.microsoft.com/office/powerpoint/2010/main" val="1332590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33</a:t>
            </a:fld>
            <a:endParaRPr lang="en-GB"/>
          </a:p>
        </p:txBody>
      </p:sp>
    </p:spTree>
    <p:extLst>
      <p:ext uri="{BB962C8B-B14F-4D97-AF65-F5344CB8AC3E}">
        <p14:creationId xmlns:p14="http://schemas.microsoft.com/office/powerpoint/2010/main" val="263210403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34</a:t>
            </a:fld>
            <a:endParaRPr lang="en-GB"/>
          </a:p>
        </p:txBody>
      </p:sp>
    </p:spTree>
    <p:extLst>
      <p:ext uri="{BB962C8B-B14F-4D97-AF65-F5344CB8AC3E}">
        <p14:creationId xmlns:p14="http://schemas.microsoft.com/office/powerpoint/2010/main" val="41503816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35</a:t>
            </a:fld>
            <a:endParaRPr lang="en-GB"/>
          </a:p>
        </p:txBody>
      </p:sp>
    </p:spTree>
    <p:extLst>
      <p:ext uri="{BB962C8B-B14F-4D97-AF65-F5344CB8AC3E}">
        <p14:creationId xmlns:p14="http://schemas.microsoft.com/office/powerpoint/2010/main" val="216075046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37</a:t>
            </a:fld>
            <a:endParaRPr lang="en-GB"/>
          </a:p>
        </p:txBody>
      </p:sp>
    </p:spTree>
    <p:extLst>
      <p:ext uri="{BB962C8B-B14F-4D97-AF65-F5344CB8AC3E}">
        <p14:creationId xmlns:p14="http://schemas.microsoft.com/office/powerpoint/2010/main" val="18128342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F2DA912-8BC4-4E53-9EF4-5FCAEDFE82CE}" type="slidenum">
              <a:rPr lang="en-GB" smtClean="0"/>
              <a:pPr/>
              <a:t>38</a:t>
            </a:fld>
            <a:endParaRPr lang="en-GB"/>
          </a:p>
        </p:txBody>
      </p:sp>
    </p:spTree>
    <p:extLst>
      <p:ext uri="{BB962C8B-B14F-4D97-AF65-F5344CB8AC3E}">
        <p14:creationId xmlns:p14="http://schemas.microsoft.com/office/powerpoint/2010/main" val="312772883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39</a:t>
            </a:fld>
            <a:endParaRPr lang="en-GB"/>
          </a:p>
        </p:txBody>
      </p:sp>
    </p:spTree>
    <p:extLst>
      <p:ext uri="{BB962C8B-B14F-4D97-AF65-F5344CB8AC3E}">
        <p14:creationId xmlns:p14="http://schemas.microsoft.com/office/powerpoint/2010/main" val="3002031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41</a:t>
            </a:fld>
            <a:endParaRPr lang="en-GB"/>
          </a:p>
        </p:txBody>
      </p:sp>
    </p:spTree>
    <p:extLst>
      <p:ext uri="{BB962C8B-B14F-4D97-AF65-F5344CB8AC3E}">
        <p14:creationId xmlns:p14="http://schemas.microsoft.com/office/powerpoint/2010/main" val="419547057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DAE6DF3A-D143-41B3-B46C-567B977C4EAB}" type="slidenum">
              <a:rPr lang="en-GB" smtClean="0"/>
              <a:pPr/>
              <a:t>42</a:t>
            </a:fld>
            <a:endParaRPr lang="en-GB"/>
          </a:p>
        </p:txBody>
      </p:sp>
    </p:spTree>
    <p:extLst>
      <p:ext uri="{BB962C8B-B14F-4D97-AF65-F5344CB8AC3E}">
        <p14:creationId xmlns:p14="http://schemas.microsoft.com/office/powerpoint/2010/main" val="176866439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GB"/>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4"/>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6"/>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78009BF2-7E8B-41E9-9726-7957ADD848E7}" type="datetimeFigureOut">
              <a:rPr lang="en-US" smtClean="0"/>
              <a:pPr/>
              <a:t>10/19/2020</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F8DB5256-8C8A-4648-B414-85DC3AB5B768}" type="slidenum">
              <a:rPr lang="en-GB" smtClean="0"/>
              <a:pPr/>
              <a:t>‹#›</a:t>
            </a:fld>
            <a:endParaRPr lang="en-GB"/>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270863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79574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2425266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909324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490063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94155103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66937599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4494919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0086654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9283881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27802739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77588399"/>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5504255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6257590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2474966"/>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723280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85971894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22350102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467013103"/>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06296535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01671588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2037845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370085284"/>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67625406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3344133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15563268"/>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3259533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77911194"/>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4713483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GB"/>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1442087934"/>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72034974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42572744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29732056"/>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7"/>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2321469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55921675"/>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2"/>
            <a:ext cx="7772400" cy="1362075"/>
          </a:xfrm>
        </p:spPr>
        <p:txBody>
          <a:bodyPr anchor="t"/>
          <a:lstStyle>
            <a:lvl1pPr algn="l">
              <a:defRPr sz="3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09732695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2"/>
            <a:ext cx="4038600" cy="4525963"/>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287057749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6" y="1535113"/>
            <a:ext cx="4041775" cy="63976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GB"/>
              <a:t>Click to edit Master text styles</a:t>
            </a:r>
          </a:p>
        </p:txBody>
      </p:sp>
      <p:sp>
        <p:nvSpPr>
          <p:cNvPr id="6" name="Content Placeholder 5"/>
          <p:cNvSpPr>
            <a:spLocks noGrp="1"/>
          </p:cNvSpPr>
          <p:nvPr>
            <p:ph sz="quarter" idx="4"/>
          </p:nvPr>
        </p:nvSpPr>
        <p:spPr>
          <a:xfrm>
            <a:off x="4645026" y="2174875"/>
            <a:ext cx="4041775" cy="3951288"/>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8" name="Footer Placeholder 7"/>
          <p:cNvSpPr>
            <a:spLocks noGrp="1"/>
          </p:cNvSpPr>
          <p:nvPr>
            <p:ph type="ftr" sz="quarter" idx="11"/>
          </p:nvPr>
        </p:nvSpPr>
        <p:spPr/>
        <p:txBody>
          <a:bodyPr/>
          <a:lstStyle/>
          <a:p>
            <a:endParaRPr lang="en-US">
              <a:solidFill>
                <a:prstClr val="black">
                  <a:tint val="75000"/>
                </a:prstClr>
              </a:solidFill>
            </a:endParaRPr>
          </a:p>
        </p:txBody>
      </p:sp>
      <p:sp>
        <p:nvSpPr>
          <p:cNvPr id="9" name="Slide Number Placeholder 8"/>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4180189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4" name="Footer Placeholder 3"/>
          <p:cNvSpPr>
            <a:spLocks noGrp="1"/>
          </p:cNvSpPr>
          <p:nvPr>
            <p:ph type="ftr" sz="quarter" idx="11"/>
          </p:nvPr>
        </p:nvSpPr>
        <p:spPr/>
        <p:txBody>
          <a:bodyPr/>
          <a:lstStyle/>
          <a:p>
            <a:endParaRPr lang="en-US">
              <a:solidFill>
                <a:prstClr val="black">
                  <a:tint val="75000"/>
                </a:prstClr>
              </a:solidFill>
            </a:endParaRPr>
          </a:p>
        </p:txBody>
      </p:sp>
      <p:sp>
        <p:nvSpPr>
          <p:cNvPr id="5" name="Slide Number Placeholder 4"/>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87657702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3" name="Footer Placeholder 2"/>
          <p:cNvSpPr>
            <a:spLocks noGrp="1"/>
          </p:cNvSpPr>
          <p:nvPr>
            <p:ph type="ftr" sz="quarter" idx="11"/>
          </p:nvPr>
        </p:nvSpPr>
        <p:spPr/>
        <p:txBody>
          <a:bodyPr/>
          <a:lstStyle/>
          <a:p>
            <a:endParaRPr lang="en-US">
              <a:solidFill>
                <a:prstClr val="black">
                  <a:tint val="75000"/>
                </a:prstClr>
              </a:solidFill>
            </a:endParaRPr>
          </a:p>
        </p:txBody>
      </p:sp>
      <p:sp>
        <p:nvSpPr>
          <p:cNvPr id="4" name="Slide Number Placeholder 3"/>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56178770"/>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73050"/>
            <a:ext cx="3008313" cy="1162050"/>
          </a:xfrm>
        </p:spPr>
        <p:txBody>
          <a:bodyPr anchor="b"/>
          <a:lstStyle>
            <a:lvl1pPr algn="l">
              <a:defRPr sz="1500" b="1"/>
            </a:lvl1pPr>
          </a:lstStyle>
          <a:p>
            <a:r>
              <a:rPr lang="en-GB"/>
              <a:t>Click to edit Master title style</a:t>
            </a:r>
            <a:endParaRPr lang="en-US"/>
          </a:p>
        </p:txBody>
      </p:sp>
      <p:sp>
        <p:nvSpPr>
          <p:cNvPr id="3" name="Content Placeholder 2"/>
          <p:cNvSpPr>
            <a:spLocks noGrp="1"/>
          </p:cNvSpPr>
          <p:nvPr>
            <p:ph idx="1"/>
          </p:nvPr>
        </p:nvSpPr>
        <p:spPr>
          <a:xfrm>
            <a:off x="3575050" y="273052"/>
            <a:ext cx="5111750" cy="5853113"/>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1" y="1435102"/>
            <a:ext cx="3008313" cy="4691063"/>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760320634"/>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15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GB"/>
              <a:t>Click to edit Master text styles</a:t>
            </a:r>
          </a:p>
        </p:txBody>
      </p:sp>
      <p:sp>
        <p:nvSpPr>
          <p:cNvPr id="5" name="Date Placeholder 4"/>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6" name="Footer Placeholder 5"/>
          <p:cNvSpPr>
            <a:spLocks noGrp="1"/>
          </p:cNvSpPr>
          <p:nvPr>
            <p:ph type="ftr" sz="quarter" idx="11"/>
          </p:nvPr>
        </p:nvSpPr>
        <p:spPr/>
        <p:txBody>
          <a:bodyPr/>
          <a:lstStyle/>
          <a:p>
            <a:endParaRPr lang="en-US">
              <a:solidFill>
                <a:prstClr val="black">
                  <a:tint val="75000"/>
                </a:prstClr>
              </a:solidFill>
            </a:endParaRPr>
          </a:p>
        </p:txBody>
      </p:sp>
      <p:sp>
        <p:nvSpPr>
          <p:cNvPr id="7" name="Slide Number Placeholder 6"/>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904094752"/>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92600396"/>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40"/>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40"/>
            <a:ext cx="60198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B5341DAD-D8F0-7E41-8B97-095B132868AF}" type="datetimeFigureOut">
              <a:rPr lang="en-US" smtClean="0">
                <a:solidFill>
                  <a:prstClr val="black">
                    <a:tint val="75000"/>
                  </a:prstClr>
                </a:solidFill>
              </a:rPr>
              <a:pPr/>
              <a:t>10/19/2020</a:t>
            </a:fld>
            <a:endParaRPr lang="en-US">
              <a:solidFill>
                <a:prstClr val="black">
                  <a:tint val="75000"/>
                </a:prstClr>
              </a:solidFill>
            </a:endParaRPr>
          </a:p>
        </p:txBody>
      </p:sp>
      <p:sp>
        <p:nvSpPr>
          <p:cNvPr id="5" name="Footer Placeholder 4"/>
          <p:cNvSpPr>
            <a:spLocks noGrp="1"/>
          </p:cNvSpPr>
          <p:nvPr>
            <p:ph type="ftr" sz="quarter" idx="11"/>
          </p:nvPr>
        </p:nvSpPr>
        <p:spPr/>
        <p:txBody>
          <a:bodyPr/>
          <a:lstStyle/>
          <a:p>
            <a:endParaRPr lang="en-US">
              <a:solidFill>
                <a:prstClr val="black">
                  <a:tint val="75000"/>
                </a:prstClr>
              </a:solidFill>
            </a:endParaRPr>
          </a:p>
        </p:txBody>
      </p:sp>
      <p:sp>
        <p:nvSpPr>
          <p:cNvPr id="6" name="Slide Number Placeholder 5"/>
          <p:cNvSpPr>
            <a:spLocks noGrp="1"/>
          </p:cNvSpPr>
          <p:nvPr>
            <p:ph type="sldNum" sz="quarter" idx="12"/>
          </p:nvPr>
        </p:nvSpPr>
        <p:spPr/>
        <p:txBody>
          <a:bodyPr/>
          <a:lstStyle/>
          <a:p>
            <a:fld id="{FE681DFA-A385-5E46-92C4-F0D3E24948D4}" type="slidenum">
              <a:rPr lang="en-US" smtClean="0">
                <a:solidFill>
                  <a:prstClr val="black">
                    <a:tint val="75000"/>
                  </a:prstClr>
                </a:solidFill>
              </a:rPr>
              <a:pPr/>
              <a:t>‹#›</a:t>
            </a:fld>
            <a:endParaRPr lang="en-US">
              <a:solidFill>
                <a:prstClr val="black">
                  <a:tint val="75000"/>
                </a:prstClr>
              </a:solidFill>
            </a:endParaRPr>
          </a:p>
        </p:txBody>
      </p:sp>
    </p:spTree>
    <p:extLst>
      <p:ext uri="{BB962C8B-B14F-4D97-AF65-F5344CB8AC3E}">
        <p14:creationId xmlns:p14="http://schemas.microsoft.com/office/powerpoint/2010/main" val="36739145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slideLayout" Target="../slideLayouts/slideLayout47.xml"/><Relationship Id="rId7" Type="http://schemas.openxmlformats.org/officeDocument/2006/relationships/slideLayout" Target="../slideLayouts/slideLayout51.xml"/><Relationship Id="rId12" Type="http://schemas.openxmlformats.org/officeDocument/2006/relationships/theme" Target="../theme/theme5.xml"/><Relationship Id="rId2" Type="http://schemas.openxmlformats.org/officeDocument/2006/relationships/slideLayout" Target="../slideLayouts/slideLayout46.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5" Type="http://schemas.openxmlformats.org/officeDocument/2006/relationships/slideLayout" Target="../slideLayouts/slideLayout49.xml"/><Relationship Id="rId10" Type="http://schemas.openxmlformats.org/officeDocument/2006/relationships/slideLayout" Target="../slideLayouts/slideLayout54.xml"/><Relationship Id="rId4" Type="http://schemas.openxmlformats.org/officeDocument/2006/relationships/slideLayout" Target="../slideLayouts/slideLayout48.xml"/><Relationship Id="rId9" Type="http://schemas.openxmlformats.org/officeDocument/2006/relationships/slideLayout" Target="../slideLayouts/slideLayout5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8009BF2-7E8B-41E9-9726-7957ADD848E7}" type="datetimeFigureOut">
              <a:rPr lang="en-US" smtClean="0"/>
              <a:pPr/>
              <a:t>10/19/2020</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8DB5256-8C8A-4648-B414-85DC3AB5B768}" type="slidenum">
              <a:rPr lang="en-GB" smtClean="0"/>
              <a:pPr/>
              <a:t>‹#›</a:t>
            </a:fld>
            <a:endParaRPr lang="en-GB"/>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B5341DAD-D8F0-7E41-8B97-095B132868AF}" type="datetimeFigureOut">
              <a:rPr lang="en-US" smtClean="0">
                <a:solidFill>
                  <a:prstClr val="black">
                    <a:tint val="75000"/>
                  </a:prstClr>
                </a:solidFill>
              </a:rPr>
              <a:pPr defTabSz="457200"/>
              <a:t>10/19/2020</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FE681DFA-A385-5E46-92C4-F0D3E24948D4}" type="slidenum">
              <a:rPr lang="en-US" smtClean="0">
                <a:solidFill>
                  <a:prstClr val="black">
                    <a:tint val="75000"/>
                  </a:prstClr>
                </a:solidFill>
              </a:rPr>
              <a:pPr defTabSz="457200"/>
              <a:t>‹#›</a:t>
            </a:fld>
            <a:endParaRPr lang="en-US">
              <a:solidFill>
                <a:prstClr val="black">
                  <a:tint val="75000"/>
                </a:prstClr>
              </a:solidFill>
            </a:endParaRPr>
          </a:p>
        </p:txBody>
      </p:sp>
    </p:spTree>
    <p:extLst>
      <p:ext uri="{BB962C8B-B14F-4D97-AF65-F5344CB8AC3E}">
        <p14:creationId xmlns:p14="http://schemas.microsoft.com/office/powerpoint/2010/main" val="336195123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defTabSz="457200"/>
            <a:fld id="{B5341DAD-D8F0-7E41-8B97-095B132868AF}" type="datetimeFigureOut">
              <a:rPr lang="en-US" smtClean="0">
                <a:solidFill>
                  <a:prstClr val="black">
                    <a:tint val="75000"/>
                  </a:prstClr>
                </a:solidFill>
              </a:rPr>
              <a:pPr defTabSz="457200"/>
              <a:t>10/19/2020</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defTabSz="4572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defTabSz="457200"/>
            <a:fld id="{FE681DFA-A385-5E46-92C4-F0D3E24948D4}" type="slidenum">
              <a:rPr lang="en-US" smtClean="0">
                <a:solidFill>
                  <a:prstClr val="black">
                    <a:tint val="75000"/>
                  </a:prstClr>
                </a:solidFill>
              </a:rPr>
              <a:pPr defTabSz="457200"/>
              <a:t>‹#›</a:t>
            </a:fld>
            <a:endParaRPr lang="en-US">
              <a:solidFill>
                <a:prstClr val="black">
                  <a:tint val="75000"/>
                </a:prstClr>
              </a:solidFill>
            </a:endParaRPr>
          </a:p>
        </p:txBody>
      </p:sp>
    </p:spTree>
    <p:extLst>
      <p:ext uri="{BB962C8B-B14F-4D97-AF65-F5344CB8AC3E}">
        <p14:creationId xmlns:p14="http://schemas.microsoft.com/office/powerpoint/2010/main" val="3280893230"/>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342900"/>
            <a:fld id="{B5341DAD-D8F0-7E41-8B97-095B132868AF}" type="datetimeFigureOut">
              <a:rPr lang="en-US" smtClean="0">
                <a:solidFill>
                  <a:prstClr val="black">
                    <a:tint val="75000"/>
                  </a:prstClr>
                </a:solidFill>
              </a:rPr>
              <a:pPr defTabSz="342900"/>
              <a:t>10/19/2020</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3429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342900"/>
            <a:fld id="{FE681DFA-A385-5E46-92C4-F0D3E24948D4}" type="slidenum">
              <a:rPr lang="en-US" smtClean="0">
                <a:solidFill>
                  <a:prstClr val="black">
                    <a:tint val="75000"/>
                  </a:prstClr>
                </a:solidFill>
              </a:rPr>
              <a:pPr defTabSz="342900"/>
              <a:t>‹#›</a:t>
            </a:fld>
            <a:endParaRPr lang="en-US">
              <a:solidFill>
                <a:prstClr val="black">
                  <a:tint val="75000"/>
                </a:prstClr>
              </a:solidFill>
            </a:endParaRPr>
          </a:p>
        </p:txBody>
      </p:sp>
    </p:spTree>
    <p:extLst>
      <p:ext uri="{BB962C8B-B14F-4D97-AF65-F5344CB8AC3E}">
        <p14:creationId xmlns:p14="http://schemas.microsoft.com/office/powerpoint/2010/main" val="959056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457200" y="1600202"/>
            <a:ext cx="8229600" cy="4525963"/>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457200" y="6356352"/>
            <a:ext cx="2133600" cy="365125"/>
          </a:xfrm>
          <a:prstGeom prst="rect">
            <a:avLst/>
          </a:prstGeom>
        </p:spPr>
        <p:txBody>
          <a:bodyPr vert="horz" lIns="91440" tIns="45720" rIns="91440" bIns="45720" rtlCol="0" anchor="ctr"/>
          <a:lstStyle>
            <a:lvl1pPr algn="l">
              <a:defRPr sz="900">
                <a:solidFill>
                  <a:schemeClr val="tx1">
                    <a:tint val="75000"/>
                  </a:schemeClr>
                </a:solidFill>
              </a:defRPr>
            </a:lvl1pPr>
          </a:lstStyle>
          <a:p>
            <a:pPr defTabSz="342900"/>
            <a:fld id="{B5341DAD-D8F0-7E41-8B97-095B132868AF}" type="datetimeFigureOut">
              <a:rPr lang="en-US" smtClean="0">
                <a:solidFill>
                  <a:prstClr val="black">
                    <a:tint val="75000"/>
                  </a:prstClr>
                </a:solidFill>
              </a:rPr>
              <a:pPr defTabSz="342900"/>
              <a:t>10/19/2020</a:t>
            </a:fld>
            <a:endParaRPr lang="en-US">
              <a:solidFill>
                <a:prstClr val="black">
                  <a:tint val="75000"/>
                </a:prstClr>
              </a:solidFill>
            </a:endParaRPr>
          </a:p>
        </p:txBody>
      </p:sp>
      <p:sp>
        <p:nvSpPr>
          <p:cNvPr id="5" name="Footer Placeholder 4"/>
          <p:cNvSpPr>
            <a:spLocks noGrp="1"/>
          </p:cNvSpPr>
          <p:nvPr>
            <p:ph type="ftr" sz="quarter" idx="3"/>
          </p:nvPr>
        </p:nvSpPr>
        <p:spPr>
          <a:xfrm>
            <a:off x="3124200" y="6356352"/>
            <a:ext cx="28956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pPr defTabSz="342900"/>
            <a:endParaRPr lang="en-US">
              <a:solidFill>
                <a:prstClr val="black">
                  <a:tint val="75000"/>
                </a:prstClr>
              </a:solidFill>
            </a:endParaRPr>
          </a:p>
        </p:txBody>
      </p:sp>
      <p:sp>
        <p:nvSpPr>
          <p:cNvPr id="6" name="Slide Number Placeholder 5"/>
          <p:cNvSpPr>
            <a:spLocks noGrp="1"/>
          </p:cNvSpPr>
          <p:nvPr>
            <p:ph type="sldNum" sz="quarter" idx="4"/>
          </p:nvPr>
        </p:nvSpPr>
        <p:spPr>
          <a:xfrm>
            <a:off x="6553200" y="6356352"/>
            <a:ext cx="2133600" cy="365125"/>
          </a:xfrm>
          <a:prstGeom prst="rect">
            <a:avLst/>
          </a:prstGeom>
        </p:spPr>
        <p:txBody>
          <a:bodyPr vert="horz" lIns="91440" tIns="45720" rIns="91440" bIns="45720" rtlCol="0" anchor="ctr"/>
          <a:lstStyle>
            <a:lvl1pPr algn="r">
              <a:defRPr sz="900">
                <a:solidFill>
                  <a:schemeClr val="tx1">
                    <a:tint val="75000"/>
                  </a:schemeClr>
                </a:solidFill>
              </a:defRPr>
            </a:lvl1pPr>
          </a:lstStyle>
          <a:p>
            <a:pPr defTabSz="342900"/>
            <a:fld id="{FE681DFA-A385-5E46-92C4-F0D3E24948D4}" type="slidenum">
              <a:rPr lang="en-US" smtClean="0">
                <a:solidFill>
                  <a:prstClr val="black">
                    <a:tint val="75000"/>
                  </a:prstClr>
                </a:solidFill>
              </a:rPr>
              <a:pPr defTabSz="342900"/>
              <a:t>‹#›</a:t>
            </a:fld>
            <a:endParaRPr lang="en-US">
              <a:solidFill>
                <a:prstClr val="black">
                  <a:tint val="75000"/>
                </a:prstClr>
              </a:solidFill>
            </a:endParaRPr>
          </a:p>
        </p:txBody>
      </p:sp>
    </p:spTree>
    <p:extLst>
      <p:ext uri="{BB962C8B-B14F-4D97-AF65-F5344CB8AC3E}">
        <p14:creationId xmlns:p14="http://schemas.microsoft.com/office/powerpoint/2010/main" val="1183720079"/>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a:buChar char="•"/>
        <a:defRPr sz="2400" kern="1200">
          <a:solidFill>
            <a:schemeClr val="tx1"/>
          </a:solidFill>
          <a:latin typeface="+mn-lt"/>
          <a:ea typeface="+mn-ea"/>
          <a:cs typeface="+mn-cs"/>
        </a:defRPr>
      </a:lvl1pPr>
      <a:lvl2pPr marL="557213" indent="-214313" algn="l" defTabSz="342900" rtl="0" eaLnBrk="1" latinLnBrk="0" hangingPunct="1">
        <a:spcBef>
          <a:spcPct val="20000"/>
        </a:spcBef>
        <a:buFont typeface="Arial"/>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a:buChar char="•"/>
        <a:defRPr sz="1500" kern="1200">
          <a:solidFill>
            <a:schemeClr val="tx1"/>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0.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6.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46.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hyperlink" Target="https://www.google.co.uk/maps/@52.7222303,-1.7373131,14.25z"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www.gardenvisit.com/history_theory/library_online_ebooks/architecture_city_as_landscape/review_parc_de_la_villette_tom_turner" TargetMode="External"/><Relationship Id="rId5" Type="http://schemas.openxmlformats.org/officeDocument/2006/relationships/hyperlink" Target="http://www.pps.org/great_public_spaces/one?public_place_id=369" TargetMode="External"/><Relationship Id="rId4" Type="http://schemas.openxmlformats.org/officeDocument/2006/relationships/hyperlink" Target="http://www.hargreaves.com/firm/Philosophy/" TargetMode="External"/></Relationships>
</file>

<file path=ppt/slides/_rels/slide39.xml.rels><?xml version="1.0" encoding="UTF-8" standalone="yes"?>
<Relationships xmlns="http://schemas.openxmlformats.org/package/2006/relationships"><Relationship Id="rId3" Type="http://schemas.openxmlformats.org/officeDocument/2006/relationships/hyperlink" Target="http://www.uel.ac.uk/" TargetMode="External"/><Relationship Id="rId2" Type="http://schemas.openxmlformats.org/officeDocument/2006/relationships/notesSlide" Target="../notesSlides/notesSlide24.xml"/><Relationship Id="rId1" Type="http://schemas.openxmlformats.org/officeDocument/2006/relationships/slideLayout" Target="../slideLayouts/slideLayout2.xml"/><Relationship Id="rId5" Type="http://schemas.openxmlformats.org/officeDocument/2006/relationships/hyperlink" Target="http://www.citethemrightonline.com/Home" TargetMode="External"/><Relationship Id="rId4" Type="http://schemas.openxmlformats.org/officeDocument/2006/relationships/image" Target="../media/image15.png"/></Relationships>
</file>

<file path=ppt/slides/_rels/slide40.xml.rels><?xml version="1.0" encoding="UTF-8" standalone="yes"?>
<Relationships xmlns="http://schemas.openxmlformats.org/package/2006/relationships"><Relationship Id="rId2" Type="http://schemas.openxmlformats.org/officeDocument/2006/relationships/hyperlink" Target="https://www.citethemrightonline.com/Basics/setting-out-citations" TargetMode="Externa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hyperlink" Target="http://www.citethemrightonline.com/Hom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17.gi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p:cNvSpPr/>
          <p:nvPr/>
        </p:nvSpPr>
        <p:spPr>
          <a:xfrm>
            <a:off x="539552" y="1556792"/>
            <a:ext cx="8280920" cy="3528392"/>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ctrTitle"/>
          </p:nvPr>
        </p:nvSpPr>
        <p:spPr/>
        <p:txBody>
          <a:bodyPr/>
          <a:lstStyle/>
          <a:p>
            <a:r>
              <a:rPr lang="en-GB" dirty="0">
                <a:solidFill>
                  <a:schemeClr val="bg1"/>
                </a:solidFill>
              </a:rPr>
              <a:t>Referencing and Bibliographies </a:t>
            </a:r>
            <a:endParaRPr lang="en-US" dirty="0"/>
          </a:p>
        </p:txBody>
      </p:sp>
      <p:sp>
        <p:nvSpPr>
          <p:cNvPr id="3" name="Subtitle 2"/>
          <p:cNvSpPr>
            <a:spLocks noGrp="1"/>
          </p:cNvSpPr>
          <p:nvPr>
            <p:ph type="subTitle" idx="1"/>
          </p:nvPr>
        </p:nvSpPr>
        <p:spPr>
          <a:xfrm>
            <a:off x="971600" y="4005064"/>
            <a:ext cx="7304856" cy="1752600"/>
          </a:xfrm>
        </p:spPr>
        <p:txBody>
          <a:bodyPr/>
          <a:lstStyle/>
          <a:p>
            <a:r>
              <a:rPr lang="en-US" dirty="0">
                <a:solidFill>
                  <a:schemeClr val="bg1"/>
                </a:solidFill>
              </a:rPr>
              <a:t>Mark </a:t>
            </a:r>
            <a:r>
              <a:rPr lang="en-US" dirty="0" err="1">
                <a:solidFill>
                  <a:schemeClr val="bg1"/>
                </a:solidFill>
              </a:rPr>
              <a:t>Unwin</a:t>
            </a:r>
            <a:endParaRPr lang="en-US" dirty="0">
              <a:solidFill>
                <a:schemeClr val="bg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99592" y="692696"/>
            <a:ext cx="7632848" cy="4247317"/>
          </a:xfrm>
          <a:prstGeom prst="rect">
            <a:avLst/>
          </a:prstGeom>
          <a:noFill/>
        </p:spPr>
        <p:txBody>
          <a:bodyPr wrap="square" rtlCol="0">
            <a:spAutoFit/>
          </a:bodyPr>
          <a:lstStyle/>
          <a:p>
            <a:r>
              <a:rPr lang="en-GB" sz="3600" b="1" dirty="0"/>
              <a:t>Citation</a:t>
            </a:r>
          </a:p>
          <a:p>
            <a:r>
              <a:rPr lang="en-GB" dirty="0"/>
              <a:t> </a:t>
            </a:r>
          </a:p>
          <a:p>
            <a:r>
              <a:rPr lang="en-GB" dirty="0"/>
              <a:t>Means referring to sources</a:t>
            </a:r>
          </a:p>
          <a:p>
            <a:r>
              <a:rPr lang="en-GB" dirty="0"/>
              <a:t>in your work:</a:t>
            </a:r>
          </a:p>
          <a:p>
            <a:endParaRPr lang="en-GB" dirty="0"/>
          </a:p>
          <a:p>
            <a:pPr>
              <a:buFont typeface="Arial" pitchFamily="34" charset="0"/>
              <a:buChar char="•"/>
            </a:pPr>
            <a:r>
              <a:rPr lang="en-GB" dirty="0"/>
              <a:t>Books</a:t>
            </a:r>
          </a:p>
          <a:p>
            <a:pPr>
              <a:buFont typeface="Arial" pitchFamily="34" charset="0"/>
              <a:buChar char="•"/>
            </a:pPr>
            <a:r>
              <a:rPr lang="en-GB" dirty="0"/>
              <a:t>Websites</a:t>
            </a:r>
          </a:p>
          <a:p>
            <a:pPr>
              <a:buFont typeface="Arial" pitchFamily="34" charset="0"/>
              <a:buChar char="•"/>
            </a:pPr>
            <a:r>
              <a:rPr lang="en-GB" dirty="0"/>
              <a:t>Lectures</a:t>
            </a:r>
          </a:p>
          <a:p>
            <a:pPr>
              <a:buFont typeface="Arial" pitchFamily="34" charset="0"/>
              <a:buChar char="•"/>
            </a:pPr>
            <a:r>
              <a:rPr lang="en-GB" dirty="0"/>
              <a:t>Journals</a:t>
            </a:r>
          </a:p>
          <a:p>
            <a:pPr>
              <a:buFont typeface="Arial" pitchFamily="34" charset="0"/>
              <a:buChar char="•"/>
            </a:pPr>
            <a:r>
              <a:rPr lang="en-GB" dirty="0"/>
              <a:t>Magazines</a:t>
            </a:r>
          </a:p>
          <a:p>
            <a:pPr>
              <a:buFont typeface="Arial" pitchFamily="34" charset="0"/>
              <a:buChar char="•"/>
            </a:pPr>
            <a:r>
              <a:rPr lang="en-GB" dirty="0"/>
              <a:t>Television programmes </a:t>
            </a:r>
          </a:p>
          <a:p>
            <a:pPr>
              <a:buFont typeface="Arial" pitchFamily="34" charset="0"/>
              <a:buChar char="•"/>
            </a:pPr>
            <a:r>
              <a:rPr lang="en-GB" dirty="0"/>
              <a:t>Etc</a:t>
            </a:r>
          </a:p>
          <a:p>
            <a:pPr>
              <a:buFont typeface="Arial" pitchFamily="34" charset="0"/>
              <a:buChar char="•"/>
            </a:pPr>
            <a:endParaRPr lang="en-GB" dirty="0"/>
          </a:p>
          <a:p>
            <a:pPr>
              <a:buFont typeface="Arial" pitchFamily="34" charset="0"/>
              <a:buChar char="•"/>
            </a:pPr>
            <a:endParaRPr lang="en-GB" dirty="0"/>
          </a:p>
        </p:txBody>
      </p:sp>
      <p:pic>
        <p:nvPicPr>
          <p:cNvPr id="1026" name="Picture 2"/>
          <p:cNvPicPr>
            <a:picLocks noChangeAspect="1" noChangeArrowheads="1"/>
          </p:cNvPicPr>
          <p:nvPr/>
        </p:nvPicPr>
        <p:blipFill>
          <a:blip r:embed="rId3" cstate="print"/>
          <a:srcRect l="675" t="7560" r="54101" b="12521"/>
          <a:stretch>
            <a:fillRect/>
          </a:stretch>
        </p:blipFill>
        <p:spPr bwMode="auto">
          <a:xfrm>
            <a:off x="4067944" y="908720"/>
            <a:ext cx="4824536" cy="5328592"/>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000090"/>
                </a:solidFill>
              </a:rPr>
              <a:t>Always cite your sources</a:t>
            </a:r>
          </a:p>
        </p:txBody>
      </p:sp>
      <p:sp>
        <p:nvSpPr>
          <p:cNvPr id="3" name="Content Placeholder 2"/>
          <p:cNvSpPr>
            <a:spLocks noGrp="1"/>
          </p:cNvSpPr>
          <p:nvPr>
            <p:ph idx="1"/>
          </p:nvPr>
        </p:nvSpPr>
        <p:spPr/>
        <p:txBody>
          <a:bodyPr/>
          <a:lstStyle/>
          <a:p>
            <a:pPr marL="0" indent="0">
              <a:buNone/>
            </a:pPr>
            <a:r>
              <a:rPr lang="en-US" dirty="0"/>
              <a:t>It is good to use academically acceptable sources in your assignments.</a:t>
            </a:r>
          </a:p>
          <a:p>
            <a:pPr marL="0" indent="0">
              <a:buNone/>
            </a:pPr>
            <a:r>
              <a:rPr lang="en-US" dirty="0"/>
              <a:t>However, you cannot simply copy/paste from these sources and leave it at that.</a:t>
            </a:r>
          </a:p>
          <a:p>
            <a:pPr marL="0" indent="0">
              <a:buNone/>
            </a:pPr>
            <a:r>
              <a:rPr lang="en-US" dirty="0"/>
              <a:t>If you do this, you will end up with a high similarity score in Feedback Studio (</a:t>
            </a:r>
            <a:r>
              <a:rPr lang="en-US" dirty="0" err="1"/>
              <a:t>Turnitin</a:t>
            </a:r>
            <a:r>
              <a:rPr lang="en-US" dirty="0"/>
              <a:t>).</a:t>
            </a:r>
          </a:p>
        </p:txBody>
      </p:sp>
    </p:spTree>
    <p:extLst>
      <p:ext uri="{BB962C8B-B14F-4D97-AF65-F5344CB8AC3E}">
        <p14:creationId xmlns:p14="http://schemas.microsoft.com/office/powerpoint/2010/main" val="1377796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sz="2700" dirty="0"/>
              <a:t>Take note of the </a:t>
            </a:r>
            <a:r>
              <a:rPr lang="en-GB" sz="2700" dirty="0" err="1"/>
              <a:t>Turnitin</a:t>
            </a:r>
            <a:r>
              <a:rPr lang="en-GB" sz="2700" dirty="0"/>
              <a:t> Similarity score!</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2150243"/>
            <a:ext cx="6172200" cy="3208789"/>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35016317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1194134"/>
            <a:ext cx="6172200" cy="3804134"/>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1435200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Screen shot 2018-01-21 at 18.55.00.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00456" y="1456128"/>
            <a:ext cx="6406029" cy="3095048"/>
          </a:xfrm>
          <a:prstGeom prst="rect">
            <a:avLst/>
          </a:prstGeom>
          <a:ln>
            <a:noFill/>
          </a:ln>
          <a:effectLst>
            <a:outerShdw blurRad="292100" dist="139700" dir="2700000" algn="tl" rotWithShape="0">
              <a:srgbClr val="333333">
                <a:alpha val="65000"/>
              </a:srgbClr>
            </a:outerShdw>
          </a:effectLst>
        </p:spPr>
      </p:pic>
      <p:sp>
        <p:nvSpPr>
          <p:cNvPr id="5" name="Rectangle 4"/>
          <p:cNvSpPr/>
          <p:nvPr/>
        </p:nvSpPr>
        <p:spPr>
          <a:xfrm>
            <a:off x="2829340" y="1456128"/>
            <a:ext cx="823862" cy="199114"/>
          </a:xfrm>
          <a:prstGeom prst="rect">
            <a:avLst/>
          </a:prstGeom>
          <a:ln>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defTabSz="342900"/>
            <a:endParaRPr lang="en-US" sz="1350">
              <a:solidFill>
                <a:prstClr val="black"/>
              </a:solidFill>
            </a:endParaRPr>
          </a:p>
        </p:txBody>
      </p:sp>
      <p:sp>
        <p:nvSpPr>
          <p:cNvPr id="6" name="TextBox 5"/>
          <p:cNvSpPr txBox="1"/>
          <p:nvPr/>
        </p:nvSpPr>
        <p:spPr>
          <a:xfrm>
            <a:off x="2582957" y="1417496"/>
            <a:ext cx="1070246" cy="276999"/>
          </a:xfrm>
          <a:prstGeom prst="rect">
            <a:avLst/>
          </a:prstGeom>
          <a:noFill/>
        </p:spPr>
        <p:txBody>
          <a:bodyPr wrap="square" rtlCol="0">
            <a:spAutoFit/>
          </a:bodyPr>
          <a:lstStyle/>
          <a:p>
            <a:pPr defTabSz="342900"/>
            <a:r>
              <a:rPr lang="en-US" sz="1200" dirty="0">
                <a:solidFill>
                  <a:srgbClr val="000090"/>
                </a:solidFill>
              </a:rPr>
              <a:t>Mark </a:t>
            </a:r>
            <a:r>
              <a:rPr lang="en-US" sz="1200" dirty="0" err="1">
                <a:solidFill>
                  <a:srgbClr val="000090"/>
                </a:solidFill>
              </a:rPr>
              <a:t>Unwin</a:t>
            </a:r>
            <a:endParaRPr lang="en-US" sz="1200" dirty="0">
              <a:solidFill>
                <a:srgbClr val="000090"/>
              </a:solidFill>
            </a:endParaRPr>
          </a:p>
        </p:txBody>
      </p:sp>
      <p:sp>
        <p:nvSpPr>
          <p:cNvPr id="7" name="TextBox 6"/>
          <p:cNvSpPr txBox="1"/>
          <p:nvPr/>
        </p:nvSpPr>
        <p:spPr>
          <a:xfrm>
            <a:off x="1485150" y="4879583"/>
            <a:ext cx="6251149" cy="923330"/>
          </a:xfrm>
          <a:prstGeom prst="rect">
            <a:avLst/>
          </a:prstGeom>
          <a:noFill/>
        </p:spPr>
        <p:txBody>
          <a:bodyPr wrap="square" rtlCol="0">
            <a:spAutoFit/>
          </a:bodyPr>
          <a:lstStyle/>
          <a:p>
            <a:pPr defTabSz="342900"/>
            <a:r>
              <a:rPr lang="en-US" sz="1350" dirty="0">
                <a:solidFill>
                  <a:prstClr val="black"/>
                </a:solidFill>
              </a:rPr>
              <a:t>Feedback Studio has identified the highlighted areas as coming from various sources.</a:t>
            </a:r>
          </a:p>
          <a:p>
            <a:pPr defTabSz="342900"/>
            <a:r>
              <a:rPr lang="en-US" sz="1350" dirty="0">
                <a:solidFill>
                  <a:prstClr val="black"/>
                </a:solidFill>
              </a:rPr>
              <a:t>This level of obvious plagiarism is NOT ACCEPTABLE. </a:t>
            </a:r>
          </a:p>
          <a:p>
            <a:pPr defTabSz="342900"/>
            <a:r>
              <a:rPr lang="en-US" sz="1350" dirty="0">
                <a:solidFill>
                  <a:prstClr val="black"/>
                </a:solidFill>
              </a:rPr>
              <a:t>This student would either lose marks or even have the whole assignment. In extreme cases, a student who regularly </a:t>
            </a:r>
            <a:r>
              <a:rPr lang="en-US" sz="1350" dirty="0" err="1">
                <a:solidFill>
                  <a:prstClr val="black"/>
                </a:solidFill>
              </a:rPr>
              <a:t>plagiarises</a:t>
            </a:r>
            <a:r>
              <a:rPr lang="en-US" sz="1350" dirty="0">
                <a:solidFill>
                  <a:prstClr val="black"/>
                </a:solidFill>
              </a:rPr>
              <a:t> may be ejected from university.</a:t>
            </a:r>
          </a:p>
        </p:txBody>
      </p:sp>
      <p:sp>
        <p:nvSpPr>
          <p:cNvPr id="9" name="TextBox 8"/>
          <p:cNvSpPr txBox="1"/>
          <p:nvPr/>
        </p:nvSpPr>
        <p:spPr>
          <a:xfrm>
            <a:off x="1485148" y="1088419"/>
            <a:ext cx="2690954" cy="300082"/>
          </a:xfrm>
          <a:prstGeom prst="rect">
            <a:avLst/>
          </a:prstGeom>
          <a:noFill/>
        </p:spPr>
        <p:txBody>
          <a:bodyPr wrap="square" rtlCol="0">
            <a:spAutoFit/>
          </a:bodyPr>
          <a:lstStyle/>
          <a:p>
            <a:pPr defTabSz="342900"/>
            <a:r>
              <a:rPr lang="en-US" sz="1350" dirty="0">
                <a:solidFill>
                  <a:prstClr val="black"/>
                </a:solidFill>
              </a:rPr>
              <a:t>Another example:</a:t>
            </a:r>
          </a:p>
        </p:txBody>
      </p:sp>
    </p:spTree>
    <p:extLst>
      <p:ext uri="{BB962C8B-B14F-4D97-AF65-F5344CB8AC3E}">
        <p14:creationId xmlns:p14="http://schemas.microsoft.com/office/powerpoint/2010/main" val="25504098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Take a look at this:</a:t>
            </a: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485900" y="1920480"/>
            <a:ext cx="6172200" cy="3374901"/>
          </a:xfrm>
        </p:spPr>
      </p:pic>
      <p:sp>
        <p:nvSpPr>
          <p:cNvPr id="5" name="Oval 4"/>
          <p:cNvSpPr/>
          <p:nvPr/>
        </p:nvSpPr>
        <p:spPr>
          <a:xfrm>
            <a:off x="6424864" y="1932513"/>
            <a:ext cx="998621" cy="597129"/>
          </a:xfrm>
          <a:prstGeom prst="ellipse">
            <a:avLst/>
          </a:prstGeom>
          <a:noFill/>
          <a:ln>
            <a:solidFill>
              <a:schemeClr val="accent3">
                <a:lumMod val="75000"/>
              </a:schemeClr>
            </a:solidFill>
          </a:ln>
        </p:spPr>
        <p:style>
          <a:lnRef idx="2">
            <a:schemeClr val="accent2"/>
          </a:lnRef>
          <a:fillRef idx="1">
            <a:schemeClr val="lt1"/>
          </a:fillRef>
          <a:effectRef idx="0">
            <a:schemeClr val="accent2"/>
          </a:effectRef>
          <a:fontRef idx="minor">
            <a:schemeClr val="dk1"/>
          </a:fontRef>
        </p:style>
        <p:txBody>
          <a:bodyPr rtlCol="0" anchor="ctr"/>
          <a:lstStyle/>
          <a:p>
            <a:pPr algn="ctr" defTabSz="342900"/>
            <a:endParaRPr lang="en-GB" sz="1350">
              <a:solidFill>
                <a:prstClr val="black"/>
              </a:solidFill>
            </a:endParaRPr>
          </a:p>
        </p:txBody>
      </p:sp>
    </p:spTree>
    <p:extLst>
      <p:ext uri="{BB962C8B-B14F-4D97-AF65-F5344CB8AC3E}">
        <p14:creationId xmlns:p14="http://schemas.microsoft.com/office/powerpoint/2010/main" val="39217101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Take a look at this:</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2628" t="13773" r="37585" b="59133"/>
          <a:stretch/>
        </p:blipFill>
        <p:spPr>
          <a:xfrm>
            <a:off x="1143000" y="2541677"/>
            <a:ext cx="6901374" cy="1708485"/>
          </a:xfrm>
        </p:spPr>
      </p:pic>
      <p:sp>
        <p:nvSpPr>
          <p:cNvPr id="7" name="TextBox 6"/>
          <p:cNvSpPr txBox="1"/>
          <p:nvPr/>
        </p:nvSpPr>
        <p:spPr>
          <a:xfrm>
            <a:off x="1648326" y="4732860"/>
            <a:ext cx="6009774" cy="300082"/>
          </a:xfrm>
          <a:prstGeom prst="rect">
            <a:avLst/>
          </a:prstGeom>
          <a:noFill/>
        </p:spPr>
        <p:txBody>
          <a:bodyPr wrap="square" rtlCol="0">
            <a:spAutoFit/>
          </a:bodyPr>
          <a:lstStyle/>
          <a:p>
            <a:pPr defTabSz="342900"/>
            <a:r>
              <a:rPr lang="en-GB" sz="1350" dirty="0">
                <a:solidFill>
                  <a:prstClr val="black"/>
                </a:solidFill>
              </a:rPr>
              <a:t>29% seems high but actually the highlighted sections of the text are correctly cited.</a:t>
            </a:r>
          </a:p>
        </p:txBody>
      </p:sp>
      <p:sp>
        <p:nvSpPr>
          <p:cNvPr id="9" name="Rounded Rectangle 8"/>
          <p:cNvSpPr/>
          <p:nvPr/>
        </p:nvSpPr>
        <p:spPr>
          <a:xfrm>
            <a:off x="1648326" y="4732861"/>
            <a:ext cx="5919537" cy="527948"/>
          </a:xfrm>
          <a:prstGeom prst="roundRect">
            <a:avLst/>
          </a:prstGeom>
          <a:noFill/>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lang="en-GB" sz="1350">
              <a:solidFill>
                <a:prstClr val="white"/>
              </a:solidFill>
            </a:endParaRPr>
          </a:p>
        </p:txBody>
      </p:sp>
    </p:spTree>
    <p:extLst>
      <p:ext uri="{BB962C8B-B14F-4D97-AF65-F5344CB8AC3E}">
        <p14:creationId xmlns:p14="http://schemas.microsoft.com/office/powerpoint/2010/main" val="417146756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r>
              <a:rPr lang="en-GB" dirty="0"/>
              <a:t>And </a:t>
            </a:r>
            <a:r>
              <a:rPr lang="en-GB" dirty="0" err="1"/>
              <a:t>Turnitin</a:t>
            </a:r>
            <a:r>
              <a:rPr lang="en-GB" dirty="0"/>
              <a:t> has included the reference list:</a:t>
            </a:r>
          </a:p>
        </p:txBody>
      </p:sp>
      <p:pic>
        <p:nvPicPr>
          <p:cNvPr id="4" name="Content Placeholder 3"/>
          <p:cNvPicPr>
            <a:picLocks noGrp="1" noChangeAspect="1"/>
          </p:cNvPicPr>
          <p:nvPr>
            <p:ph idx="1"/>
          </p:nvPr>
        </p:nvPicPr>
        <p:blipFill rotWithShape="1">
          <a:blip r:embed="rId2">
            <a:extLst>
              <a:ext uri="{28A0092B-C50C-407E-A947-70E740481C1C}">
                <a14:useLocalDpi xmlns:a14="http://schemas.microsoft.com/office/drawing/2010/main" val="0"/>
              </a:ext>
            </a:extLst>
          </a:blip>
          <a:srcRect l="9372" t="3633" r="8212" b="30086"/>
          <a:stretch/>
        </p:blipFill>
        <p:spPr>
          <a:xfrm>
            <a:off x="1728333" y="2072440"/>
            <a:ext cx="5687335" cy="2995863"/>
          </a:xfrm>
          <a:prstGeom prst="rect">
            <a:avLst/>
          </a:prstGeom>
          <a:ln>
            <a:noFill/>
          </a:ln>
          <a:effectLst>
            <a:outerShdw blurRad="292100" dist="139700" dir="2700000" algn="tl" rotWithShape="0">
              <a:srgbClr val="333333">
                <a:alpha val="65000"/>
              </a:srgbClr>
            </a:outerShdw>
          </a:effectLst>
        </p:spPr>
      </p:pic>
      <p:sp>
        <p:nvSpPr>
          <p:cNvPr id="5" name="TextBox 4"/>
          <p:cNvSpPr txBox="1"/>
          <p:nvPr/>
        </p:nvSpPr>
        <p:spPr>
          <a:xfrm>
            <a:off x="4668253" y="5504242"/>
            <a:ext cx="3212432" cy="300082"/>
          </a:xfrm>
          <a:prstGeom prst="rect">
            <a:avLst/>
          </a:prstGeom>
          <a:noFill/>
        </p:spPr>
        <p:txBody>
          <a:bodyPr wrap="square" rtlCol="0">
            <a:spAutoFit/>
          </a:bodyPr>
          <a:lstStyle/>
          <a:p>
            <a:pPr defTabSz="342900"/>
            <a:r>
              <a:rPr lang="en-GB" sz="1350" dirty="0">
                <a:solidFill>
                  <a:prstClr val="black"/>
                </a:solidFill>
              </a:rPr>
              <a:t>So there really is no problem here!</a:t>
            </a:r>
          </a:p>
        </p:txBody>
      </p:sp>
      <p:sp>
        <p:nvSpPr>
          <p:cNvPr id="6" name="Rectangle 5"/>
          <p:cNvSpPr/>
          <p:nvPr/>
        </p:nvSpPr>
        <p:spPr>
          <a:xfrm>
            <a:off x="4451685" y="5423099"/>
            <a:ext cx="2963983" cy="439289"/>
          </a:xfrm>
          <a:prstGeom prst="rect">
            <a:avLst/>
          </a:prstGeom>
          <a:noFill/>
          <a:ln>
            <a:solidFill>
              <a:srgbClr val="92D050"/>
            </a:solidFill>
          </a:ln>
        </p:spPr>
        <p:style>
          <a:lnRef idx="1">
            <a:schemeClr val="accent1"/>
          </a:lnRef>
          <a:fillRef idx="3">
            <a:schemeClr val="accent1"/>
          </a:fillRef>
          <a:effectRef idx="2">
            <a:schemeClr val="accent1"/>
          </a:effectRef>
          <a:fontRef idx="minor">
            <a:schemeClr val="lt1"/>
          </a:fontRef>
        </p:style>
        <p:txBody>
          <a:bodyPr rtlCol="0" anchor="ctr"/>
          <a:lstStyle/>
          <a:p>
            <a:pPr algn="ctr" defTabSz="342900"/>
            <a:endParaRPr lang="en-GB" sz="1350">
              <a:solidFill>
                <a:prstClr val="white"/>
              </a:solidFill>
            </a:endParaRPr>
          </a:p>
        </p:txBody>
      </p:sp>
    </p:spTree>
    <p:extLst>
      <p:ext uri="{BB962C8B-B14F-4D97-AF65-F5344CB8AC3E}">
        <p14:creationId xmlns:p14="http://schemas.microsoft.com/office/powerpoint/2010/main" val="108424494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5576" y="692696"/>
            <a:ext cx="7704856" cy="369332"/>
          </a:xfrm>
          <a:prstGeom prst="rect">
            <a:avLst/>
          </a:prstGeom>
          <a:noFill/>
        </p:spPr>
        <p:txBody>
          <a:bodyPr wrap="square" rtlCol="0">
            <a:spAutoFit/>
          </a:bodyPr>
          <a:lstStyle/>
          <a:p>
            <a:r>
              <a:rPr lang="en-GB" dirty="0"/>
              <a:t>FAILURE TO CITE YOUR SOURCES PROPERLY WILL RESULT IN ACCUSATIONS OF </a:t>
            </a:r>
          </a:p>
        </p:txBody>
      </p:sp>
      <p:sp>
        <p:nvSpPr>
          <p:cNvPr id="3" name="TextBox 2"/>
          <p:cNvSpPr txBox="1"/>
          <p:nvPr/>
        </p:nvSpPr>
        <p:spPr>
          <a:xfrm>
            <a:off x="683568" y="1484784"/>
            <a:ext cx="7416824" cy="1015663"/>
          </a:xfrm>
          <a:prstGeom prst="rect">
            <a:avLst/>
          </a:prstGeom>
          <a:noFill/>
        </p:spPr>
        <p:txBody>
          <a:bodyPr wrap="square" rtlCol="0">
            <a:spAutoFit/>
          </a:bodyPr>
          <a:lstStyle/>
          <a:p>
            <a:pPr algn="ctr"/>
            <a:r>
              <a:rPr lang="en-GB" sz="6000" dirty="0">
                <a:solidFill>
                  <a:srgbClr val="FF0000"/>
                </a:solidFill>
              </a:rPr>
              <a:t>plagiarism</a:t>
            </a:r>
          </a:p>
        </p:txBody>
      </p:sp>
      <p:sp>
        <p:nvSpPr>
          <p:cNvPr id="4" name="TextBox 3"/>
          <p:cNvSpPr txBox="1"/>
          <p:nvPr/>
        </p:nvSpPr>
        <p:spPr>
          <a:xfrm>
            <a:off x="683568" y="2996952"/>
            <a:ext cx="7560840" cy="369332"/>
          </a:xfrm>
          <a:prstGeom prst="rect">
            <a:avLst/>
          </a:prstGeom>
          <a:noFill/>
        </p:spPr>
        <p:txBody>
          <a:bodyPr wrap="square" rtlCol="0">
            <a:spAutoFit/>
          </a:bodyPr>
          <a:lstStyle/>
          <a:p>
            <a:pPr algn="ctr"/>
            <a:r>
              <a:rPr lang="en-GB" dirty="0"/>
              <a:t>WHICH COULD RESULT IN YOU BEING DISMISSED FROM THE UNIVERSITY</a:t>
            </a:r>
          </a:p>
        </p:txBody>
      </p:sp>
      <p:pic>
        <p:nvPicPr>
          <p:cNvPr id="3074" name="Picture 2" descr="http://www.employeesos.co.uk/site/img/unfair-img.jpg"/>
          <p:cNvPicPr>
            <a:picLocks noChangeAspect="1" noChangeArrowheads="1"/>
          </p:cNvPicPr>
          <p:nvPr/>
        </p:nvPicPr>
        <p:blipFill>
          <a:blip r:embed="rId3" cstate="print"/>
          <a:srcRect/>
          <a:stretch>
            <a:fillRect/>
          </a:stretch>
        </p:blipFill>
        <p:spPr bwMode="auto">
          <a:xfrm flipH="1">
            <a:off x="2699792" y="3861048"/>
            <a:ext cx="3619500" cy="2409826"/>
          </a:xfrm>
          <a:prstGeom prst="rect">
            <a:avLst/>
          </a:prstGeom>
          <a:noFill/>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836712"/>
            <a:ext cx="7272808" cy="2339102"/>
          </a:xfrm>
          <a:prstGeom prst="rect">
            <a:avLst/>
          </a:prstGeom>
          <a:noFill/>
        </p:spPr>
        <p:txBody>
          <a:bodyPr wrap="square" rtlCol="0">
            <a:spAutoFit/>
          </a:bodyPr>
          <a:lstStyle/>
          <a:p>
            <a:r>
              <a:rPr lang="en-GB" sz="2800" u="sng" dirty="0"/>
              <a:t>There are two types of citation:</a:t>
            </a:r>
          </a:p>
          <a:p>
            <a:endParaRPr lang="en-GB" dirty="0"/>
          </a:p>
          <a:p>
            <a:r>
              <a:rPr lang="en-GB" sz="3200" dirty="0"/>
              <a:t>In-text</a:t>
            </a:r>
            <a:r>
              <a:rPr lang="en-GB" dirty="0"/>
              <a:t>: In the </a:t>
            </a:r>
            <a:r>
              <a:rPr lang="en-GB" b="1" dirty="0"/>
              <a:t>main body </a:t>
            </a:r>
            <a:r>
              <a:rPr lang="en-GB" dirty="0"/>
              <a:t>of your work (Yes. That does include the Introduction and conclusion! </a:t>
            </a:r>
          </a:p>
          <a:p>
            <a:endParaRPr lang="en-GB" dirty="0"/>
          </a:p>
          <a:p>
            <a:r>
              <a:rPr lang="en-GB" sz="3200" dirty="0"/>
              <a:t>End Text</a:t>
            </a:r>
            <a:r>
              <a:rPr lang="en-GB" dirty="0"/>
              <a:t>: The Reference List or Bibliography </a:t>
            </a:r>
            <a:r>
              <a:rPr lang="en-GB" b="1" dirty="0"/>
              <a:t>at the end </a:t>
            </a:r>
            <a:r>
              <a:rPr lang="en-GB" dirty="0"/>
              <a:t>of your work</a:t>
            </a:r>
          </a:p>
        </p:txBody>
      </p:sp>
      <p:sp>
        <p:nvSpPr>
          <p:cNvPr id="3" name="TextBox 2"/>
          <p:cNvSpPr txBox="1"/>
          <p:nvPr/>
        </p:nvSpPr>
        <p:spPr>
          <a:xfrm>
            <a:off x="827584" y="3284984"/>
            <a:ext cx="7992888" cy="2893100"/>
          </a:xfrm>
          <a:prstGeom prst="rect">
            <a:avLst/>
          </a:prstGeom>
          <a:noFill/>
        </p:spPr>
        <p:txBody>
          <a:bodyPr wrap="square" rtlCol="0">
            <a:spAutoFit/>
          </a:bodyPr>
          <a:lstStyle/>
          <a:p>
            <a:r>
              <a:rPr lang="en-GB" sz="2800" u="sng" dirty="0"/>
              <a:t>At UEL, we use the </a:t>
            </a:r>
          </a:p>
          <a:p>
            <a:endParaRPr lang="en-GB" sz="3600" dirty="0"/>
          </a:p>
          <a:p>
            <a:r>
              <a:rPr lang="en-GB" sz="3600" dirty="0"/>
              <a:t>Harvard Referencing System</a:t>
            </a:r>
          </a:p>
          <a:p>
            <a:r>
              <a:rPr lang="en-GB" sz="2800" dirty="0"/>
              <a:t>(as described in latest edition of Cite Them Right)</a:t>
            </a:r>
          </a:p>
          <a:p>
            <a:endParaRPr lang="en-GB" sz="3600" dirty="0"/>
          </a:p>
          <a:p>
            <a:r>
              <a:rPr lang="en-GB" dirty="0"/>
              <a:t>(Apart from Psychology, who use APA, and Law, who use OSCOLA)</a:t>
            </a:r>
          </a:p>
        </p:txBody>
      </p:sp>
    </p:spTree>
    <p:extLst>
      <p:ext uri="{BB962C8B-B14F-4D97-AF65-F5344CB8AC3E}">
        <p14:creationId xmlns:p14="http://schemas.microsoft.com/office/powerpoint/2010/main" val="28008627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0418" name="Picture 2" descr="http://www.cardiff-freshers.com/images/oliver-smith.png"/>
          <p:cNvPicPr>
            <a:picLocks noChangeAspect="1" noChangeArrowheads="1"/>
          </p:cNvPicPr>
          <p:nvPr/>
        </p:nvPicPr>
        <p:blipFill>
          <a:blip r:embed="rId3" cstate="print"/>
          <a:srcRect/>
          <a:stretch>
            <a:fillRect/>
          </a:stretch>
        </p:blipFill>
        <p:spPr bwMode="auto">
          <a:xfrm>
            <a:off x="3491880" y="4077072"/>
            <a:ext cx="1459260" cy="145926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
        <p:nvSpPr>
          <p:cNvPr id="2" name="TextBox 1"/>
          <p:cNvSpPr txBox="1"/>
          <p:nvPr/>
        </p:nvSpPr>
        <p:spPr>
          <a:xfrm>
            <a:off x="611560" y="548680"/>
            <a:ext cx="6984776" cy="369332"/>
          </a:xfrm>
          <a:prstGeom prst="rect">
            <a:avLst/>
          </a:prstGeom>
          <a:noFill/>
        </p:spPr>
        <p:txBody>
          <a:bodyPr wrap="square" rtlCol="0">
            <a:spAutoFit/>
          </a:bodyPr>
          <a:lstStyle/>
          <a:p>
            <a:r>
              <a:rPr lang="en-GB" b="1" dirty="0"/>
              <a:t>IN-TEXT CITATION :Two Types </a:t>
            </a:r>
          </a:p>
        </p:txBody>
      </p:sp>
      <p:sp>
        <p:nvSpPr>
          <p:cNvPr id="3" name="Rectangle 2"/>
          <p:cNvSpPr/>
          <p:nvPr/>
        </p:nvSpPr>
        <p:spPr>
          <a:xfrm>
            <a:off x="971600" y="1268760"/>
            <a:ext cx="1440160" cy="20882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4" name="Rectangle 3"/>
          <p:cNvSpPr/>
          <p:nvPr/>
        </p:nvSpPr>
        <p:spPr>
          <a:xfrm>
            <a:off x="6012160" y="1268760"/>
            <a:ext cx="1440160" cy="2160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Rectangle 4"/>
          <p:cNvSpPr/>
          <p:nvPr/>
        </p:nvSpPr>
        <p:spPr>
          <a:xfrm>
            <a:off x="1115616" y="1628800"/>
            <a:ext cx="1152128" cy="720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6" name="Rectangle 5"/>
          <p:cNvSpPr/>
          <p:nvPr/>
        </p:nvSpPr>
        <p:spPr>
          <a:xfrm>
            <a:off x="6156176" y="2636912"/>
            <a:ext cx="1152128" cy="720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cxnSp>
        <p:nvCxnSpPr>
          <p:cNvPr id="10" name="Straight Arrow Connector 9"/>
          <p:cNvCxnSpPr/>
          <p:nvPr/>
        </p:nvCxnSpPr>
        <p:spPr>
          <a:xfrm>
            <a:off x="2195736" y="1628800"/>
            <a:ext cx="3960440" cy="1044116"/>
          </a:xfrm>
          <a:prstGeom prst="straightConnector1">
            <a:avLst/>
          </a:prstGeom>
          <a:ln w="38100">
            <a:solidFill>
              <a:schemeClr val="accent6"/>
            </a:solidFill>
            <a:tailEnd type="arrow"/>
          </a:ln>
        </p:spPr>
        <p:style>
          <a:lnRef idx="1">
            <a:schemeClr val="accent6"/>
          </a:lnRef>
          <a:fillRef idx="0">
            <a:schemeClr val="accent6"/>
          </a:fillRef>
          <a:effectRef idx="0">
            <a:schemeClr val="accent6"/>
          </a:effectRef>
          <a:fontRef idx="minor">
            <a:schemeClr val="tx1"/>
          </a:fontRef>
        </p:style>
      </p:cxnSp>
      <p:sp>
        <p:nvSpPr>
          <p:cNvPr id="12" name="TextBox 11"/>
          <p:cNvSpPr txBox="1"/>
          <p:nvPr/>
        </p:nvSpPr>
        <p:spPr>
          <a:xfrm>
            <a:off x="2843808" y="2708920"/>
            <a:ext cx="2664296" cy="646331"/>
          </a:xfrm>
          <a:prstGeom prst="rect">
            <a:avLst/>
          </a:prstGeom>
          <a:noFill/>
        </p:spPr>
        <p:txBody>
          <a:bodyPr wrap="square" rtlCol="0">
            <a:spAutoFit/>
          </a:bodyPr>
          <a:lstStyle/>
          <a:p>
            <a:pPr algn="ctr"/>
            <a:r>
              <a:rPr lang="en-GB" b="1" dirty="0"/>
              <a:t>Direct</a:t>
            </a:r>
          </a:p>
          <a:p>
            <a:pPr algn="ctr"/>
            <a:r>
              <a:rPr lang="en-GB" dirty="0"/>
              <a:t>Same words</a:t>
            </a:r>
          </a:p>
        </p:txBody>
      </p:sp>
      <p:sp>
        <p:nvSpPr>
          <p:cNvPr id="13" name="Rectangle 12"/>
          <p:cNvSpPr/>
          <p:nvPr/>
        </p:nvSpPr>
        <p:spPr>
          <a:xfrm>
            <a:off x="971600" y="3861048"/>
            <a:ext cx="1440160" cy="208823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14" name="Rectangle 13"/>
          <p:cNvSpPr/>
          <p:nvPr/>
        </p:nvSpPr>
        <p:spPr>
          <a:xfrm>
            <a:off x="6012160" y="3861048"/>
            <a:ext cx="1440160" cy="21602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Rectangle 14"/>
          <p:cNvSpPr/>
          <p:nvPr/>
        </p:nvSpPr>
        <p:spPr>
          <a:xfrm>
            <a:off x="1115616" y="4221088"/>
            <a:ext cx="1152128" cy="72008"/>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
        <p:nvSpPr>
          <p:cNvPr id="16" name="Rectangle 15"/>
          <p:cNvSpPr/>
          <p:nvPr/>
        </p:nvSpPr>
        <p:spPr>
          <a:xfrm>
            <a:off x="6156176" y="5229200"/>
            <a:ext cx="1152128" cy="72008"/>
          </a:xfrm>
          <a:prstGeom prst="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GB"/>
          </a:p>
        </p:txBody>
      </p:sp>
      <p:cxnSp>
        <p:nvCxnSpPr>
          <p:cNvPr id="17" name="Straight Arrow Connector 16"/>
          <p:cNvCxnSpPr>
            <a:stCxn id="15" idx="3"/>
          </p:cNvCxnSpPr>
          <p:nvPr/>
        </p:nvCxnSpPr>
        <p:spPr>
          <a:xfrm>
            <a:off x="2267744" y="4257092"/>
            <a:ext cx="1512168" cy="468052"/>
          </a:xfrm>
          <a:prstGeom prst="straightConnector1">
            <a:avLst/>
          </a:prstGeom>
          <a:ln w="38100">
            <a:solidFill>
              <a:schemeClr val="accent6"/>
            </a:solidFill>
            <a:tailEnd type="arrow"/>
          </a:ln>
        </p:spPr>
        <p:style>
          <a:lnRef idx="1">
            <a:schemeClr val="accent6"/>
          </a:lnRef>
          <a:fillRef idx="0">
            <a:schemeClr val="accent6"/>
          </a:fillRef>
          <a:effectRef idx="0">
            <a:schemeClr val="accent6"/>
          </a:effectRef>
          <a:fontRef idx="minor">
            <a:schemeClr val="tx1"/>
          </a:fontRef>
        </p:style>
      </p:cxnSp>
      <p:sp>
        <p:nvSpPr>
          <p:cNvPr id="18" name="TextBox 17"/>
          <p:cNvSpPr txBox="1"/>
          <p:nvPr/>
        </p:nvSpPr>
        <p:spPr>
          <a:xfrm>
            <a:off x="2843808" y="5589240"/>
            <a:ext cx="2664296" cy="923330"/>
          </a:xfrm>
          <a:prstGeom prst="rect">
            <a:avLst/>
          </a:prstGeom>
          <a:noFill/>
        </p:spPr>
        <p:txBody>
          <a:bodyPr wrap="square" rtlCol="0">
            <a:spAutoFit/>
          </a:bodyPr>
          <a:lstStyle/>
          <a:p>
            <a:pPr algn="ctr"/>
            <a:r>
              <a:rPr lang="en-GB" b="1" dirty="0"/>
              <a:t>Indirect</a:t>
            </a:r>
          </a:p>
          <a:p>
            <a:pPr algn="ctr"/>
            <a:r>
              <a:rPr lang="en-GB" dirty="0"/>
              <a:t>Different words</a:t>
            </a:r>
          </a:p>
          <a:p>
            <a:pPr algn="ctr"/>
            <a:r>
              <a:rPr lang="en-GB" dirty="0"/>
              <a:t>(summary or paraphrase)</a:t>
            </a:r>
          </a:p>
        </p:txBody>
      </p:sp>
      <p:cxnSp>
        <p:nvCxnSpPr>
          <p:cNvPr id="29" name="Straight Arrow Connector 28"/>
          <p:cNvCxnSpPr/>
          <p:nvPr/>
        </p:nvCxnSpPr>
        <p:spPr>
          <a:xfrm>
            <a:off x="4572000" y="4797152"/>
            <a:ext cx="1512168" cy="468052"/>
          </a:xfrm>
          <a:prstGeom prst="straightConnector1">
            <a:avLst/>
          </a:prstGeom>
          <a:ln w="38100">
            <a:solidFill>
              <a:schemeClr val="accent2"/>
            </a:solidFill>
            <a:tailEnd type="arrow"/>
          </a:ln>
        </p:spPr>
        <p:style>
          <a:lnRef idx="1">
            <a:schemeClr val="accent6"/>
          </a:lnRef>
          <a:fillRef idx="0">
            <a:schemeClr val="accent6"/>
          </a:fillRef>
          <a:effectRef idx="0">
            <a:schemeClr val="accent6"/>
          </a:effectRef>
          <a:fontRef idx="minor">
            <a:schemeClr val="tx1"/>
          </a:fontRef>
        </p:style>
      </p:cxnSp>
      <p:sp>
        <p:nvSpPr>
          <p:cNvPr id="30" name="TextBox 29"/>
          <p:cNvSpPr txBox="1"/>
          <p:nvPr/>
        </p:nvSpPr>
        <p:spPr>
          <a:xfrm>
            <a:off x="971600" y="6165304"/>
            <a:ext cx="1440160" cy="369332"/>
          </a:xfrm>
          <a:prstGeom prst="rect">
            <a:avLst/>
          </a:prstGeom>
          <a:noFill/>
        </p:spPr>
        <p:txBody>
          <a:bodyPr wrap="square" rtlCol="0">
            <a:spAutoFit/>
          </a:bodyPr>
          <a:lstStyle/>
          <a:p>
            <a:r>
              <a:rPr lang="en-GB" dirty="0"/>
              <a:t>Source text</a:t>
            </a:r>
          </a:p>
        </p:txBody>
      </p:sp>
      <p:sp>
        <p:nvSpPr>
          <p:cNvPr id="31" name="TextBox 30"/>
          <p:cNvSpPr txBox="1"/>
          <p:nvPr/>
        </p:nvSpPr>
        <p:spPr>
          <a:xfrm>
            <a:off x="6228184" y="6165304"/>
            <a:ext cx="1512168" cy="369332"/>
          </a:xfrm>
          <a:prstGeom prst="rect">
            <a:avLst/>
          </a:prstGeom>
          <a:noFill/>
        </p:spPr>
        <p:txBody>
          <a:bodyPr wrap="square" rtlCol="0">
            <a:spAutoFit/>
          </a:bodyPr>
          <a:lstStyle/>
          <a:p>
            <a:r>
              <a:rPr lang="en-GB" dirty="0"/>
              <a:t>Your essay</a:t>
            </a:r>
          </a:p>
        </p:txBody>
      </p:sp>
      <p:sp>
        <p:nvSpPr>
          <p:cNvPr id="7" name="TextBox 6"/>
          <p:cNvSpPr txBox="1"/>
          <p:nvPr/>
        </p:nvSpPr>
        <p:spPr>
          <a:xfrm>
            <a:off x="5911184" y="2118918"/>
            <a:ext cx="2628292" cy="1107996"/>
          </a:xfrm>
          <a:prstGeom prst="rect">
            <a:avLst/>
          </a:prstGeom>
          <a:noFill/>
        </p:spPr>
        <p:txBody>
          <a:bodyPr wrap="square" rtlCol="0">
            <a:spAutoFit/>
          </a:bodyPr>
          <a:lstStyle/>
          <a:p>
            <a:r>
              <a:rPr lang="en-GB" sz="6600"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11560" y="548680"/>
            <a:ext cx="3600400" cy="4968552"/>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solidFill>
                <a:prstClr val="white"/>
              </a:solidFill>
            </a:endParaRPr>
          </a:p>
        </p:txBody>
      </p:sp>
      <p:sp>
        <p:nvSpPr>
          <p:cNvPr id="5" name="Rectangle 4"/>
          <p:cNvSpPr/>
          <p:nvPr/>
        </p:nvSpPr>
        <p:spPr>
          <a:xfrm>
            <a:off x="4716016" y="548680"/>
            <a:ext cx="3705440" cy="4968552"/>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r>
              <a:rPr lang="en-GB" dirty="0">
                <a:solidFill>
                  <a:schemeClr val="tx1"/>
                </a:solidFill>
              </a:rPr>
              <a:t>Use author’s ideas but your words</a:t>
            </a:r>
          </a:p>
          <a:p>
            <a:pPr lvl="0"/>
            <a:endParaRPr lang="en-GB" dirty="0">
              <a:solidFill>
                <a:schemeClr val="tx1"/>
              </a:solidFill>
            </a:endParaRPr>
          </a:p>
          <a:p>
            <a:pPr lvl="0"/>
            <a:r>
              <a:rPr lang="en-GB" dirty="0">
                <a:solidFill>
                  <a:schemeClr val="tx1"/>
                </a:solidFill>
              </a:rPr>
              <a:t>Paraphrase:</a:t>
            </a:r>
          </a:p>
          <a:p>
            <a:pPr lvl="1">
              <a:buFont typeface="Arial" pitchFamily="34" charset="0"/>
              <a:buChar char="•"/>
            </a:pPr>
            <a:r>
              <a:rPr lang="en-GB" dirty="0">
                <a:solidFill>
                  <a:schemeClr val="tx1"/>
                </a:solidFill>
              </a:rPr>
              <a:t>Author’s name</a:t>
            </a:r>
          </a:p>
          <a:p>
            <a:pPr lvl="1">
              <a:buFont typeface="Arial" pitchFamily="34" charset="0"/>
              <a:buChar char="•"/>
            </a:pPr>
            <a:r>
              <a:rPr lang="en-GB" dirty="0">
                <a:solidFill>
                  <a:schemeClr val="tx1"/>
                </a:solidFill>
              </a:rPr>
              <a:t>Year of publication</a:t>
            </a:r>
          </a:p>
          <a:p>
            <a:pPr lvl="1">
              <a:buFont typeface="Arial" pitchFamily="34" charset="0"/>
              <a:buChar char="•"/>
            </a:pPr>
            <a:r>
              <a:rPr lang="en-GB" dirty="0">
                <a:solidFill>
                  <a:schemeClr val="tx1"/>
                </a:solidFill>
              </a:rPr>
              <a:t>Page ref (if avail.)</a:t>
            </a:r>
          </a:p>
          <a:p>
            <a:pPr lvl="1">
              <a:buFont typeface="Arial" pitchFamily="34" charset="0"/>
              <a:buChar char="•"/>
            </a:pPr>
            <a:endParaRPr lang="en-GB" dirty="0">
              <a:solidFill>
                <a:schemeClr val="tx1"/>
              </a:solidFill>
            </a:endParaRPr>
          </a:p>
          <a:p>
            <a:r>
              <a:rPr lang="en-GB" dirty="0">
                <a:solidFill>
                  <a:schemeClr val="tx1"/>
                </a:solidFill>
              </a:rPr>
              <a:t>Summary</a:t>
            </a:r>
          </a:p>
          <a:p>
            <a:pPr lvl="1">
              <a:buFont typeface="Arial" pitchFamily="34" charset="0"/>
              <a:buChar char="•"/>
            </a:pPr>
            <a:r>
              <a:rPr lang="en-GB" dirty="0">
                <a:solidFill>
                  <a:prstClr val="black"/>
                </a:solidFill>
              </a:rPr>
              <a:t>Author’s name</a:t>
            </a:r>
          </a:p>
          <a:p>
            <a:pPr lvl="1">
              <a:buFont typeface="Arial" pitchFamily="34" charset="0"/>
              <a:buChar char="•"/>
            </a:pPr>
            <a:r>
              <a:rPr lang="en-GB" dirty="0">
                <a:solidFill>
                  <a:prstClr val="black"/>
                </a:solidFill>
              </a:rPr>
              <a:t>Year of publication</a:t>
            </a:r>
          </a:p>
          <a:p>
            <a:pPr lvl="1"/>
            <a:endParaRPr lang="en-GB" dirty="0">
              <a:solidFill>
                <a:prstClr val="black"/>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a:p>
            <a:endParaRPr lang="en-GB" dirty="0">
              <a:solidFill>
                <a:schemeClr val="tx1"/>
              </a:solidFill>
            </a:endParaRPr>
          </a:p>
        </p:txBody>
      </p:sp>
      <p:sp>
        <p:nvSpPr>
          <p:cNvPr id="6" name="TextBox 5"/>
          <p:cNvSpPr txBox="1"/>
          <p:nvPr/>
        </p:nvSpPr>
        <p:spPr>
          <a:xfrm>
            <a:off x="827584" y="836712"/>
            <a:ext cx="3168352" cy="523220"/>
          </a:xfrm>
          <a:prstGeom prst="rect">
            <a:avLst/>
          </a:prstGeom>
          <a:noFill/>
        </p:spPr>
        <p:txBody>
          <a:bodyPr wrap="square" rtlCol="0">
            <a:spAutoFit/>
          </a:bodyPr>
          <a:lstStyle/>
          <a:p>
            <a:r>
              <a:rPr lang="en-GB" sz="2800" dirty="0">
                <a:solidFill>
                  <a:prstClr val="white"/>
                </a:solidFill>
              </a:rPr>
              <a:t>Direct Quotation</a:t>
            </a:r>
          </a:p>
        </p:txBody>
      </p:sp>
      <p:sp>
        <p:nvSpPr>
          <p:cNvPr id="7" name="TextBox 6"/>
          <p:cNvSpPr txBox="1"/>
          <p:nvPr/>
        </p:nvSpPr>
        <p:spPr>
          <a:xfrm>
            <a:off x="4968427" y="836712"/>
            <a:ext cx="3168352" cy="523220"/>
          </a:xfrm>
          <a:prstGeom prst="rect">
            <a:avLst/>
          </a:prstGeom>
          <a:noFill/>
        </p:spPr>
        <p:txBody>
          <a:bodyPr wrap="square" rtlCol="0">
            <a:spAutoFit/>
          </a:bodyPr>
          <a:lstStyle/>
          <a:p>
            <a:r>
              <a:rPr lang="en-GB" sz="2800" dirty="0"/>
              <a:t>Indirect Quotation</a:t>
            </a:r>
          </a:p>
        </p:txBody>
      </p:sp>
      <p:sp>
        <p:nvSpPr>
          <p:cNvPr id="8" name="TextBox 7"/>
          <p:cNvSpPr txBox="1"/>
          <p:nvPr/>
        </p:nvSpPr>
        <p:spPr>
          <a:xfrm>
            <a:off x="827584" y="1484784"/>
            <a:ext cx="3096344" cy="3416320"/>
          </a:xfrm>
          <a:prstGeom prst="rect">
            <a:avLst/>
          </a:prstGeom>
          <a:noFill/>
        </p:spPr>
        <p:txBody>
          <a:bodyPr wrap="square" rtlCol="0">
            <a:spAutoFit/>
          </a:bodyPr>
          <a:lstStyle/>
          <a:p>
            <a:pPr>
              <a:buFont typeface="Arial" pitchFamily="34" charset="0"/>
              <a:buChar char="•"/>
            </a:pPr>
            <a:r>
              <a:rPr lang="en-GB" dirty="0">
                <a:solidFill>
                  <a:prstClr val="white"/>
                </a:solidFill>
              </a:rPr>
              <a:t>Use author’s ideas and words</a:t>
            </a:r>
          </a:p>
          <a:p>
            <a:endParaRPr lang="en-GB" dirty="0">
              <a:solidFill>
                <a:prstClr val="white"/>
              </a:solidFill>
            </a:endParaRPr>
          </a:p>
          <a:p>
            <a:pPr>
              <a:buFont typeface="Arial" pitchFamily="34" charset="0"/>
              <a:buChar char="•"/>
            </a:pPr>
            <a:r>
              <a:rPr lang="en-GB" dirty="0">
                <a:solidFill>
                  <a:prstClr val="white"/>
                </a:solidFill>
              </a:rPr>
              <a:t>Show it’s a quote – use ‘quotation marks’</a:t>
            </a:r>
          </a:p>
          <a:p>
            <a:endParaRPr lang="en-GB" dirty="0">
              <a:solidFill>
                <a:prstClr val="white"/>
              </a:solidFill>
            </a:endParaRPr>
          </a:p>
          <a:p>
            <a:pPr>
              <a:buFont typeface="Arial" pitchFamily="34" charset="0"/>
              <a:buChar char="•"/>
            </a:pPr>
            <a:r>
              <a:rPr lang="en-GB" dirty="0">
                <a:solidFill>
                  <a:prstClr val="white"/>
                </a:solidFill>
              </a:rPr>
              <a:t>Give the right reference:</a:t>
            </a:r>
          </a:p>
          <a:p>
            <a:pPr>
              <a:buFont typeface="Arial" pitchFamily="34" charset="0"/>
              <a:buChar char="•"/>
            </a:pPr>
            <a:endParaRPr lang="en-GB" dirty="0">
              <a:solidFill>
                <a:prstClr val="white"/>
              </a:solidFill>
            </a:endParaRPr>
          </a:p>
          <a:p>
            <a:pPr lvl="1">
              <a:buFont typeface="Arial" pitchFamily="34" charset="0"/>
              <a:buChar char="•"/>
            </a:pPr>
            <a:r>
              <a:rPr lang="en-GB" dirty="0">
                <a:solidFill>
                  <a:prstClr val="white"/>
                </a:solidFill>
              </a:rPr>
              <a:t>Author’s name</a:t>
            </a:r>
          </a:p>
          <a:p>
            <a:pPr lvl="1">
              <a:buFont typeface="Arial" pitchFamily="34" charset="0"/>
              <a:buChar char="•"/>
            </a:pPr>
            <a:r>
              <a:rPr lang="en-GB" dirty="0">
                <a:solidFill>
                  <a:prstClr val="white"/>
                </a:solidFill>
              </a:rPr>
              <a:t>Year of publication</a:t>
            </a:r>
          </a:p>
          <a:p>
            <a:pPr lvl="1">
              <a:buFont typeface="Arial" pitchFamily="34" charset="0"/>
              <a:buChar char="•"/>
            </a:pPr>
            <a:r>
              <a:rPr lang="en-GB" dirty="0">
                <a:solidFill>
                  <a:prstClr val="white"/>
                </a:solidFill>
              </a:rPr>
              <a:t>Page reference</a:t>
            </a:r>
          </a:p>
          <a:p>
            <a:pPr>
              <a:buFont typeface="Arial" pitchFamily="34" charset="0"/>
              <a:buChar char="•"/>
            </a:pPr>
            <a:endParaRPr lang="en-GB" dirty="0">
              <a:solidFill>
                <a:prstClr val="black"/>
              </a:solidFill>
            </a:endParaRPr>
          </a:p>
          <a:p>
            <a:pPr>
              <a:buFont typeface="Arial" pitchFamily="34" charset="0"/>
              <a:buChar char="•"/>
            </a:pPr>
            <a:endParaRPr lang="en-GB" dirty="0">
              <a:solidFill>
                <a:prstClr val="black"/>
              </a:solidFill>
            </a:endParaRPr>
          </a:p>
        </p:txBody>
      </p:sp>
    </p:spTree>
    <p:extLst>
      <p:ext uri="{BB962C8B-B14F-4D97-AF65-F5344CB8AC3E}">
        <p14:creationId xmlns:p14="http://schemas.microsoft.com/office/powerpoint/2010/main" val="3767298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2625"/>
            <a:ext cx="8229600" cy="899699"/>
          </a:xfrm>
        </p:spPr>
        <p:txBody>
          <a:bodyPr>
            <a:noAutofit/>
          </a:bodyPr>
          <a:lstStyle/>
          <a:p>
            <a:pPr algn="l"/>
            <a:r>
              <a:rPr lang="en-US" sz="3600" dirty="0">
                <a:solidFill>
                  <a:srgbClr val="002060"/>
                </a:solidFill>
              </a:rPr>
              <a:t>How to avoid Plagiarism: Direct Quotation</a:t>
            </a:r>
          </a:p>
        </p:txBody>
      </p:sp>
      <p:sp>
        <p:nvSpPr>
          <p:cNvPr id="5" name="Content Placeholder 4"/>
          <p:cNvSpPr>
            <a:spLocks noGrp="1"/>
          </p:cNvSpPr>
          <p:nvPr>
            <p:ph idx="1"/>
          </p:nvPr>
        </p:nvSpPr>
        <p:spPr>
          <a:xfrm>
            <a:off x="457200" y="973298"/>
            <a:ext cx="8229600" cy="4525963"/>
          </a:xfrm>
        </p:spPr>
        <p:txBody>
          <a:bodyPr/>
          <a:lstStyle/>
          <a:p>
            <a:r>
              <a:rPr lang="en-US" sz="2000" dirty="0"/>
              <a:t>If you use somebody else’s words, present them as direct quote (</a:t>
            </a:r>
            <a:r>
              <a:rPr lang="en-US" sz="2000" dirty="0" err="1"/>
              <a:t>ie</a:t>
            </a:r>
            <a:r>
              <a:rPr lang="en-US" sz="2000" dirty="0"/>
              <a:t> put into quotation marks) and </a:t>
            </a:r>
            <a:r>
              <a:rPr lang="en-US" sz="2000" dirty="0">
                <a:solidFill>
                  <a:srgbClr val="FF0000"/>
                </a:solidFill>
              </a:rPr>
              <a:t>cite the source</a:t>
            </a:r>
            <a:r>
              <a:rPr lang="en-US" sz="2000" dirty="0"/>
              <a:t>, following Harvard Referencing system</a:t>
            </a:r>
          </a:p>
          <a:p>
            <a:endParaRPr lang="en-US" sz="2000" dirty="0"/>
          </a:p>
          <a:p>
            <a:pPr marL="0" indent="0">
              <a:buNone/>
            </a:pPr>
            <a:endParaRPr lang="en-US" dirty="0"/>
          </a:p>
        </p:txBody>
      </p:sp>
      <p:pic>
        <p:nvPicPr>
          <p:cNvPr id="6" name="Picture 5" descr="Screen shot 2018-01-21 at 19.41.1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0177" y="2265020"/>
            <a:ext cx="6578600" cy="2184400"/>
          </a:xfrm>
          <a:prstGeom prst="rect">
            <a:avLst/>
          </a:prstGeom>
          <a:ln>
            <a:noFill/>
          </a:ln>
          <a:effectLst>
            <a:outerShdw blurRad="292100" dist="139700" dir="2700000" algn="tl" rotWithShape="0">
              <a:srgbClr val="333333">
                <a:alpha val="65000"/>
              </a:srgbClr>
            </a:outerShdw>
          </a:effectLst>
        </p:spPr>
      </p:pic>
      <p:sp>
        <p:nvSpPr>
          <p:cNvPr id="7" name="Rectangle 6"/>
          <p:cNvSpPr/>
          <p:nvPr/>
        </p:nvSpPr>
        <p:spPr>
          <a:xfrm>
            <a:off x="863078" y="2416482"/>
            <a:ext cx="6201829" cy="64110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Curved Right Arrow 7"/>
          <p:cNvSpPr/>
          <p:nvPr/>
        </p:nvSpPr>
        <p:spPr>
          <a:xfrm rot="21079546">
            <a:off x="452792" y="2668029"/>
            <a:ext cx="635619" cy="2939962"/>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1597701" y="4692721"/>
            <a:ext cx="6842974" cy="1200329"/>
          </a:xfrm>
          <a:prstGeom prst="rect">
            <a:avLst/>
          </a:prstGeom>
          <a:noFill/>
        </p:spPr>
        <p:txBody>
          <a:bodyPr wrap="square" rtlCol="0">
            <a:spAutoFit/>
          </a:bodyPr>
          <a:lstStyle/>
          <a:p>
            <a:r>
              <a:rPr lang="en-US" dirty="0"/>
              <a:t>Cox and Cohen (2014, p2) describe a human being as ‘Objectively, nothing of consequence. Particles of dust in an infinite arena, present for an instant in eternity. Clumps of atoms in a universe with more galaxies than people.’   </a:t>
            </a:r>
          </a:p>
        </p:txBody>
      </p:sp>
      <p:sp>
        <p:nvSpPr>
          <p:cNvPr id="2" name="TextBox 1"/>
          <p:cNvSpPr txBox="1"/>
          <p:nvPr/>
        </p:nvSpPr>
        <p:spPr>
          <a:xfrm>
            <a:off x="730177" y="6021288"/>
            <a:ext cx="7956623" cy="978729"/>
          </a:xfrm>
          <a:prstGeom prst="rect">
            <a:avLst/>
          </a:prstGeom>
          <a:noFill/>
        </p:spPr>
        <p:txBody>
          <a:bodyPr wrap="square" rtlCol="0">
            <a:spAutoFit/>
          </a:bodyPr>
          <a:lstStyle/>
          <a:p>
            <a:r>
              <a:rPr lang="en-GB" dirty="0"/>
              <a:t>End Text Ref: </a:t>
            </a:r>
          </a:p>
          <a:p>
            <a:pPr lvl="0" defTabSz="457200">
              <a:spcBef>
                <a:spcPct val="20000"/>
              </a:spcBef>
            </a:pPr>
            <a:r>
              <a:rPr lang="en-US" dirty="0">
                <a:solidFill>
                  <a:prstClr val="black"/>
                </a:solidFill>
              </a:rPr>
              <a:t>Cox, B. and Cohen, A. (2014) </a:t>
            </a:r>
            <a:r>
              <a:rPr lang="en-US" i="1" dirty="0">
                <a:solidFill>
                  <a:prstClr val="black"/>
                </a:solidFill>
              </a:rPr>
              <a:t>Human Universe. </a:t>
            </a:r>
            <a:r>
              <a:rPr lang="en-US" dirty="0">
                <a:solidFill>
                  <a:prstClr val="black"/>
                </a:solidFill>
              </a:rPr>
              <a:t>London: Harper Collins.</a:t>
            </a:r>
          </a:p>
          <a:p>
            <a:endParaRPr lang="en-GB" dirty="0"/>
          </a:p>
        </p:txBody>
      </p:sp>
    </p:spTree>
    <p:extLst>
      <p:ext uri="{BB962C8B-B14F-4D97-AF65-F5344CB8AC3E}">
        <p14:creationId xmlns:p14="http://schemas.microsoft.com/office/powerpoint/2010/main" val="4168461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Quotations- different arrangements</a:t>
            </a:r>
          </a:p>
        </p:txBody>
      </p:sp>
      <p:sp>
        <p:nvSpPr>
          <p:cNvPr id="3" name="Content Placeholder 2"/>
          <p:cNvSpPr>
            <a:spLocks noGrp="1"/>
          </p:cNvSpPr>
          <p:nvPr>
            <p:ph idx="1"/>
          </p:nvPr>
        </p:nvSpPr>
        <p:spPr/>
        <p:txBody>
          <a:bodyPr>
            <a:normAutofit fontScale="55000" lnSpcReduction="20000"/>
          </a:bodyPr>
          <a:lstStyle/>
          <a:p>
            <a:r>
              <a:rPr lang="en-GB" dirty="0" err="1"/>
              <a:t>Widdowson</a:t>
            </a:r>
            <a:r>
              <a:rPr lang="en-GB" dirty="0"/>
              <a:t> (1979, p. 5) states that ‘There is a good deal of argument in favour of extending the concept of competence to cover the ability to use language to communicative effect.'</a:t>
            </a:r>
          </a:p>
          <a:p>
            <a:r>
              <a:rPr lang="en-GB" dirty="0"/>
              <a:t>According to </a:t>
            </a:r>
            <a:r>
              <a:rPr lang="en-GB" dirty="0" err="1"/>
              <a:t>Widdowson</a:t>
            </a:r>
            <a:r>
              <a:rPr lang="en-GB" dirty="0"/>
              <a:t> (1979),‘There is a good deal of argument in favour of extending the concept of competence to cover the ability to use language to communicative effect' (p. 5).</a:t>
            </a:r>
          </a:p>
          <a:p>
            <a:r>
              <a:rPr lang="en-GB" dirty="0"/>
              <a:t>According to </a:t>
            </a:r>
            <a:r>
              <a:rPr lang="en-GB" dirty="0" err="1"/>
              <a:t>Widdowson</a:t>
            </a:r>
            <a:r>
              <a:rPr lang="en-GB" dirty="0"/>
              <a:t>, ‘There is a good deal of argument in favour of extending the concept of competence to cover the ability to use language to communicative effect' (1979, p. 5).</a:t>
            </a:r>
          </a:p>
          <a:p>
            <a:r>
              <a:rPr lang="en-GB" dirty="0"/>
              <a:t>According to one researcher, ‘There is a good deal of argument in favour of extending the concept of competence to cover the ability to use language to communicative effect' (</a:t>
            </a:r>
            <a:r>
              <a:rPr lang="en-GB" dirty="0" err="1"/>
              <a:t>Widdowson</a:t>
            </a:r>
            <a:r>
              <a:rPr lang="en-GB" dirty="0"/>
              <a:t>, 1979, p. 5).</a:t>
            </a:r>
          </a:p>
          <a:p>
            <a:endParaRPr lang="en-GB" dirty="0"/>
          </a:p>
          <a:p>
            <a:pPr>
              <a:buNone/>
            </a:pPr>
            <a:r>
              <a:rPr lang="en-GB" dirty="0"/>
              <a:t>	(In all cases at end of essay) </a:t>
            </a:r>
          </a:p>
          <a:p>
            <a:pPr>
              <a:buNone/>
            </a:pPr>
            <a:r>
              <a:rPr lang="en-GB" i="1" dirty="0"/>
              <a:t>	References</a:t>
            </a:r>
          </a:p>
          <a:p>
            <a:r>
              <a:rPr lang="en-GB" dirty="0" err="1"/>
              <a:t>Widdowson</a:t>
            </a:r>
            <a:r>
              <a:rPr lang="en-GB" dirty="0"/>
              <a:t>, H. G. (1979). </a:t>
            </a:r>
            <a:r>
              <a:rPr lang="en-GB" i="1" dirty="0"/>
              <a:t>Explorations in applied linguistics</a:t>
            </a:r>
            <a:r>
              <a:rPr lang="en-GB" dirty="0"/>
              <a:t>. Oxford: Oxford University Press.</a:t>
            </a:r>
          </a:p>
          <a:p>
            <a:endParaRPr lang="en-GB"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95536" y="260648"/>
            <a:ext cx="8229600" cy="1143000"/>
          </a:xfrm>
        </p:spPr>
        <p:txBody>
          <a:bodyPr>
            <a:normAutofit fontScale="90000"/>
          </a:bodyPr>
          <a:lstStyle/>
          <a:p>
            <a:pPr algn="l"/>
            <a:r>
              <a:rPr lang="en-GB" i="1" dirty="0"/>
              <a:t>Reasons for using direct quotations:</a:t>
            </a:r>
            <a:r>
              <a:rPr lang="en-GB" dirty="0"/>
              <a:t> </a:t>
            </a:r>
            <a:br>
              <a:rPr lang="en-GB" dirty="0"/>
            </a:br>
            <a:endParaRPr lang="en-GB" dirty="0"/>
          </a:p>
        </p:txBody>
      </p:sp>
      <p:sp>
        <p:nvSpPr>
          <p:cNvPr id="3" name="Content Placeholder 2"/>
          <p:cNvSpPr>
            <a:spLocks noGrp="1"/>
          </p:cNvSpPr>
          <p:nvPr>
            <p:ph idx="1"/>
          </p:nvPr>
        </p:nvSpPr>
        <p:spPr/>
        <p:txBody>
          <a:bodyPr/>
          <a:lstStyle/>
          <a:p>
            <a:pPr lvl="0"/>
            <a:r>
              <a:rPr lang="en-GB" dirty="0"/>
              <a:t>quote if you use another person's words: you must not use another person's words as your own</a:t>
            </a:r>
          </a:p>
          <a:p>
            <a:pPr lvl="0"/>
            <a:r>
              <a:rPr lang="en-GB" dirty="0"/>
              <a:t>you need to support your points, quoting is one way to do this </a:t>
            </a:r>
          </a:p>
          <a:p>
            <a:pPr lvl="0"/>
            <a:r>
              <a:rPr lang="en-GB" dirty="0"/>
              <a:t>quote if the language used in the quotation says what you want to say particularly well </a:t>
            </a:r>
          </a:p>
          <a:p>
            <a:pPr lvl="0" algn="ctr">
              <a:buNone/>
            </a:pPr>
            <a:r>
              <a:rPr lang="en-GB" i="1" dirty="0"/>
              <a:t>‘To be or not to be, that is the question’</a:t>
            </a:r>
          </a:p>
          <a:p>
            <a:pPr lvl="0">
              <a:buNone/>
            </a:pPr>
            <a:endParaRPr lang="en-GB" dirty="0"/>
          </a:p>
          <a:p>
            <a:endParaRPr lang="en-GB"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Missing out or adding words</a:t>
            </a:r>
          </a:p>
        </p:txBody>
      </p:sp>
      <p:sp>
        <p:nvSpPr>
          <p:cNvPr id="3" name="Content Placeholder 2"/>
          <p:cNvSpPr>
            <a:spLocks noGrp="1"/>
          </p:cNvSpPr>
          <p:nvPr>
            <p:ph idx="1"/>
          </p:nvPr>
        </p:nvSpPr>
        <p:spPr>
          <a:xfrm>
            <a:off x="467544" y="1711349"/>
            <a:ext cx="6192688" cy="4525963"/>
          </a:xfrm>
        </p:spPr>
        <p:txBody>
          <a:bodyPr>
            <a:normAutofit/>
          </a:bodyPr>
          <a:lstStyle/>
          <a:p>
            <a:pPr marL="0" indent="0">
              <a:buNone/>
            </a:pPr>
            <a:r>
              <a:rPr lang="en-GB" dirty="0"/>
              <a:t>Original text: </a:t>
            </a:r>
          </a:p>
          <a:p>
            <a:pPr marL="0" indent="0">
              <a:buNone/>
            </a:pPr>
            <a:r>
              <a:rPr lang="en-GB" i="1" dirty="0"/>
              <a:t>The placebo effect, which had been verified in previous studies, disappeared when behaviours were studied in this manner.</a:t>
            </a:r>
          </a:p>
          <a:p>
            <a:pPr marL="0" indent="0">
              <a:buNone/>
            </a:pPr>
            <a:endParaRPr lang="en-GB" i="1" dirty="0"/>
          </a:p>
        </p:txBody>
      </p:sp>
      <p:pic>
        <p:nvPicPr>
          <p:cNvPr id="43010" name="Picture 2" descr="http://static.ddmcdn.com/gif/placebo-1.jpg"/>
          <p:cNvPicPr>
            <a:picLocks noChangeAspect="1" noChangeArrowheads="1"/>
          </p:cNvPicPr>
          <p:nvPr/>
        </p:nvPicPr>
        <p:blipFill>
          <a:blip r:embed="rId3" cstate="print"/>
          <a:srcRect/>
          <a:stretch>
            <a:fillRect/>
          </a:stretch>
        </p:blipFill>
        <p:spPr bwMode="auto">
          <a:xfrm>
            <a:off x="5508104" y="4077072"/>
            <a:ext cx="3377952" cy="2533464"/>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Missing out or adding words</a:t>
            </a:r>
          </a:p>
        </p:txBody>
      </p:sp>
      <p:sp>
        <p:nvSpPr>
          <p:cNvPr id="3" name="Content Placeholder 2"/>
          <p:cNvSpPr>
            <a:spLocks noGrp="1"/>
          </p:cNvSpPr>
          <p:nvPr>
            <p:ph idx="1"/>
          </p:nvPr>
        </p:nvSpPr>
        <p:spPr/>
        <p:txBody>
          <a:bodyPr>
            <a:normAutofit lnSpcReduction="10000"/>
          </a:bodyPr>
          <a:lstStyle/>
          <a:p>
            <a:r>
              <a:rPr lang="en-GB" dirty="0"/>
              <a:t>He stated ‘The placebo effect ... disappeared when behaviours were studied in this manner’ (Smith, 1982, p. 276), but he did not clarify which behaviours were studied.</a:t>
            </a:r>
          </a:p>
          <a:p>
            <a:r>
              <a:rPr lang="en-GB" dirty="0"/>
              <a:t>Smith (1982) found that ‘The placebo effect, which had been verified in previous studies, disappeared when [his own and others’] behaviours were studied in this manner’ (p. 276).</a:t>
            </a:r>
          </a:p>
          <a:p>
            <a:endParaRPr lang="en-GB" dirty="0"/>
          </a:p>
        </p:txBody>
      </p:sp>
      <p:sp>
        <p:nvSpPr>
          <p:cNvPr id="4" name="Oval 3"/>
          <p:cNvSpPr/>
          <p:nvPr/>
        </p:nvSpPr>
        <p:spPr>
          <a:xfrm>
            <a:off x="7524328" y="188640"/>
            <a:ext cx="1080120" cy="1050912"/>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38643883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sz="4000" dirty="0">
                <a:solidFill>
                  <a:srgbClr val="FF0000"/>
                </a:solidFill>
              </a:rPr>
              <a:t>Quote</a:t>
            </a:r>
            <a:r>
              <a:rPr lang="en-GB" sz="4000" dirty="0">
                <a:solidFill>
                  <a:prstClr val="black"/>
                </a:solidFill>
              </a:rPr>
              <a:t> </a:t>
            </a:r>
            <a:r>
              <a:rPr lang="en-GB" sz="4000" dirty="0">
                <a:solidFill>
                  <a:srgbClr val="4BACC6"/>
                </a:solidFill>
              </a:rPr>
              <a:t>within a</a:t>
            </a:r>
            <a:r>
              <a:rPr lang="en-GB" sz="4000" dirty="0">
                <a:solidFill>
                  <a:prstClr val="black"/>
                </a:solidFill>
              </a:rPr>
              <a:t> </a:t>
            </a:r>
            <a:r>
              <a:rPr lang="en-GB" sz="4000" dirty="0">
                <a:solidFill>
                  <a:srgbClr val="FF0000"/>
                </a:solidFill>
              </a:rPr>
              <a:t>quote</a:t>
            </a:r>
            <a:r>
              <a:rPr lang="en-GB" sz="4000" dirty="0">
                <a:solidFill>
                  <a:prstClr val="black"/>
                </a:solidFill>
              </a:rPr>
              <a:t> (nested quote)</a:t>
            </a:r>
            <a:endParaRPr lang="en-GB" dirty="0"/>
          </a:p>
        </p:txBody>
      </p:sp>
      <p:sp>
        <p:nvSpPr>
          <p:cNvPr id="3" name="Content Placeholder 2"/>
          <p:cNvSpPr>
            <a:spLocks noGrp="1"/>
          </p:cNvSpPr>
          <p:nvPr>
            <p:ph idx="1"/>
          </p:nvPr>
        </p:nvSpPr>
        <p:spPr/>
        <p:txBody>
          <a:bodyPr/>
          <a:lstStyle/>
          <a:p>
            <a:pPr marL="0" indent="0">
              <a:buNone/>
            </a:pPr>
            <a:r>
              <a:rPr lang="en-GB" dirty="0"/>
              <a:t>Unwin (2019) said that </a:t>
            </a:r>
            <a:r>
              <a:rPr lang="en-GB" dirty="0">
                <a:solidFill>
                  <a:srgbClr val="FF0000"/>
                </a:solidFill>
              </a:rPr>
              <a:t>‘</a:t>
            </a:r>
            <a:r>
              <a:rPr lang="en-GB" dirty="0"/>
              <a:t>to paraphrase Hamlet’s line </a:t>
            </a:r>
            <a:r>
              <a:rPr lang="en-GB" dirty="0">
                <a:solidFill>
                  <a:schemeClr val="tx2">
                    <a:lumMod val="40000"/>
                    <a:lumOff val="60000"/>
                  </a:schemeClr>
                </a:solidFill>
              </a:rPr>
              <a:t>“</a:t>
            </a:r>
            <a:r>
              <a:rPr lang="en-GB" dirty="0"/>
              <a:t>To be or not to be, that is the question</a:t>
            </a:r>
            <a:r>
              <a:rPr lang="en-GB" dirty="0">
                <a:solidFill>
                  <a:schemeClr val="tx2">
                    <a:lumMod val="40000"/>
                    <a:lumOff val="60000"/>
                  </a:schemeClr>
                </a:solidFill>
              </a:rPr>
              <a:t>”</a:t>
            </a:r>
            <a:r>
              <a:rPr lang="en-GB" dirty="0"/>
              <a:t> would be a mistake.</a:t>
            </a:r>
            <a:r>
              <a:rPr lang="en-GB" dirty="0">
                <a:solidFill>
                  <a:srgbClr val="FF0000"/>
                </a:solidFill>
              </a:rPr>
              <a:t>’</a:t>
            </a:r>
          </a:p>
          <a:p>
            <a:pPr marL="0" indent="0">
              <a:buNone/>
            </a:pPr>
            <a:endParaRPr lang="en-GB" dirty="0"/>
          </a:p>
        </p:txBody>
      </p:sp>
    </p:spTree>
    <p:extLst>
      <p:ext uri="{BB962C8B-B14F-4D97-AF65-F5344CB8AC3E}">
        <p14:creationId xmlns:p14="http://schemas.microsoft.com/office/powerpoint/2010/main" val="10287129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8640"/>
            <a:ext cx="8229600" cy="1143000"/>
          </a:xfrm>
        </p:spPr>
        <p:txBody>
          <a:bodyPr/>
          <a:lstStyle/>
          <a:p>
            <a:pPr algn="l"/>
            <a:r>
              <a:rPr lang="en-GB" dirty="0"/>
              <a:t>Long quotes: Formatting</a:t>
            </a:r>
          </a:p>
        </p:txBody>
      </p:sp>
      <p:sp>
        <p:nvSpPr>
          <p:cNvPr id="3" name="Content Placeholder 2"/>
          <p:cNvSpPr>
            <a:spLocks noGrp="1"/>
          </p:cNvSpPr>
          <p:nvPr>
            <p:ph idx="1"/>
          </p:nvPr>
        </p:nvSpPr>
        <p:spPr>
          <a:xfrm>
            <a:off x="457200" y="1556792"/>
            <a:ext cx="8229600" cy="4525963"/>
          </a:xfrm>
        </p:spPr>
        <p:txBody>
          <a:bodyPr>
            <a:normAutofit fontScale="77500" lnSpcReduction="20000"/>
          </a:bodyPr>
          <a:lstStyle/>
          <a:p>
            <a:pPr>
              <a:buNone/>
            </a:pPr>
            <a:r>
              <a:rPr lang="en-GB" sz="2300" dirty="0"/>
              <a:t> According to Smith (1982, p. 276), ‘ The placebo effect, which had been  verified in </a:t>
            </a:r>
          </a:p>
          <a:p>
            <a:pPr>
              <a:buNone/>
            </a:pPr>
            <a:r>
              <a:rPr lang="en-GB" sz="2300" dirty="0"/>
              <a:t>previous studies, disappeared when behaviours were studied in  this manner.</a:t>
            </a:r>
          </a:p>
          <a:p>
            <a:pPr>
              <a:buNone/>
            </a:pPr>
            <a:r>
              <a:rPr lang="en-GB" sz="2300" dirty="0"/>
              <a:t>Furthermore, the behaviours were never exhibited again, even when real</a:t>
            </a:r>
          </a:p>
          <a:p>
            <a:pPr>
              <a:buNone/>
            </a:pPr>
            <a:r>
              <a:rPr lang="en-GB" sz="2300" dirty="0"/>
              <a:t>drugs were administered. Earlier studies were clearly premature in attributing the</a:t>
            </a:r>
          </a:p>
          <a:p>
            <a:pPr>
              <a:buNone/>
            </a:pPr>
            <a:r>
              <a:rPr lang="en-GB" sz="2300" dirty="0"/>
              <a:t> results to the placebo effect.’ Consequently, researchers in the US decided to...</a:t>
            </a:r>
          </a:p>
          <a:p>
            <a:pPr>
              <a:buNone/>
            </a:pPr>
            <a:endParaRPr lang="en-GB" sz="2300" dirty="0"/>
          </a:p>
          <a:p>
            <a:pPr>
              <a:buNone/>
            </a:pPr>
            <a:r>
              <a:rPr lang="en-GB" sz="3600" dirty="0">
                <a:solidFill>
                  <a:srgbClr val="FF0000"/>
                </a:solidFill>
              </a:rPr>
              <a:t>NOT LIKE ABOVE BUT LIKE THIS</a:t>
            </a:r>
          </a:p>
          <a:p>
            <a:pPr>
              <a:buNone/>
            </a:pPr>
            <a:endParaRPr lang="en-GB" sz="2300" dirty="0"/>
          </a:p>
          <a:p>
            <a:pPr>
              <a:buNone/>
            </a:pPr>
            <a:endParaRPr lang="en-GB" sz="2300" dirty="0"/>
          </a:p>
          <a:p>
            <a:pPr>
              <a:buNone/>
            </a:pPr>
            <a:r>
              <a:rPr lang="en-GB" sz="2300" dirty="0"/>
              <a:t>According to Smith:</a:t>
            </a:r>
          </a:p>
          <a:p>
            <a:pPr>
              <a:buNone/>
            </a:pPr>
            <a:r>
              <a:rPr lang="en-GB" sz="2300" dirty="0"/>
              <a:t>	The ‘placebo effect’, which had been verified in previous studies, disappeared when behaviours were studied in this manner. Furthermore, the behaviours were never exhibited again, even when real drugs were administered. Earlier studies were clearly premature in attributing the results to the placebo effect.</a:t>
            </a:r>
          </a:p>
          <a:p>
            <a:pPr algn="r">
              <a:buNone/>
            </a:pPr>
            <a:r>
              <a:rPr lang="en-GB" sz="2300" dirty="0"/>
              <a:t>(1982, p. 276)</a:t>
            </a:r>
          </a:p>
          <a:p>
            <a:pPr>
              <a:buNone/>
            </a:pPr>
            <a:r>
              <a:rPr lang="en-GB" sz="2300" dirty="0"/>
              <a:t>Consequently, researchers in the US decided to...</a:t>
            </a:r>
          </a:p>
          <a:p>
            <a:pPr>
              <a:buNone/>
            </a:pPr>
            <a:endParaRPr lang="en-GB" dirty="0"/>
          </a:p>
        </p:txBody>
      </p:sp>
      <p:sp>
        <p:nvSpPr>
          <p:cNvPr id="4" name="TextBox 3"/>
          <p:cNvSpPr txBox="1"/>
          <p:nvPr/>
        </p:nvSpPr>
        <p:spPr>
          <a:xfrm>
            <a:off x="457200" y="1074884"/>
            <a:ext cx="8147248" cy="369332"/>
          </a:xfrm>
          <a:prstGeom prst="rect">
            <a:avLst/>
          </a:prstGeom>
          <a:noFill/>
        </p:spPr>
        <p:txBody>
          <a:bodyPr wrap="square" rtlCol="0">
            <a:spAutoFit/>
          </a:bodyPr>
          <a:lstStyle/>
          <a:p>
            <a:r>
              <a:rPr lang="en-GB" b="1" i="1" dirty="0"/>
              <a:t>Long quotes= over two/three lines</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3878-EBD6-47DD-950E-600975D85E60}"/>
              </a:ext>
            </a:extLst>
          </p:cNvPr>
          <p:cNvSpPr>
            <a:spLocks noGrp="1"/>
          </p:cNvSpPr>
          <p:nvPr>
            <p:ph type="title"/>
          </p:nvPr>
        </p:nvSpPr>
        <p:spPr/>
        <p:txBody>
          <a:bodyPr/>
          <a:lstStyle/>
          <a:p>
            <a:r>
              <a:rPr lang="en-US" b="1" dirty="0"/>
              <a:t>Overlong quotes do not work!</a:t>
            </a:r>
            <a:endParaRPr lang="en-GB" b="1" dirty="0"/>
          </a:p>
        </p:txBody>
      </p:sp>
      <p:pic>
        <p:nvPicPr>
          <p:cNvPr id="4" name="Content Placeholder 3">
            <a:extLst>
              <a:ext uri="{FF2B5EF4-FFF2-40B4-BE49-F238E27FC236}">
                <a16:creationId xmlns:a16="http://schemas.microsoft.com/office/drawing/2014/main" id="{F7E083C3-8374-4E92-97FD-E1EB55FB1A36}"/>
              </a:ext>
            </a:extLst>
          </p:cNvPr>
          <p:cNvPicPr>
            <a:picLocks noGrp="1" noChangeAspect="1"/>
          </p:cNvPicPr>
          <p:nvPr>
            <p:ph idx="1"/>
          </p:nvPr>
        </p:nvPicPr>
        <p:blipFill>
          <a:blip r:embed="rId2"/>
          <a:stretch>
            <a:fillRect/>
          </a:stretch>
        </p:blipFill>
        <p:spPr>
          <a:xfrm>
            <a:off x="1886173" y="1424960"/>
            <a:ext cx="5371653" cy="4008079"/>
          </a:xfrm>
          <a:prstGeom prst="rect">
            <a:avLst/>
          </a:prstGeom>
        </p:spPr>
      </p:pic>
    </p:spTree>
    <p:extLst>
      <p:ext uri="{BB962C8B-B14F-4D97-AF65-F5344CB8AC3E}">
        <p14:creationId xmlns:p14="http://schemas.microsoft.com/office/powerpoint/2010/main" val="3189775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43878-EBD6-47DD-950E-600975D85E60}"/>
              </a:ext>
            </a:extLst>
          </p:cNvPr>
          <p:cNvSpPr>
            <a:spLocks noGrp="1"/>
          </p:cNvSpPr>
          <p:nvPr>
            <p:ph type="title"/>
          </p:nvPr>
        </p:nvSpPr>
        <p:spPr/>
        <p:txBody>
          <a:bodyPr>
            <a:normAutofit fontScale="90000"/>
          </a:bodyPr>
          <a:lstStyle/>
          <a:p>
            <a:r>
              <a:rPr lang="en-US" b="1" dirty="0"/>
              <a:t>Use a mix of direct, summary and paraphrase</a:t>
            </a:r>
            <a:endParaRPr lang="en-GB" b="1" dirty="0"/>
          </a:p>
        </p:txBody>
      </p:sp>
      <p:pic>
        <p:nvPicPr>
          <p:cNvPr id="4" name="Content Placeholder 3">
            <a:extLst>
              <a:ext uri="{FF2B5EF4-FFF2-40B4-BE49-F238E27FC236}">
                <a16:creationId xmlns:a16="http://schemas.microsoft.com/office/drawing/2014/main" id="{F7E083C3-8374-4E92-97FD-E1EB55FB1A36}"/>
              </a:ext>
            </a:extLst>
          </p:cNvPr>
          <p:cNvPicPr>
            <a:picLocks noGrp="1" noChangeAspect="1"/>
          </p:cNvPicPr>
          <p:nvPr>
            <p:ph idx="1"/>
          </p:nvPr>
        </p:nvPicPr>
        <p:blipFill>
          <a:blip r:embed="rId2"/>
          <a:stretch>
            <a:fillRect/>
          </a:stretch>
        </p:blipFill>
        <p:spPr>
          <a:xfrm>
            <a:off x="1886173" y="1424960"/>
            <a:ext cx="5371653" cy="4008079"/>
          </a:xfrm>
          <a:prstGeom prst="rect">
            <a:avLst/>
          </a:prstGeom>
        </p:spPr>
      </p:pic>
    </p:spTree>
    <p:extLst>
      <p:ext uri="{BB962C8B-B14F-4D97-AF65-F5344CB8AC3E}">
        <p14:creationId xmlns:p14="http://schemas.microsoft.com/office/powerpoint/2010/main" val="255724722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i="1" dirty="0"/>
              <a:t>Reasons for not using quotations:</a:t>
            </a:r>
            <a:r>
              <a:rPr lang="en-GB" dirty="0"/>
              <a:t> </a:t>
            </a:r>
            <a:br>
              <a:rPr lang="en-GB" dirty="0"/>
            </a:br>
            <a:endParaRPr lang="en-GB" dirty="0"/>
          </a:p>
        </p:txBody>
      </p:sp>
      <p:sp>
        <p:nvSpPr>
          <p:cNvPr id="3" name="Content Placeholder 2"/>
          <p:cNvSpPr>
            <a:spLocks noGrp="1"/>
          </p:cNvSpPr>
          <p:nvPr>
            <p:ph idx="1"/>
          </p:nvPr>
        </p:nvSpPr>
        <p:spPr/>
        <p:txBody>
          <a:bodyPr>
            <a:normAutofit fontScale="92500" lnSpcReduction="10000"/>
          </a:bodyPr>
          <a:lstStyle/>
          <a:p>
            <a:pPr lvl="0"/>
            <a:r>
              <a:rPr lang="en-GB" dirty="0"/>
              <a:t>if the information is well-known in your subject area</a:t>
            </a:r>
          </a:p>
          <a:p>
            <a:pPr lvl="0"/>
            <a:r>
              <a:rPr lang="en-GB" dirty="0"/>
              <a:t>If it disagrees with your argument unless you can prove it is wrong</a:t>
            </a:r>
          </a:p>
          <a:p>
            <a:pPr lvl="0"/>
            <a:r>
              <a:rPr lang="en-GB" dirty="0"/>
              <a:t>if you cannot understand the meaning of the original source</a:t>
            </a:r>
          </a:p>
          <a:p>
            <a:pPr lvl="0"/>
            <a:r>
              <a:rPr lang="en-GB" dirty="0"/>
              <a:t>if you are not able to paraphrase the original </a:t>
            </a:r>
          </a:p>
          <a:p>
            <a:pPr lvl="0"/>
            <a:r>
              <a:rPr lang="en-GB" b="1" dirty="0">
                <a:solidFill>
                  <a:srgbClr val="FF0000"/>
                </a:solidFill>
              </a:rPr>
              <a:t>do not use quotations to make your points for you; use them to support your points. </a:t>
            </a:r>
          </a:p>
          <a:p>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2466" name="Picture 2" descr="http://us.123rf.com/400wm/400/400/dskdesign/dskdesign1204/dskdesign120400810/13417102-business-man-drawing-80--20-percent-pie-chart.jpg"/>
          <p:cNvPicPr>
            <a:picLocks noChangeAspect="1" noChangeArrowheads="1"/>
          </p:cNvPicPr>
          <p:nvPr/>
        </p:nvPicPr>
        <p:blipFill>
          <a:blip r:embed="rId3" cstate="print"/>
          <a:srcRect t="12910" r="14286" b="7479"/>
          <a:stretch>
            <a:fillRect/>
          </a:stretch>
        </p:blipFill>
        <p:spPr bwMode="auto">
          <a:xfrm>
            <a:off x="2627784" y="836712"/>
            <a:ext cx="3841723" cy="3384376"/>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3" name="TextBox 2"/>
          <p:cNvSpPr txBox="1"/>
          <p:nvPr/>
        </p:nvSpPr>
        <p:spPr>
          <a:xfrm>
            <a:off x="539552" y="260648"/>
            <a:ext cx="4680520" cy="461665"/>
          </a:xfrm>
          <a:prstGeom prst="rect">
            <a:avLst/>
          </a:prstGeom>
          <a:noFill/>
        </p:spPr>
        <p:txBody>
          <a:bodyPr wrap="square" rtlCol="0">
            <a:spAutoFit/>
          </a:bodyPr>
          <a:lstStyle/>
          <a:p>
            <a:r>
              <a:rPr lang="en-GB" sz="2400" b="1" dirty="0"/>
              <a:t>The 80:20 Rule</a:t>
            </a:r>
          </a:p>
        </p:txBody>
      </p:sp>
      <p:sp>
        <p:nvSpPr>
          <p:cNvPr id="4" name="TextBox 3"/>
          <p:cNvSpPr txBox="1"/>
          <p:nvPr/>
        </p:nvSpPr>
        <p:spPr>
          <a:xfrm>
            <a:off x="827584" y="5157192"/>
            <a:ext cx="7416824" cy="1200329"/>
          </a:xfrm>
          <a:prstGeom prst="rect">
            <a:avLst/>
          </a:prstGeom>
          <a:noFill/>
        </p:spPr>
        <p:txBody>
          <a:bodyPr wrap="square" rtlCol="0">
            <a:spAutoFit/>
          </a:bodyPr>
          <a:lstStyle/>
          <a:p>
            <a:pPr algn="ctr">
              <a:buFont typeface="Arial" pitchFamily="34" charset="0"/>
              <a:buChar char="•"/>
            </a:pPr>
            <a:r>
              <a:rPr lang="en-GB" dirty="0"/>
              <a:t> Your essay should be approximately  </a:t>
            </a:r>
            <a:r>
              <a:rPr lang="en-GB" b="1" dirty="0"/>
              <a:t>80% citation, 20% you</a:t>
            </a:r>
          </a:p>
          <a:p>
            <a:pPr algn="ctr">
              <a:buFont typeface="Arial" pitchFamily="34" charset="0"/>
              <a:buChar char="•"/>
            </a:pPr>
            <a:endParaRPr lang="en-GB" dirty="0"/>
          </a:p>
          <a:p>
            <a:pPr algn="ctr">
              <a:buFont typeface="Arial" pitchFamily="34" charset="0"/>
              <a:buChar char="•"/>
            </a:pPr>
            <a:r>
              <a:rPr lang="en-GB" dirty="0"/>
              <a:t>Citation should be approximately </a:t>
            </a:r>
            <a:r>
              <a:rPr lang="en-GB" b="1" dirty="0"/>
              <a:t>80% Indirect, 20% direct</a:t>
            </a:r>
          </a:p>
          <a:p>
            <a:pPr algn="ctr">
              <a:buFont typeface="Arial" pitchFamily="34" charset="0"/>
              <a:buChar char="•"/>
            </a:pPr>
            <a:endParaRPr lang="en-GB" b="1"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79512" y="476672"/>
            <a:ext cx="8784976" cy="6048672"/>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en-GB"/>
          </a:p>
        </p:txBody>
      </p:sp>
      <p:sp>
        <p:nvSpPr>
          <p:cNvPr id="2" name="Title 1"/>
          <p:cNvSpPr>
            <a:spLocks noGrp="1"/>
          </p:cNvSpPr>
          <p:nvPr>
            <p:ph type="title"/>
          </p:nvPr>
        </p:nvSpPr>
        <p:spPr/>
        <p:txBody>
          <a:bodyPr/>
          <a:lstStyle/>
          <a:p>
            <a:pPr algn="l"/>
            <a:r>
              <a:rPr lang="en-GB" dirty="0"/>
              <a:t>Indirect Quotation</a:t>
            </a:r>
          </a:p>
        </p:txBody>
      </p:sp>
      <p:sp>
        <p:nvSpPr>
          <p:cNvPr id="3" name="Content Placeholder 2"/>
          <p:cNvSpPr>
            <a:spLocks noGrp="1"/>
          </p:cNvSpPr>
          <p:nvPr>
            <p:ph idx="1"/>
          </p:nvPr>
        </p:nvSpPr>
        <p:spPr/>
        <p:txBody>
          <a:bodyPr>
            <a:normAutofit fontScale="92500"/>
          </a:bodyPr>
          <a:lstStyle/>
          <a:p>
            <a:r>
              <a:rPr lang="en-GB" dirty="0"/>
              <a:t>Most of the essay will be this (remember 80:20 rule!)</a:t>
            </a:r>
          </a:p>
          <a:p>
            <a:r>
              <a:rPr lang="en-GB" dirty="0"/>
              <a:t>Consists of summary and paraphrase</a:t>
            </a:r>
          </a:p>
          <a:p>
            <a:r>
              <a:rPr lang="en-GB" dirty="0"/>
              <a:t>Much more ‘plastic’ and user-friendly!</a:t>
            </a:r>
          </a:p>
          <a:p>
            <a:r>
              <a:rPr lang="en-GB" dirty="0"/>
              <a:t>Take </a:t>
            </a:r>
            <a:r>
              <a:rPr lang="en-GB"/>
              <a:t>another author’s </a:t>
            </a:r>
            <a:r>
              <a:rPr lang="en-GB" dirty="0"/>
              <a:t>ideas and express them or summarise them</a:t>
            </a:r>
          </a:p>
          <a:p>
            <a:pPr algn="ctr">
              <a:buNone/>
            </a:pPr>
            <a:r>
              <a:rPr lang="en-GB" sz="4000" b="1" dirty="0">
                <a:solidFill>
                  <a:srgbClr val="7030A0"/>
                </a:solidFill>
              </a:rPr>
              <a:t>in you own words</a:t>
            </a:r>
          </a:p>
          <a:p>
            <a:pPr algn="ctr">
              <a:buNone/>
            </a:pPr>
            <a:r>
              <a:rPr lang="en-GB" sz="3000" b="1" dirty="0"/>
              <a:t>Must remember to say where the ideas came from!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US" dirty="0">
                <a:solidFill>
                  <a:srgbClr val="000090"/>
                </a:solidFill>
              </a:rPr>
              <a:t>How to avoid Plagiarism</a:t>
            </a:r>
          </a:p>
        </p:txBody>
      </p:sp>
      <p:sp>
        <p:nvSpPr>
          <p:cNvPr id="3" name="Content Placeholder 2"/>
          <p:cNvSpPr>
            <a:spLocks noGrp="1"/>
          </p:cNvSpPr>
          <p:nvPr>
            <p:ph idx="1"/>
          </p:nvPr>
        </p:nvSpPr>
        <p:spPr/>
        <p:txBody>
          <a:bodyPr/>
          <a:lstStyle/>
          <a:p>
            <a:r>
              <a:rPr lang="en-US" dirty="0"/>
              <a:t>If you choose not to use someone else’s words, you can </a:t>
            </a:r>
            <a:r>
              <a:rPr lang="en-US" dirty="0" err="1"/>
              <a:t>summarise</a:t>
            </a:r>
            <a:r>
              <a:rPr lang="en-US" dirty="0"/>
              <a:t> or paraphrase them.</a:t>
            </a:r>
          </a:p>
          <a:p>
            <a:r>
              <a:rPr lang="en-US" dirty="0"/>
              <a:t>But you must cite it- these are NOT your ideas:</a:t>
            </a:r>
          </a:p>
          <a:p>
            <a:pPr marL="0" indent="0">
              <a:buNone/>
            </a:pPr>
            <a:r>
              <a:rPr lang="en-US" dirty="0"/>
              <a:t>	</a:t>
            </a:r>
            <a:endParaRPr lang="en-US" sz="2400" dirty="0">
              <a:latin typeface="Cambria"/>
              <a:cs typeface="Cambria"/>
            </a:endParaRPr>
          </a:p>
        </p:txBody>
      </p:sp>
    </p:spTree>
    <p:extLst>
      <p:ext uri="{BB962C8B-B14F-4D97-AF65-F5344CB8AC3E}">
        <p14:creationId xmlns:p14="http://schemas.microsoft.com/office/powerpoint/2010/main" val="2783105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457200" y="72625"/>
            <a:ext cx="8229600" cy="899699"/>
          </a:xfrm>
        </p:spPr>
        <p:txBody>
          <a:bodyPr>
            <a:noAutofit/>
          </a:bodyPr>
          <a:lstStyle/>
          <a:p>
            <a:pPr algn="l"/>
            <a:r>
              <a:rPr lang="en-US" sz="3600" dirty="0">
                <a:solidFill>
                  <a:srgbClr val="002060"/>
                </a:solidFill>
              </a:rPr>
              <a:t>How to avoid Plagiarism: Indirect Citation</a:t>
            </a:r>
          </a:p>
        </p:txBody>
      </p:sp>
      <p:sp>
        <p:nvSpPr>
          <p:cNvPr id="5" name="Content Placeholder 4"/>
          <p:cNvSpPr>
            <a:spLocks noGrp="1"/>
          </p:cNvSpPr>
          <p:nvPr>
            <p:ph idx="1"/>
          </p:nvPr>
        </p:nvSpPr>
        <p:spPr>
          <a:xfrm>
            <a:off x="457200" y="973298"/>
            <a:ext cx="8229600" cy="4525963"/>
          </a:xfrm>
        </p:spPr>
        <p:txBody>
          <a:bodyPr/>
          <a:lstStyle/>
          <a:p>
            <a:pPr marL="0" indent="0">
              <a:buNone/>
            </a:pPr>
            <a:endParaRPr lang="en-US" sz="2000" dirty="0"/>
          </a:p>
          <a:p>
            <a:pPr marL="0" indent="0">
              <a:buNone/>
            </a:pPr>
            <a:endParaRPr lang="en-US" dirty="0"/>
          </a:p>
        </p:txBody>
      </p:sp>
      <p:pic>
        <p:nvPicPr>
          <p:cNvPr id="6" name="Picture 5" descr="Screen shot 2018-01-21 at 19.41.1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65403" y="1080003"/>
            <a:ext cx="6578600" cy="2184400"/>
          </a:xfrm>
          <a:prstGeom prst="rect">
            <a:avLst/>
          </a:prstGeom>
          <a:ln>
            <a:noFill/>
          </a:ln>
          <a:effectLst>
            <a:outerShdw blurRad="292100" dist="139700" dir="2700000" algn="tl" rotWithShape="0">
              <a:srgbClr val="333333">
                <a:alpha val="65000"/>
              </a:srgbClr>
            </a:outerShdw>
          </a:effectLst>
        </p:spPr>
      </p:pic>
      <p:sp>
        <p:nvSpPr>
          <p:cNvPr id="7" name="Rectangle 6"/>
          <p:cNvSpPr/>
          <p:nvPr/>
        </p:nvSpPr>
        <p:spPr>
          <a:xfrm>
            <a:off x="765403" y="1217350"/>
            <a:ext cx="6201829" cy="641107"/>
          </a:xfrm>
          <a:prstGeom prst="rect">
            <a:avLst/>
          </a:prstGeom>
          <a:noFill/>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8" name="Curved Right Arrow 7"/>
          <p:cNvSpPr/>
          <p:nvPr/>
        </p:nvSpPr>
        <p:spPr>
          <a:xfrm rot="21079546">
            <a:off x="272783" y="1532764"/>
            <a:ext cx="725083" cy="2843877"/>
          </a:xfrm>
          <a:prstGeom prst="curvedRightArrow">
            <a:avLst/>
          </a:prstGeom>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solidFill>
                <a:schemeClr val="tx1"/>
              </a:solidFill>
            </a:endParaRPr>
          </a:p>
        </p:txBody>
      </p:sp>
      <p:sp>
        <p:nvSpPr>
          <p:cNvPr id="10" name="TextBox 9"/>
          <p:cNvSpPr txBox="1"/>
          <p:nvPr/>
        </p:nvSpPr>
        <p:spPr>
          <a:xfrm>
            <a:off x="1150513" y="3491726"/>
            <a:ext cx="6842974" cy="1200329"/>
          </a:xfrm>
          <a:prstGeom prst="rect">
            <a:avLst/>
          </a:prstGeom>
          <a:noFill/>
        </p:spPr>
        <p:txBody>
          <a:bodyPr wrap="square" rtlCol="0">
            <a:spAutoFit/>
          </a:bodyPr>
          <a:lstStyle/>
          <a:p>
            <a:r>
              <a:rPr lang="en-US" dirty="0"/>
              <a:t>Cox and Cohen (2014, p2) describe a human being as ‘Objectively, nothing of consequence. Particles of dust in an infinite arena, present for an instant in eternity. Clumps of atoms in a universe with more galaxies than people.’   </a:t>
            </a:r>
          </a:p>
        </p:txBody>
      </p:sp>
      <p:sp>
        <p:nvSpPr>
          <p:cNvPr id="2" name="TextBox 1"/>
          <p:cNvSpPr txBox="1"/>
          <p:nvPr/>
        </p:nvSpPr>
        <p:spPr>
          <a:xfrm>
            <a:off x="730177" y="6021288"/>
            <a:ext cx="7956623" cy="978729"/>
          </a:xfrm>
          <a:prstGeom prst="rect">
            <a:avLst/>
          </a:prstGeom>
          <a:noFill/>
        </p:spPr>
        <p:txBody>
          <a:bodyPr wrap="square" rtlCol="0">
            <a:spAutoFit/>
          </a:bodyPr>
          <a:lstStyle/>
          <a:p>
            <a:r>
              <a:rPr lang="en-GB" dirty="0"/>
              <a:t>End Text Ref: </a:t>
            </a:r>
          </a:p>
          <a:p>
            <a:pPr lvl="0" defTabSz="457200">
              <a:spcBef>
                <a:spcPct val="20000"/>
              </a:spcBef>
            </a:pPr>
            <a:r>
              <a:rPr lang="en-US" dirty="0">
                <a:solidFill>
                  <a:prstClr val="black"/>
                </a:solidFill>
              </a:rPr>
              <a:t>Cox, B. and Cohen, A. (2014) </a:t>
            </a:r>
            <a:r>
              <a:rPr lang="en-US" i="1" dirty="0">
                <a:solidFill>
                  <a:prstClr val="black"/>
                </a:solidFill>
              </a:rPr>
              <a:t>Human Universe. </a:t>
            </a:r>
            <a:r>
              <a:rPr lang="en-US" dirty="0">
                <a:solidFill>
                  <a:prstClr val="black"/>
                </a:solidFill>
              </a:rPr>
              <a:t>London: Harper Collins.</a:t>
            </a:r>
          </a:p>
          <a:p>
            <a:endParaRPr lang="en-GB" dirty="0"/>
          </a:p>
        </p:txBody>
      </p:sp>
      <p:sp>
        <p:nvSpPr>
          <p:cNvPr id="3" name="TextBox 2"/>
          <p:cNvSpPr txBox="1"/>
          <p:nvPr/>
        </p:nvSpPr>
        <p:spPr>
          <a:xfrm>
            <a:off x="1208171" y="4941168"/>
            <a:ext cx="6785316" cy="923330"/>
          </a:xfrm>
          <a:prstGeom prst="rect">
            <a:avLst/>
          </a:prstGeom>
          <a:noFill/>
        </p:spPr>
        <p:txBody>
          <a:bodyPr wrap="square" rtlCol="0">
            <a:spAutoFit/>
          </a:bodyPr>
          <a:lstStyle/>
          <a:p>
            <a:r>
              <a:rPr lang="en-US" dirty="0">
                <a:latin typeface="Cambria"/>
                <a:cs typeface="Cambria"/>
              </a:rPr>
              <a:t>Cox and Cohen (2014) reflect on how infinitesimally small we are in relation to the universe, and, compared to eternity, how brief our lives.</a:t>
            </a:r>
          </a:p>
        </p:txBody>
      </p:sp>
    </p:spTree>
    <p:extLst>
      <p:ext uri="{BB962C8B-B14F-4D97-AF65-F5344CB8AC3E}">
        <p14:creationId xmlns:p14="http://schemas.microsoft.com/office/powerpoint/2010/main" val="3710012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Integral</a:t>
            </a:r>
          </a:p>
        </p:txBody>
      </p:sp>
      <p:sp>
        <p:nvSpPr>
          <p:cNvPr id="3" name="Content Placeholder 2"/>
          <p:cNvSpPr>
            <a:spLocks noGrp="1"/>
          </p:cNvSpPr>
          <p:nvPr>
            <p:ph idx="1"/>
          </p:nvPr>
        </p:nvSpPr>
        <p:spPr/>
        <p:txBody>
          <a:bodyPr>
            <a:normAutofit fontScale="92500" lnSpcReduction="10000"/>
          </a:bodyPr>
          <a:lstStyle/>
          <a:p>
            <a:r>
              <a:rPr lang="en-GB" dirty="0">
                <a:solidFill>
                  <a:schemeClr val="accent6"/>
                </a:solidFill>
              </a:rPr>
              <a:t>According to Peters (1983) </a:t>
            </a:r>
            <a:r>
              <a:rPr lang="en-GB" dirty="0"/>
              <a:t>evidence from first language acquisition indicates that lexical phrases are learnt first as unanalysed lexical chunks.</a:t>
            </a:r>
          </a:p>
          <a:p>
            <a:r>
              <a:rPr lang="en-GB" dirty="0"/>
              <a:t>(At end of essay) </a:t>
            </a:r>
          </a:p>
          <a:p>
            <a:r>
              <a:rPr lang="en-GB" u="sng" dirty="0"/>
              <a:t>References</a:t>
            </a:r>
          </a:p>
          <a:p>
            <a:r>
              <a:rPr lang="en-GB" sz="2800" dirty="0"/>
              <a:t>Peters, A. (1983). </a:t>
            </a:r>
            <a:r>
              <a:rPr lang="en-GB" sz="2800" i="1" dirty="0"/>
              <a:t>The units of language acquisition.</a:t>
            </a:r>
            <a:r>
              <a:rPr lang="en-GB" sz="2800" dirty="0"/>
              <a:t> Cambridge: Cambridge University Press.</a:t>
            </a:r>
          </a:p>
          <a:p>
            <a:r>
              <a:rPr lang="en-GB" sz="2800" dirty="0">
                <a:solidFill>
                  <a:srgbClr val="FF0000"/>
                </a:solidFill>
              </a:rPr>
              <a:t>NOTE: in Integral format author name needs to be </a:t>
            </a:r>
            <a:r>
              <a:rPr lang="en-GB" sz="2800" b="1" dirty="0">
                <a:solidFill>
                  <a:srgbClr val="FF0000"/>
                </a:solidFill>
              </a:rPr>
              <a:t>part of the sentence</a:t>
            </a:r>
            <a:r>
              <a:rPr lang="en-GB" sz="2800" dirty="0">
                <a:solidFill>
                  <a:srgbClr val="FF0000"/>
                </a:solidFill>
              </a:rPr>
              <a:t> </a:t>
            </a:r>
            <a:r>
              <a:rPr lang="en-GB" sz="2800" dirty="0" err="1">
                <a:solidFill>
                  <a:srgbClr val="FF0000"/>
                </a:solidFill>
              </a:rPr>
              <a:t>ie</a:t>
            </a:r>
            <a:r>
              <a:rPr lang="en-GB" sz="2800" dirty="0">
                <a:solidFill>
                  <a:srgbClr val="FF0000"/>
                </a:solidFill>
              </a:rPr>
              <a:t> NOT in brackets.</a:t>
            </a:r>
          </a:p>
          <a:p>
            <a:r>
              <a:rPr lang="en-GB" sz="2800" dirty="0">
                <a:solidFill>
                  <a:srgbClr val="FF0000"/>
                </a:solidFill>
              </a:rPr>
              <a:t>According to (Peters, 1983) INCORRECT</a:t>
            </a:r>
          </a:p>
          <a:p>
            <a:endParaRPr lang="en-GB" dirty="0"/>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pPr algn="l"/>
            <a:br>
              <a:rPr lang="en-GB" dirty="0"/>
            </a:br>
            <a:r>
              <a:rPr lang="en-GB" i="1" dirty="0"/>
              <a:t>Non-integral</a:t>
            </a:r>
            <a:br>
              <a:rPr lang="en-GB" dirty="0"/>
            </a:br>
            <a:endParaRPr lang="en-GB" dirty="0"/>
          </a:p>
        </p:txBody>
      </p:sp>
      <p:sp>
        <p:nvSpPr>
          <p:cNvPr id="5" name="Content Placeholder 4"/>
          <p:cNvSpPr>
            <a:spLocks noGrp="1"/>
          </p:cNvSpPr>
          <p:nvPr>
            <p:ph idx="1"/>
          </p:nvPr>
        </p:nvSpPr>
        <p:spPr/>
        <p:txBody>
          <a:bodyPr>
            <a:normAutofit fontScale="92500"/>
          </a:bodyPr>
          <a:lstStyle/>
          <a:p>
            <a:r>
              <a:rPr lang="en-GB" dirty="0"/>
              <a:t>Evidence from first language acquisition </a:t>
            </a:r>
            <a:r>
              <a:rPr lang="en-GB" dirty="0">
                <a:solidFill>
                  <a:schemeClr val="accent6"/>
                </a:solidFill>
              </a:rPr>
              <a:t>(Peters, 1983) </a:t>
            </a:r>
            <a:r>
              <a:rPr lang="en-GB" dirty="0"/>
              <a:t>indicates that lexical phrases are learnt first as unanalysed lexical chunks.</a:t>
            </a:r>
          </a:p>
          <a:p>
            <a:r>
              <a:rPr lang="en-GB" dirty="0"/>
              <a:t>Lexical phrases are learnt first as unanalysed lexical chunks </a:t>
            </a:r>
            <a:r>
              <a:rPr lang="en-GB" dirty="0">
                <a:solidFill>
                  <a:schemeClr val="accent6"/>
                </a:solidFill>
              </a:rPr>
              <a:t>(Peters, 1983).</a:t>
            </a:r>
          </a:p>
          <a:p>
            <a:endParaRPr lang="en-GB" dirty="0">
              <a:solidFill>
                <a:schemeClr val="accent6"/>
              </a:solidFill>
            </a:endParaRPr>
          </a:p>
          <a:p>
            <a:r>
              <a:rPr lang="en-GB" dirty="0">
                <a:solidFill>
                  <a:srgbClr val="FF0000"/>
                </a:solidFill>
              </a:rPr>
              <a:t>Note: Citation needs to be </a:t>
            </a:r>
            <a:r>
              <a:rPr lang="en-GB" b="1" dirty="0">
                <a:solidFill>
                  <a:srgbClr val="FF0000"/>
                </a:solidFill>
              </a:rPr>
              <a:t>next to the idea </a:t>
            </a:r>
            <a:r>
              <a:rPr lang="en-GB" dirty="0">
                <a:solidFill>
                  <a:srgbClr val="FF0000"/>
                </a:solidFill>
              </a:rPr>
              <a:t>being cited, not placed at the end of the paragraph- unless it relates to the last sentence!</a:t>
            </a:r>
          </a:p>
          <a:p>
            <a:pPr>
              <a:buNone/>
            </a:pPr>
            <a:endParaRPr lang="en-GB"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Secondary Sources</a:t>
            </a:r>
          </a:p>
        </p:txBody>
      </p:sp>
      <p:sp>
        <p:nvSpPr>
          <p:cNvPr id="3" name="Content Placeholder 2"/>
          <p:cNvSpPr>
            <a:spLocks noGrp="1"/>
          </p:cNvSpPr>
          <p:nvPr>
            <p:ph idx="1"/>
          </p:nvPr>
        </p:nvSpPr>
        <p:spPr/>
        <p:txBody>
          <a:bodyPr>
            <a:normAutofit/>
          </a:bodyPr>
          <a:lstStyle/>
          <a:p>
            <a:r>
              <a:rPr lang="en-GB" dirty="0"/>
              <a:t>According to Jones (1978) (as cited in Smith, 1982, p. 276), the ....</a:t>
            </a:r>
          </a:p>
          <a:p>
            <a:pPr>
              <a:buNone/>
            </a:pPr>
            <a:endParaRPr lang="en-GB" dirty="0"/>
          </a:p>
          <a:p>
            <a:pPr>
              <a:buNone/>
            </a:pPr>
            <a:r>
              <a:rPr lang="en-GB" dirty="0"/>
              <a:t>(At end of essay) </a:t>
            </a:r>
          </a:p>
          <a:p>
            <a:pPr>
              <a:buNone/>
            </a:pPr>
            <a:r>
              <a:rPr lang="en-GB" dirty="0"/>
              <a:t>References</a:t>
            </a:r>
          </a:p>
          <a:p>
            <a:r>
              <a:rPr lang="en-GB" dirty="0"/>
              <a:t>Smith, G. (1982) ‘The placebo effect’, </a:t>
            </a:r>
            <a:r>
              <a:rPr lang="en-GB" i="1" dirty="0"/>
              <a:t>Psychology Today, 18,</a:t>
            </a:r>
            <a:r>
              <a:rPr lang="en-GB" dirty="0"/>
              <a:t> pp 273-278.</a:t>
            </a:r>
          </a:p>
          <a:p>
            <a:endParaRPr lang="en-GB"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67544" y="1308824"/>
            <a:ext cx="8424936" cy="3970318"/>
          </a:xfrm>
          <a:prstGeom prst="rect">
            <a:avLst/>
          </a:prstGeom>
        </p:spPr>
        <p:txBody>
          <a:bodyPr wrap="square">
            <a:spAutoFit/>
          </a:bodyPr>
          <a:lstStyle/>
          <a:p>
            <a:pPr fontAlgn="base"/>
            <a:r>
              <a:rPr lang="en-GB" dirty="0">
                <a:latin typeface="Open Sans"/>
              </a:rPr>
              <a:t>Within your </a:t>
            </a:r>
            <a:r>
              <a:rPr lang="en-GB" b="1" dirty="0">
                <a:latin typeface="Open Sans"/>
              </a:rPr>
              <a:t>text cite name of contributory author </a:t>
            </a:r>
            <a:r>
              <a:rPr lang="en-GB" dirty="0">
                <a:latin typeface="Open Sans"/>
              </a:rPr>
              <a:t>(</a:t>
            </a:r>
            <a:r>
              <a:rPr lang="en-GB" dirty="0" err="1">
                <a:latin typeface="Open Sans"/>
              </a:rPr>
              <a:t>ie</a:t>
            </a:r>
            <a:r>
              <a:rPr lang="en-GB" dirty="0">
                <a:latin typeface="Open Sans"/>
              </a:rPr>
              <a:t> whoever wrote the chapter/essay/article) </a:t>
            </a:r>
            <a:r>
              <a:rPr lang="en-GB" b="1" dirty="0">
                <a:latin typeface="Open Sans"/>
              </a:rPr>
              <a:t>not</a:t>
            </a:r>
            <a:r>
              <a:rPr lang="en-GB" dirty="0">
                <a:latin typeface="Open Sans"/>
              </a:rPr>
              <a:t> the editor of the whole work.</a:t>
            </a:r>
          </a:p>
          <a:p>
            <a:pPr fontAlgn="base"/>
            <a:endParaRPr lang="en-GB" dirty="0">
              <a:latin typeface="Open Sans"/>
            </a:endParaRPr>
          </a:p>
          <a:p>
            <a:pPr fontAlgn="base"/>
            <a:r>
              <a:rPr lang="en-GB" dirty="0" err="1">
                <a:latin typeface="Open Sans"/>
              </a:rPr>
              <a:t>eg</a:t>
            </a:r>
            <a:br>
              <a:rPr lang="en-GB" dirty="0">
                <a:latin typeface="Open Sans"/>
              </a:rPr>
            </a:br>
            <a:br>
              <a:rPr lang="en-GB" dirty="0">
                <a:latin typeface="Open Sans"/>
              </a:rPr>
            </a:br>
            <a:r>
              <a:rPr lang="en-GB" b="1" dirty="0">
                <a:solidFill>
                  <a:srgbClr val="FF0000"/>
                </a:solidFill>
                <a:latin typeface="Open Sans"/>
              </a:rPr>
              <a:t>In his work on adolescents, Franklin (2012) states ...</a:t>
            </a:r>
          </a:p>
          <a:p>
            <a:pPr fontAlgn="base"/>
            <a:br>
              <a:rPr lang="en-GB" dirty="0">
                <a:latin typeface="Open Sans"/>
              </a:rPr>
            </a:br>
            <a:r>
              <a:rPr lang="en-GB" dirty="0">
                <a:latin typeface="Open Sans"/>
              </a:rPr>
              <a:t>In the reference list at the end of your document, you should include details of </a:t>
            </a:r>
            <a:r>
              <a:rPr lang="en-GB" b="1" dirty="0">
                <a:latin typeface="Open Sans"/>
              </a:rPr>
              <a:t>both the chapter author and the editor of the entire work</a:t>
            </a:r>
            <a:br>
              <a:rPr lang="en-GB" dirty="0">
                <a:latin typeface="Open Sans"/>
              </a:rPr>
            </a:br>
            <a:br>
              <a:rPr lang="en-GB" dirty="0">
                <a:latin typeface="Open Sans"/>
              </a:rPr>
            </a:br>
            <a:r>
              <a:rPr lang="en-GB" dirty="0" err="1">
                <a:latin typeface="Open Sans"/>
              </a:rPr>
              <a:t>eg</a:t>
            </a:r>
            <a:endParaRPr lang="en-GB" dirty="0">
              <a:latin typeface="Open Sans"/>
            </a:endParaRPr>
          </a:p>
          <a:p>
            <a:pPr fontAlgn="base"/>
            <a:endParaRPr lang="en-GB" b="1" dirty="0">
              <a:solidFill>
                <a:srgbClr val="FF0000"/>
              </a:solidFill>
              <a:latin typeface="Open Sans"/>
            </a:endParaRPr>
          </a:p>
          <a:p>
            <a:r>
              <a:rPr lang="en-GB" dirty="0"/>
              <a:t>Franklin, A.W. (2012) 'Management of the problem', in Smith, S.M. (ed.) </a:t>
            </a:r>
            <a:r>
              <a:rPr lang="en-GB" i="1" dirty="0"/>
              <a:t>The maltreatment of children</a:t>
            </a:r>
            <a:r>
              <a:rPr lang="en-GB" dirty="0"/>
              <a:t>. Lancaster: MTP, pp. 83–95.</a:t>
            </a:r>
          </a:p>
        </p:txBody>
      </p:sp>
      <p:sp>
        <p:nvSpPr>
          <p:cNvPr id="3" name="TextBox 2"/>
          <p:cNvSpPr txBox="1"/>
          <p:nvPr/>
        </p:nvSpPr>
        <p:spPr>
          <a:xfrm>
            <a:off x="467544" y="260648"/>
            <a:ext cx="5256584" cy="523220"/>
          </a:xfrm>
          <a:prstGeom prst="rect">
            <a:avLst/>
          </a:prstGeom>
          <a:noFill/>
        </p:spPr>
        <p:txBody>
          <a:bodyPr wrap="square" rtlCol="0">
            <a:spAutoFit/>
          </a:bodyPr>
          <a:lstStyle/>
          <a:p>
            <a:r>
              <a:rPr lang="en-GB" sz="2800" b="1" dirty="0"/>
              <a:t>Books of essays or articles</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urved Up Ribbon 6"/>
          <p:cNvSpPr/>
          <p:nvPr/>
        </p:nvSpPr>
        <p:spPr>
          <a:xfrm>
            <a:off x="395536" y="1556792"/>
            <a:ext cx="8424936" cy="1656184"/>
          </a:xfrm>
          <a:prstGeom prst="ellipseRibbon2">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 name="Title 1"/>
          <p:cNvSpPr>
            <a:spLocks noGrp="1"/>
          </p:cNvSpPr>
          <p:nvPr>
            <p:ph type="title" idx="4294967295"/>
          </p:nvPr>
        </p:nvSpPr>
        <p:spPr>
          <a:xfrm>
            <a:off x="446856" y="274638"/>
            <a:ext cx="8229600" cy="1143000"/>
          </a:xfrm>
        </p:spPr>
        <p:txBody>
          <a:bodyPr/>
          <a:lstStyle/>
          <a:p>
            <a:pPr algn="l"/>
            <a:r>
              <a:rPr lang="en-GB" dirty="0"/>
              <a:t>Using internet sources</a:t>
            </a:r>
          </a:p>
        </p:txBody>
      </p:sp>
      <p:sp>
        <p:nvSpPr>
          <p:cNvPr id="5" name="TextBox 4"/>
          <p:cNvSpPr txBox="1"/>
          <p:nvPr/>
        </p:nvSpPr>
        <p:spPr>
          <a:xfrm>
            <a:off x="467544" y="1052736"/>
            <a:ext cx="7992888" cy="4770537"/>
          </a:xfrm>
          <a:prstGeom prst="rect">
            <a:avLst/>
          </a:prstGeom>
          <a:noFill/>
        </p:spPr>
        <p:txBody>
          <a:bodyPr wrap="square" rtlCol="0">
            <a:spAutoFit/>
          </a:bodyPr>
          <a:lstStyle/>
          <a:p>
            <a:endParaRPr lang="en-GB" sz="4000" dirty="0">
              <a:solidFill>
                <a:schemeClr val="accent6">
                  <a:lumMod val="75000"/>
                </a:schemeClr>
              </a:solidFill>
            </a:endParaRPr>
          </a:p>
          <a:p>
            <a:pPr algn="ctr"/>
            <a:r>
              <a:rPr lang="en-GB" sz="3200" b="1" dirty="0">
                <a:solidFill>
                  <a:schemeClr val="accent6">
                    <a:lumMod val="75000"/>
                  </a:schemeClr>
                </a:solidFill>
              </a:rPr>
              <a:t>Treat internet sources</a:t>
            </a:r>
          </a:p>
          <a:p>
            <a:pPr algn="ctr"/>
            <a:r>
              <a:rPr lang="en-GB" sz="3200" b="1" dirty="0">
                <a:solidFill>
                  <a:schemeClr val="accent6">
                    <a:lumMod val="75000"/>
                  </a:schemeClr>
                </a:solidFill>
              </a:rPr>
              <a:t> like a book</a:t>
            </a:r>
          </a:p>
          <a:p>
            <a:endParaRPr lang="en-GB" sz="2000" dirty="0"/>
          </a:p>
          <a:p>
            <a:endParaRPr lang="en-GB" sz="2000" dirty="0"/>
          </a:p>
          <a:p>
            <a:endParaRPr lang="en-GB" sz="2000" dirty="0"/>
          </a:p>
          <a:p>
            <a:endParaRPr lang="en-GB" sz="2000" dirty="0"/>
          </a:p>
          <a:p>
            <a:r>
              <a:rPr lang="en-GB" sz="2000" dirty="0"/>
              <a:t>Include:</a:t>
            </a:r>
          </a:p>
          <a:p>
            <a:endParaRPr lang="en-GB" sz="2000" dirty="0"/>
          </a:p>
          <a:p>
            <a:pPr lvl="1">
              <a:buFont typeface="Arial" pitchFamily="34" charset="0"/>
              <a:buChar char="•"/>
            </a:pPr>
            <a:r>
              <a:rPr lang="en-GB" sz="2000" dirty="0"/>
              <a:t>Author</a:t>
            </a:r>
          </a:p>
          <a:p>
            <a:pPr lvl="1">
              <a:buFont typeface="Arial" pitchFamily="34" charset="0"/>
              <a:buChar char="•"/>
            </a:pPr>
            <a:r>
              <a:rPr lang="en-GB" sz="2000" dirty="0"/>
              <a:t>Date</a:t>
            </a:r>
          </a:p>
          <a:p>
            <a:pPr lvl="1">
              <a:buFont typeface="Arial" pitchFamily="34" charset="0"/>
              <a:buChar char="•"/>
            </a:pPr>
            <a:r>
              <a:rPr lang="en-GB" sz="2000" dirty="0"/>
              <a:t>(Page ref) – not usually possible</a:t>
            </a:r>
          </a:p>
          <a:p>
            <a:pPr lvl="1"/>
            <a:r>
              <a:rPr lang="en-GB" sz="2000" dirty="0"/>
              <a:t>   unless </a:t>
            </a:r>
            <a:r>
              <a:rPr lang="en-GB" sz="2000" dirty="0" err="1"/>
              <a:t>pdf</a:t>
            </a:r>
            <a:r>
              <a:rPr lang="en-GB" sz="2000" dirty="0"/>
              <a:t> or e-book</a:t>
            </a:r>
          </a:p>
        </p:txBody>
      </p:sp>
      <p:pic>
        <p:nvPicPr>
          <p:cNvPr id="18434" name="Picture 2" descr="http://ericblauer.spokanefavs.com/files/2014/02/Internet1.jpg"/>
          <p:cNvPicPr>
            <a:picLocks noChangeAspect="1" noChangeArrowheads="1"/>
          </p:cNvPicPr>
          <p:nvPr/>
        </p:nvPicPr>
        <p:blipFill>
          <a:blip r:embed="rId3" cstate="print"/>
          <a:srcRect/>
          <a:stretch>
            <a:fillRect/>
          </a:stretch>
        </p:blipFill>
        <p:spPr bwMode="auto">
          <a:xfrm>
            <a:off x="5148064" y="3573016"/>
            <a:ext cx="3646712" cy="2935604"/>
          </a:xfrm>
          <a:prstGeom prst="rect">
            <a:avLst/>
          </a:prstGeom>
          <a:noFill/>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Using internet sources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04386633"/>
              </p:ext>
            </p:extLst>
          </p:nvPr>
        </p:nvGraphicFramePr>
        <p:xfrm>
          <a:off x="395536" y="1484784"/>
          <a:ext cx="8229600" cy="2839720"/>
        </p:xfrm>
        <a:graphic>
          <a:graphicData uri="http://schemas.openxmlformats.org/drawingml/2006/table">
            <a:tbl>
              <a:tblPr firstRow="1" bandRow="1">
                <a:tableStyleId>{5C22544A-7EE6-4342-B048-85BDC9FD1C3A}</a:tableStyleId>
              </a:tblPr>
              <a:tblGrid>
                <a:gridCol w="4114800">
                  <a:extLst>
                    <a:ext uri="{9D8B030D-6E8A-4147-A177-3AD203B41FA5}">
                      <a16:colId xmlns:a16="http://schemas.microsoft.com/office/drawing/2014/main" val="20000"/>
                    </a:ext>
                  </a:extLst>
                </a:gridCol>
                <a:gridCol w="4114800">
                  <a:extLst>
                    <a:ext uri="{9D8B030D-6E8A-4147-A177-3AD203B41FA5}">
                      <a16:colId xmlns:a16="http://schemas.microsoft.com/office/drawing/2014/main" val="20001"/>
                    </a:ext>
                  </a:extLst>
                </a:gridCol>
              </a:tblGrid>
              <a:tr h="370840">
                <a:tc>
                  <a:txBody>
                    <a:bodyPr/>
                    <a:lstStyle/>
                    <a:p>
                      <a:r>
                        <a:rPr lang="en-GB" dirty="0"/>
                        <a:t>status</a:t>
                      </a:r>
                    </a:p>
                  </a:txBody>
                  <a:tcPr/>
                </a:tc>
                <a:tc>
                  <a:txBody>
                    <a:bodyPr/>
                    <a:lstStyle/>
                    <a:p>
                      <a:r>
                        <a:rPr lang="en-GB" dirty="0"/>
                        <a:t>In-text reference</a:t>
                      </a:r>
                    </a:p>
                  </a:txBody>
                  <a:tcPr/>
                </a:tc>
                <a:extLst>
                  <a:ext uri="{0D108BD9-81ED-4DB2-BD59-A6C34878D82A}">
                    <a16:rowId xmlns:a16="http://schemas.microsoft.com/office/drawing/2014/main" val="10000"/>
                  </a:ext>
                </a:extLst>
              </a:tr>
              <a:tr h="370840">
                <a:tc>
                  <a:txBody>
                    <a:bodyPr/>
                    <a:lstStyle/>
                    <a:p>
                      <a:r>
                        <a:rPr lang="en-GB" dirty="0"/>
                        <a:t>Document on www with author and date</a:t>
                      </a:r>
                    </a:p>
                  </a:txBody>
                  <a:tcPr/>
                </a:tc>
                <a:tc>
                  <a:txBody>
                    <a:bodyPr/>
                    <a:lstStyle/>
                    <a:p>
                      <a:r>
                        <a:rPr lang="en-GB" dirty="0"/>
                        <a:t>‘It’s essential</a:t>
                      </a:r>
                      <a:r>
                        <a:rPr lang="en-GB" baseline="0" dirty="0"/>
                        <a:t> you learn how to reference properly’ (Dawson et al, 2002)</a:t>
                      </a:r>
                      <a:endParaRPr lang="en-GB"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Article</a:t>
                      </a:r>
                      <a:r>
                        <a:rPr lang="en-GB" baseline="0" dirty="0"/>
                        <a:t> </a:t>
                      </a:r>
                      <a:r>
                        <a:rPr lang="en-GB" dirty="0"/>
                        <a:t>on www – no author</a:t>
                      </a:r>
                    </a:p>
                    <a:p>
                      <a:pPr marL="0" marR="0" indent="0" algn="l" defTabSz="914400" rtl="0" eaLnBrk="1" fontAlgn="auto" latinLnBrk="0" hangingPunct="1">
                        <a:lnSpc>
                          <a:spcPct val="100000"/>
                        </a:lnSpc>
                        <a:spcBef>
                          <a:spcPts val="0"/>
                        </a:spcBef>
                        <a:spcAft>
                          <a:spcPts val="0"/>
                        </a:spcAft>
                        <a:buClrTx/>
                        <a:buSzTx/>
                        <a:buFontTx/>
                        <a:buNone/>
                        <a:tabLst/>
                        <a:defRPr/>
                      </a:pPr>
                      <a:r>
                        <a:rPr lang="en-GB" dirty="0"/>
                        <a:t>Use name of article</a:t>
                      </a:r>
                    </a:p>
                    <a:p>
                      <a:endParaRPr lang="en-GB" dirty="0"/>
                    </a:p>
                  </a:txBody>
                  <a:tcPr/>
                </a:tc>
                <a:tc>
                  <a:txBody>
                    <a:bodyPr/>
                    <a:lstStyle/>
                    <a:p>
                      <a:r>
                        <a:rPr lang="en-GB" i="1" dirty="0"/>
                        <a:t>(Problems</a:t>
                      </a:r>
                      <a:r>
                        <a:rPr lang="en-GB" i="1" baseline="0" dirty="0"/>
                        <a:t> associated with ageing, </a:t>
                      </a:r>
                      <a:r>
                        <a:rPr lang="en-GB" dirty="0"/>
                        <a:t>2001)</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GB" dirty="0"/>
                        <a:t>Document on www, no title and no date</a:t>
                      </a:r>
                    </a:p>
                    <a:p>
                      <a:pPr marL="0" marR="0" indent="0" algn="l" defTabSz="914400" rtl="0" eaLnBrk="1" fontAlgn="auto" latinLnBrk="0" hangingPunct="1">
                        <a:lnSpc>
                          <a:spcPct val="100000"/>
                        </a:lnSpc>
                        <a:spcBef>
                          <a:spcPts val="0"/>
                        </a:spcBef>
                        <a:spcAft>
                          <a:spcPts val="0"/>
                        </a:spcAft>
                        <a:buClrTx/>
                        <a:buSzTx/>
                        <a:buFontTx/>
                        <a:buNone/>
                        <a:tabLst/>
                        <a:defRPr/>
                      </a:pPr>
                      <a:endParaRPr lang="en-GB" dirty="0"/>
                    </a:p>
                    <a:p>
                      <a:pPr marL="0" marR="0" indent="0" algn="l" defTabSz="914400" rtl="0" eaLnBrk="1" fontAlgn="auto" latinLnBrk="0" hangingPunct="1">
                        <a:lnSpc>
                          <a:spcPct val="100000"/>
                        </a:lnSpc>
                        <a:spcBef>
                          <a:spcPts val="0"/>
                        </a:spcBef>
                        <a:spcAft>
                          <a:spcPts val="0"/>
                        </a:spcAft>
                        <a:buClrTx/>
                        <a:buSzTx/>
                        <a:buFontTx/>
                        <a:buNone/>
                        <a:tabLst/>
                        <a:defRPr/>
                      </a:pPr>
                      <a:r>
                        <a:rPr lang="en-GB" dirty="0"/>
                        <a:t>Use name of website and </a:t>
                      </a:r>
                      <a:r>
                        <a:rPr lang="en-GB" dirty="0" err="1"/>
                        <a:t>nd</a:t>
                      </a:r>
                      <a:r>
                        <a:rPr lang="en-GB" dirty="0"/>
                        <a:t> (no date*)</a:t>
                      </a:r>
                    </a:p>
                  </a:txBody>
                  <a:tcPr/>
                </a:tc>
                <a:tc>
                  <a:txBody>
                    <a:bodyPr/>
                    <a:lstStyle/>
                    <a:p>
                      <a:r>
                        <a:rPr lang="en-GB" dirty="0"/>
                        <a:t>(RSPB, </a:t>
                      </a:r>
                      <a:r>
                        <a:rPr lang="en-GB" dirty="0" err="1"/>
                        <a:t>nd</a:t>
                      </a:r>
                      <a:r>
                        <a:rPr lang="en-GB" dirty="0"/>
                        <a:t>)</a:t>
                      </a:r>
                    </a:p>
                  </a:txBody>
                  <a:tcPr/>
                </a:tc>
                <a:extLst>
                  <a:ext uri="{0D108BD9-81ED-4DB2-BD59-A6C34878D82A}">
                    <a16:rowId xmlns:a16="http://schemas.microsoft.com/office/drawing/2014/main" val="10003"/>
                  </a:ext>
                </a:extLst>
              </a:tr>
            </a:tbl>
          </a:graphicData>
        </a:graphic>
      </p:graphicFrame>
      <p:pic>
        <p:nvPicPr>
          <p:cNvPr id="8193" name="Picture 1"/>
          <p:cNvPicPr>
            <a:picLocks noChangeAspect="1" noChangeArrowheads="1"/>
          </p:cNvPicPr>
          <p:nvPr/>
        </p:nvPicPr>
        <p:blipFill>
          <a:blip r:embed="rId3" cstate="print"/>
          <a:srcRect/>
          <a:stretch>
            <a:fillRect/>
          </a:stretch>
        </p:blipFill>
        <p:spPr bwMode="auto">
          <a:xfrm>
            <a:off x="5148064" y="4509120"/>
            <a:ext cx="3384376" cy="211523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428596" y="4857760"/>
            <a:ext cx="4214842" cy="369332"/>
          </a:xfrm>
          <a:prstGeom prst="rect">
            <a:avLst/>
          </a:prstGeom>
          <a:noFill/>
        </p:spPr>
        <p:txBody>
          <a:bodyPr wrap="square" rtlCol="0">
            <a:spAutoFit/>
          </a:bodyPr>
          <a:lstStyle/>
          <a:p>
            <a:r>
              <a:rPr lang="en-GB" dirty="0"/>
              <a:t>* Could also use 1996? Or 1990s?</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Harvard Referencing System</a:t>
            </a:r>
          </a:p>
        </p:txBody>
      </p:sp>
      <p:sp>
        <p:nvSpPr>
          <p:cNvPr id="3" name="Content Placeholder 2"/>
          <p:cNvSpPr>
            <a:spLocks noGrp="1"/>
          </p:cNvSpPr>
          <p:nvPr>
            <p:ph idx="1"/>
          </p:nvPr>
        </p:nvSpPr>
        <p:spPr>
          <a:xfrm>
            <a:off x="467544" y="1340768"/>
            <a:ext cx="8229600" cy="4525963"/>
          </a:xfrm>
        </p:spPr>
        <p:txBody>
          <a:bodyPr>
            <a:normAutofit fontScale="85000" lnSpcReduction="10000"/>
          </a:bodyPr>
          <a:lstStyle/>
          <a:p>
            <a:pPr>
              <a:buNone/>
            </a:pPr>
            <a:r>
              <a:rPr lang="en-GB" u="sng" dirty="0" err="1"/>
              <a:t>Intext</a:t>
            </a:r>
            <a:endParaRPr lang="en-GB" u="sng" dirty="0"/>
          </a:p>
          <a:p>
            <a:pPr>
              <a:buNone/>
            </a:pPr>
            <a:r>
              <a:rPr lang="en-GB" i="1" dirty="0"/>
              <a:t>Direct</a:t>
            </a:r>
          </a:p>
          <a:p>
            <a:r>
              <a:rPr lang="en-GB" dirty="0"/>
              <a:t>‘quote’ </a:t>
            </a:r>
            <a:r>
              <a:rPr lang="en-GB" dirty="0">
                <a:solidFill>
                  <a:schemeClr val="accent6"/>
                </a:solidFill>
              </a:rPr>
              <a:t>(Author’s surname, year of pub., page number)</a:t>
            </a:r>
          </a:p>
          <a:p>
            <a:pPr>
              <a:buNone/>
            </a:pPr>
            <a:r>
              <a:rPr lang="en-GB" i="1"/>
              <a:t>Indirect</a:t>
            </a:r>
            <a:endParaRPr lang="en-GB" i="1" dirty="0">
              <a:solidFill>
                <a:prstClr val="black"/>
              </a:solidFill>
            </a:endParaRPr>
          </a:p>
          <a:p>
            <a:pPr lvl="0"/>
            <a:r>
              <a:rPr lang="en-GB" dirty="0">
                <a:solidFill>
                  <a:prstClr val="black"/>
                </a:solidFill>
              </a:rPr>
              <a:t>Summary </a:t>
            </a:r>
            <a:r>
              <a:rPr lang="en-GB" dirty="0">
                <a:solidFill>
                  <a:srgbClr val="F79646"/>
                </a:solidFill>
              </a:rPr>
              <a:t>(Author’s surname, year of pub.)</a:t>
            </a:r>
          </a:p>
          <a:p>
            <a:pPr lvl="0"/>
            <a:r>
              <a:rPr lang="en-GB" dirty="0">
                <a:solidFill>
                  <a:prstClr val="black"/>
                </a:solidFill>
              </a:rPr>
              <a:t>Paraphrase</a:t>
            </a:r>
            <a:r>
              <a:rPr lang="en-GB" dirty="0">
                <a:solidFill>
                  <a:srgbClr val="F79646"/>
                </a:solidFill>
              </a:rPr>
              <a:t> (Author’s surname, year of pub., page number) </a:t>
            </a:r>
          </a:p>
          <a:p>
            <a:pPr>
              <a:buNone/>
            </a:pPr>
            <a:r>
              <a:rPr lang="en-GB" u="sng" dirty="0"/>
              <a:t>End </a:t>
            </a:r>
          </a:p>
          <a:p>
            <a:pPr>
              <a:buNone/>
            </a:pPr>
            <a:r>
              <a:rPr lang="en-GB" sz="2800" dirty="0"/>
              <a:t>In both cases you need to include a </a:t>
            </a:r>
            <a:r>
              <a:rPr lang="en-GB" sz="2800" dirty="0">
                <a:solidFill>
                  <a:schemeClr val="accent6"/>
                </a:solidFill>
              </a:rPr>
              <a:t>full reference </a:t>
            </a:r>
            <a:r>
              <a:rPr lang="en-GB" sz="2800" dirty="0"/>
              <a:t>at the end	</a:t>
            </a:r>
            <a:r>
              <a:rPr lang="en-GB"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t>Reference Lists and Bibliographies</a:t>
            </a:r>
          </a:p>
        </p:txBody>
      </p:sp>
      <p:sp>
        <p:nvSpPr>
          <p:cNvPr id="3" name="Content Placeholder 2"/>
          <p:cNvSpPr>
            <a:spLocks noGrp="1"/>
          </p:cNvSpPr>
          <p:nvPr>
            <p:ph idx="1"/>
          </p:nvPr>
        </p:nvSpPr>
        <p:spPr>
          <a:xfrm>
            <a:off x="457200" y="1196752"/>
            <a:ext cx="8229600" cy="5112568"/>
          </a:xfrm>
        </p:spPr>
        <p:txBody>
          <a:bodyPr>
            <a:normAutofit fontScale="92500" lnSpcReduction="10000"/>
          </a:bodyPr>
          <a:lstStyle/>
          <a:p>
            <a:r>
              <a:rPr lang="en-GB" dirty="0">
                <a:solidFill>
                  <a:schemeClr val="accent6"/>
                </a:solidFill>
              </a:rPr>
              <a:t>Reference Lists</a:t>
            </a:r>
            <a:r>
              <a:rPr lang="en-GB" dirty="0"/>
              <a:t>=sources you have referred to (cited) in the main body of your text</a:t>
            </a:r>
          </a:p>
          <a:p>
            <a:pPr lvl="0" defTabSz="457200">
              <a:buFont typeface="Arial"/>
              <a:buChar char="•"/>
            </a:pPr>
            <a:r>
              <a:rPr lang="en-US" dirty="0">
                <a:solidFill>
                  <a:prstClr val="black"/>
                </a:solidFill>
              </a:rPr>
              <a:t>All of the sources you have cited in your main body should be here</a:t>
            </a:r>
          </a:p>
          <a:p>
            <a:pPr marL="0" lvl="0" indent="0" defTabSz="457200">
              <a:buNone/>
            </a:pPr>
            <a:r>
              <a:rPr lang="en-US" dirty="0">
                <a:solidFill>
                  <a:prstClr val="black"/>
                </a:solidFill>
              </a:rPr>
              <a:t>And</a:t>
            </a:r>
          </a:p>
          <a:p>
            <a:pPr lvl="0" defTabSz="457200">
              <a:buFont typeface="Arial"/>
              <a:buChar char="•"/>
            </a:pPr>
            <a:r>
              <a:rPr lang="en-US" dirty="0">
                <a:solidFill>
                  <a:prstClr val="black"/>
                </a:solidFill>
              </a:rPr>
              <a:t>All of the sources listed here should be in your main body.</a:t>
            </a:r>
          </a:p>
          <a:p>
            <a:pPr lvl="0" defTabSz="457200">
              <a:buFont typeface="Arial"/>
              <a:buChar char="•"/>
            </a:pPr>
            <a:r>
              <a:rPr lang="en-US" dirty="0">
                <a:solidFill>
                  <a:srgbClr val="FF0000"/>
                </a:solidFill>
              </a:rPr>
              <a:t>If not, they should be!!</a:t>
            </a:r>
          </a:p>
          <a:p>
            <a:r>
              <a:rPr lang="en-GB" dirty="0">
                <a:solidFill>
                  <a:schemeClr val="accent6"/>
                </a:solidFill>
              </a:rPr>
              <a:t>Bibliography </a:t>
            </a:r>
            <a:r>
              <a:rPr lang="en-GB" dirty="0"/>
              <a:t>= reference list PLUS sources you have read but not referred to that may have </a:t>
            </a:r>
            <a:r>
              <a:rPr lang="en-GB" i="1" dirty="0"/>
              <a:t>shaped your thinking</a:t>
            </a:r>
          </a:p>
          <a:p>
            <a:pPr marL="0" indent="0">
              <a:buNone/>
            </a:pPr>
            <a:endParaRPr lang="en-GB"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US" dirty="0">
                <a:solidFill>
                  <a:srgbClr val="000090"/>
                </a:solidFill>
              </a:rPr>
              <a:t>Always include a reference list at the end!</a:t>
            </a:r>
          </a:p>
        </p:txBody>
      </p:sp>
      <p:sp>
        <p:nvSpPr>
          <p:cNvPr id="3" name="Content Placeholder 2"/>
          <p:cNvSpPr>
            <a:spLocks noGrp="1"/>
          </p:cNvSpPr>
          <p:nvPr>
            <p:ph idx="1"/>
          </p:nvPr>
        </p:nvSpPr>
        <p:spPr/>
        <p:txBody>
          <a:bodyPr/>
          <a:lstStyle/>
          <a:p>
            <a:r>
              <a:rPr lang="en-US" dirty="0"/>
              <a:t>All of the sources you have cited in your main body should be here</a:t>
            </a:r>
          </a:p>
          <a:p>
            <a:pPr marL="0" indent="0">
              <a:buNone/>
            </a:pPr>
            <a:r>
              <a:rPr lang="en-US" dirty="0"/>
              <a:t>And</a:t>
            </a:r>
          </a:p>
          <a:p>
            <a:r>
              <a:rPr lang="en-US" dirty="0"/>
              <a:t>All of the sources listed here should be in your main body</a:t>
            </a:r>
          </a:p>
          <a:p>
            <a:pPr marL="0" indent="0">
              <a:buNone/>
            </a:pPr>
            <a:r>
              <a:rPr lang="en-US" dirty="0"/>
              <a:t>If not, they should be!!</a:t>
            </a:r>
          </a:p>
          <a:p>
            <a:r>
              <a:rPr lang="en-US" dirty="0"/>
              <a:t>Sources should be listed A-Z by author’s surname</a:t>
            </a:r>
          </a:p>
        </p:txBody>
      </p:sp>
    </p:spTree>
    <p:extLst>
      <p:ext uri="{BB962C8B-B14F-4D97-AF65-F5344CB8AC3E}">
        <p14:creationId xmlns:p14="http://schemas.microsoft.com/office/powerpoint/2010/main" val="397203715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67544" y="2708920"/>
            <a:ext cx="8352928" cy="461665"/>
          </a:xfrm>
          <a:prstGeom prst="rect">
            <a:avLst/>
          </a:prstGeom>
          <a:noFill/>
        </p:spPr>
        <p:txBody>
          <a:bodyPr wrap="square" rtlCol="0">
            <a:spAutoFit/>
          </a:bodyPr>
          <a:lstStyle/>
          <a:p>
            <a:pPr>
              <a:buFont typeface="Arial" pitchFamily="34" charset="0"/>
              <a:buChar char="•"/>
            </a:pPr>
            <a:r>
              <a:rPr lang="en-GB" sz="2400" dirty="0" err="1">
                <a:solidFill>
                  <a:schemeClr val="accent6">
                    <a:lumMod val="50000"/>
                  </a:schemeClr>
                </a:solidFill>
              </a:rPr>
              <a:t>Baljon</a:t>
            </a:r>
            <a:r>
              <a:rPr lang="en-GB" sz="2400" dirty="0">
                <a:solidFill>
                  <a:schemeClr val="accent6">
                    <a:lumMod val="50000"/>
                  </a:schemeClr>
                </a:solidFill>
              </a:rPr>
              <a:t>, L. (1992) </a:t>
            </a:r>
            <a:r>
              <a:rPr lang="en-GB" sz="2400" i="1" dirty="0">
                <a:solidFill>
                  <a:schemeClr val="accent6">
                    <a:lumMod val="50000"/>
                  </a:schemeClr>
                </a:solidFill>
              </a:rPr>
              <a:t>Designing parks. </a:t>
            </a:r>
            <a:r>
              <a:rPr lang="en-GB" sz="2400" dirty="0">
                <a:solidFill>
                  <a:schemeClr val="accent6">
                    <a:lumMod val="50000"/>
                  </a:schemeClr>
                </a:solidFill>
              </a:rPr>
              <a:t>Woodbridge: Garden Art Press.</a:t>
            </a:r>
          </a:p>
        </p:txBody>
      </p:sp>
      <p:cxnSp>
        <p:nvCxnSpPr>
          <p:cNvPr id="8" name="Straight Arrow Connector 7"/>
          <p:cNvCxnSpPr/>
          <p:nvPr/>
        </p:nvCxnSpPr>
        <p:spPr>
          <a:xfrm>
            <a:off x="899592" y="1772816"/>
            <a:ext cx="216024" cy="1008112"/>
          </a:xfrm>
          <a:prstGeom prst="straightConnector1">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p:nvPr/>
        </p:nvCxnSpPr>
        <p:spPr>
          <a:xfrm flipV="1">
            <a:off x="1187624" y="3140968"/>
            <a:ext cx="504056" cy="1872208"/>
          </a:xfrm>
          <a:prstGeom prst="straightConnector1">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p:cNvCxnSpPr/>
          <p:nvPr/>
        </p:nvCxnSpPr>
        <p:spPr>
          <a:xfrm flipH="1">
            <a:off x="2267744" y="1268760"/>
            <a:ext cx="216024" cy="1512168"/>
          </a:xfrm>
          <a:prstGeom prst="straightConnector1">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p:cNvCxnSpPr/>
          <p:nvPr/>
        </p:nvCxnSpPr>
        <p:spPr>
          <a:xfrm flipH="1" flipV="1">
            <a:off x="3563888" y="3140968"/>
            <a:ext cx="432048" cy="2448272"/>
          </a:xfrm>
          <a:prstGeom prst="straightConnector1">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H="1">
            <a:off x="5508104" y="1268760"/>
            <a:ext cx="288032" cy="1440160"/>
          </a:xfrm>
          <a:prstGeom prst="straightConnector1">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flipV="1">
            <a:off x="6948264" y="3212976"/>
            <a:ext cx="360040" cy="2376264"/>
          </a:xfrm>
          <a:prstGeom prst="straightConnector1">
            <a:avLst/>
          </a:prstGeom>
          <a:ln w="28575">
            <a:solidFill>
              <a:schemeClr val="tx2">
                <a:lumMod val="75000"/>
              </a:schemeClr>
            </a:solidFill>
            <a:tailEnd type="arrow"/>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395536" y="1052736"/>
            <a:ext cx="1296144" cy="646331"/>
          </a:xfrm>
          <a:prstGeom prst="rect">
            <a:avLst/>
          </a:prstGeom>
          <a:noFill/>
        </p:spPr>
        <p:txBody>
          <a:bodyPr wrap="square" rtlCol="0">
            <a:spAutoFit/>
          </a:bodyPr>
          <a:lstStyle/>
          <a:p>
            <a:r>
              <a:rPr lang="en-GB" dirty="0"/>
              <a:t>Author’s surname</a:t>
            </a:r>
          </a:p>
        </p:txBody>
      </p:sp>
      <p:sp>
        <p:nvSpPr>
          <p:cNvPr id="27" name="TextBox 26"/>
          <p:cNvSpPr txBox="1"/>
          <p:nvPr/>
        </p:nvSpPr>
        <p:spPr>
          <a:xfrm>
            <a:off x="755576" y="5085184"/>
            <a:ext cx="792088" cy="369332"/>
          </a:xfrm>
          <a:prstGeom prst="rect">
            <a:avLst/>
          </a:prstGeom>
          <a:noFill/>
        </p:spPr>
        <p:txBody>
          <a:bodyPr wrap="square" rtlCol="0">
            <a:spAutoFit/>
          </a:bodyPr>
          <a:lstStyle/>
          <a:p>
            <a:r>
              <a:rPr lang="en-GB" dirty="0"/>
              <a:t>Initial</a:t>
            </a:r>
          </a:p>
        </p:txBody>
      </p:sp>
      <p:sp>
        <p:nvSpPr>
          <p:cNvPr id="28" name="TextBox 27"/>
          <p:cNvSpPr txBox="1"/>
          <p:nvPr/>
        </p:nvSpPr>
        <p:spPr>
          <a:xfrm>
            <a:off x="1619672" y="836712"/>
            <a:ext cx="2016224" cy="369332"/>
          </a:xfrm>
          <a:prstGeom prst="rect">
            <a:avLst/>
          </a:prstGeom>
          <a:noFill/>
        </p:spPr>
        <p:txBody>
          <a:bodyPr wrap="square" rtlCol="0">
            <a:spAutoFit/>
          </a:bodyPr>
          <a:lstStyle/>
          <a:p>
            <a:r>
              <a:rPr lang="en-GB" dirty="0"/>
              <a:t>Year of publication</a:t>
            </a:r>
          </a:p>
        </p:txBody>
      </p:sp>
      <p:sp>
        <p:nvSpPr>
          <p:cNvPr id="29" name="TextBox 28"/>
          <p:cNvSpPr txBox="1"/>
          <p:nvPr/>
        </p:nvSpPr>
        <p:spPr>
          <a:xfrm>
            <a:off x="3203848" y="5661248"/>
            <a:ext cx="1440160" cy="369332"/>
          </a:xfrm>
          <a:prstGeom prst="rect">
            <a:avLst/>
          </a:prstGeom>
          <a:noFill/>
        </p:spPr>
        <p:txBody>
          <a:bodyPr wrap="square" rtlCol="0">
            <a:spAutoFit/>
          </a:bodyPr>
          <a:lstStyle/>
          <a:p>
            <a:r>
              <a:rPr lang="en-GB" dirty="0"/>
              <a:t>Title of book</a:t>
            </a:r>
          </a:p>
        </p:txBody>
      </p:sp>
      <p:sp>
        <p:nvSpPr>
          <p:cNvPr id="30" name="TextBox 29"/>
          <p:cNvSpPr txBox="1"/>
          <p:nvPr/>
        </p:nvSpPr>
        <p:spPr>
          <a:xfrm>
            <a:off x="4932040" y="836712"/>
            <a:ext cx="2736304" cy="369332"/>
          </a:xfrm>
          <a:prstGeom prst="rect">
            <a:avLst/>
          </a:prstGeom>
          <a:noFill/>
        </p:spPr>
        <p:txBody>
          <a:bodyPr wrap="square" rtlCol="0">
            <a:spAutoFit/>
          </a:bodyPr>
          <a:lstStyle/>
          <a:p>
            <a:r>
              <a:rPr lang="en-GB" dirty="0"/>
              <a:t>Place of publication</a:t>
            </a:r>
          </a:p>
        </p:txBody>
      </p:sp>
      <p:sp>
        <p:nvSpPr>
          <p:cNvPr id="31" name="TextBox 30"/>
          <p:cNvSpPr txBox="1"/>
          <p:nvPr/>
        </p:nvSpPr>
        <p:spPr>
          <a:xfrm>
            <a:off x="5940152" y="5589240"/>
            <a:ext cx="2232248" cy="369332"/>
          </a:xfrm>
          <a:prstGeom prst="rect">
            <a:avLst/>
          </a:prstGeom>
          <a:noFill/>
        </p:spPr>
        <p:txBody>
          <a:bodyPr wrap="square" rtlCol="0">
            <a:spAutoFit/>
          </a:bodyPr>
          <a:lstStyle/>
          <a:p>
            <a:r>
              <a:rPr lang="en-GB" dirty="0"/>
              <a:t>Name of publisher</a:t>
            </a:r>
          </a:p>
        </p:txBody>
      </p:sp>
      <p:sp>
        <p:nvSpPr>
          <p:cNvPr id="16" name="TextBox 15"/>
          <p:cNvSpPr txBox="1"/>
          <p:nvPr/>
        </p:nvSpPr>
        <p:spPr>
          <a:xfrm>
            <a:off x="395536" y="188640"/>
            <a:ext cx="4464496" cy="461665"/>
          </a:xfrm>
          <a:prstGeom prst="rect">
            <a:avLst/>
          </a:prstGeom>
          <a:noFill/>
        </p:spPr>
        <p:txBody>
          <a:bodyPr wrap="square" rtlCol="0">
            <a:spAutoFit/>
          </a:bodyPr>
          <a:lstStyle/>
          <a:p>
            <a:r>
              <a:rPr lang="en-GB" sz="2400" b="1" dirty="0">
                <a:solidFill>
                  <a:srgbClr val="7030A0"/>
                </a:solidFill>
              </a:rPr>
              <a:t>Anatomy of a reference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1520" y="0"/>
            <a:ext cx="8229600" cy="1143000"/>
          </a:xfrm>
        </p:spPr>
        <p:txBody>
          <a:bodyPr/>
          <a:lstStyle/>
          <a:p>
            <a:pPr algn="l"/>
            <a:r>
              <a:rPr lang="en-GB" sz="2800" dirty="0"/>
              <a:t>References</a:t>
            </a:r>
          </a:p>
        </p:txBody>
      </p:sp>
      <p:sp>
        <p:nvSpPr>
          <p:cNvPr id="3" name="Content Placeholder 2"/>
          <p:cNvSpPr>
            <a:spLocks noGrp="1"/>
          </p:cNvSpPr>
          <p:nvPr>
            <p:ph idx="1"/>
          </p:nvPr>
        </p:nvSpPr>
        <p:spPr>
          <a:xfrm>
            <a:off x="323528" y="764704"/>
            <a:ext cx="8229600" cy="4525963"/>
          </a:xfrm>
        </p:spPr>
        <p:txBody>
          <a:bodyPr>
            <a:normAutofit fontScale="25000" lnSpcReduction="20000"/>
          </a:bodyPr>
          <a:lstStyle/>
          <a:p>
            <a:pPr>
              <a:buNone/>
            </a:pPr>
            <a:endParaRPr lang="en-GB" dirty="0"/>
          </a:p>
          <a:p>
            <a:r>
              <a:rPr lang="en-GB" sz="6400" dirty="0" err="1"/>
              <a:t>Andersson</a:t>
            </a:r>
            <a:r>
              <a:rPr lang="en-GB" sz="6400" dirty="0"/>
              <a:t>, S.-I. &amp; Hoyer, S. (2001) </a:t>
            </a:r>
            <a:r>
              <a:rPr lang="en-GB" sz="6400" i="1" dirty="0"/>
              <a:t>C.TH. Sorensen: Landscape Modernist</a:t>
            </a:r>
            <a:r>
              <a:rPr lang="en-GB" sz="6400" dirty="0"/>
              <a:t>. Copenhagen: The Danish  Architectural Press.</a:t>
            </a:r>
          </a:p>
          <a:p>
            <a:r>
              <a:rPr lang="en-GB" sz="6400" dirty="0" err="1"/>
              <a:t>Baljon</a:t>
            </a:r>
            <a:r>
              <a:rPr lang="en-GB" sz="6400" dirty="0"/>
              <a:t>, L. (1992) </a:t>
            </a:r>
            <a:r>
              <a:rPr lang="en-GB" sz="6400" i="1" dirty="0"/>
              <a:t>Designing Parks. </a:t>
            </a:r>
            <a:r>
              <a:rPr lang="en-GB" sz="6400" dirty="0"/>
              <a:t>Woodbridge: Garden Art Press.</a:t>
            </a:r>
          </a:p>
          <a:p>
            <a:r>
              <a:rPr lang="en-GB" sz="6400" dirty="0" err="1"/>
              <a:t>Berrizbeita</a:t>
            </a:r>
            <a:r>
              <a:rPr lang="en-GB" sz="6400" dirty="0"/>
              <a:t>, A. (2009) ‘Key Words and Phrases’, in </a:t>
            </a:r>
            <a:r>
              <a:rPr lang="en-GB" sz="6400" i="1" dirty="0"/>
              <a:t>Hargreaves: The Alchemy of Landscape Architecture. </a:t>
            </a:r>
            <a:r>
              <a:rPr lang="en-GB" sz="6400" dirty="0"/>
              <a:t>London: Thames and Hudson pp 60-65</a:t>
            </a:r>
          </a:p>
          <a:p>
            <a:r>
              <a:rPr lang="en-GB" sz="6400" dirty="0"/>
              <a:t>Campbell Kelly, L. (2009) ‘A Maximal Practice’, in </a:t>
            </a:r>
            <a:r>
              <a:rPr lang="en-GB" sz="6400" i="1" dirty="0"/>
              <a:t>Hargreaves: The Alchemy of Landscape Architecture. </a:t>
            </a:r>
            <a:r>
              <a:rPr lang="en-GB" sz="6400" dirty="0"/>
              <a:t>London: Thames and Hudson pp 286-291</a:t>
            </a:r>
          </a:p>
          <a:p>
            <a:r>
              <a:rPr lang="en-GB" sz="6400" dirty="0"/>
              <a:t>Google Maps (2011) Avail. at </a:t>
            </a:r>
            <a:r>
              <a:rPr lang="en-GB" sz="6400" dirty="0">
                <a:hlinkClick r:id="rId3"/>
              </a:rPr>
              <a:t>https://www.google.co.uk/maps/@52.7222303,-1.7373131,14.25z</a:t>
            </a:r>
            <a:r>
              <a:rPr lang="en-GB" sz="6400" dirty="0"/>
              <a:t>  [Accessed on 22/9/11]</a:t>
            </a:r>
          </a:p>
          <a:p>
            <a:r>
              <a:rPr lang="en-GB" sz="6400" dirty="0"/>
              <a:t>Hargreaves (no date) </a:t>
            </a:r>
            <a:r>
              <a:rPr lang="en-GB" sz="6400" i="1" dirty="0"/>
              <a:t>Philosophy. </a:t>
            </a:r>
            <a:r>
              <a:rPr lang="en-GB" sz="6400" dirty="0"/>
              <a:t>Avail at </a:t>
            </a:r>
            <a:r>
              <a:rPr lang="en-GB" sz="6400" dirty="0">
                <a:hlinkClick r:id="rId4"/>
              </a:rPr>
              <a:t>http://www.hargreaves.com/firm/Philosophy/</a:t>
            </a:r>
            <a:r>
              <a:rPr lang="en-GB" sz="6400" dirty="0"/>
              <a:t> [Accessed on  22/09/11]</a:t>
            </a:r>
          </a:p>
          <a:p>
            <a:r>
              <a:rPr lang="en-GB" sz="6400" dirty="0"/>
              <a:t>Hargreaves, G. (2009) ‘Introduction’, in </a:t>
            </a:r>
            <a:r>
              <a:rPr lang="en-GB" sz="6400" i="1" dirty="0"/>
              <a:t>Hargreaves: The Alchemy of Landscape Architecture. </a:t>
            </a:r>
            <a:r>
              <a:rPr lang="en-GB" sz="6400" dirty="0"/>
              <a:t>London: Thames and Hudson pp 6-8 </a:t>
            </a:r>
          </a:p>
          <a:p>
            <a:r>
              <a:rPr lang="en-GB" sz="6400" dirty="0"/>
              <a:t>Hargreaves, G. (2007) ‘Large Parks: A Designer’s Perspective’, in </a:t>
            </a:r>
            <a:r>
              <a:rPr lang="en-GB" sz="6400" dirty="0" err="1"/>
              <a:t>Czerniak</a:t>
            </a:r>
            <a:r>
              <a:rPr lang="en-GB" sz="6400" dirty="0"/>
              <a:t>, J. and Hargreaves, G. (</a:t>
            </a:r>
            <a:r>
              <a:rPr lang="en-GB" sz="6400" dirty="0" err="1"/>
              <a:t>eds</a:t>
            </a:r>
            <a:r>
              <a:rPr lang="en-GB" sz="6400" dirty="0"/>
              <a:t>) </a:t>
            </a:r>
            <a:r>
              <a:rPr lang="en-GB" sz="6400" i="1" dirty="0"/>
              <a:t>Large Parks</a:t>
            </a:r>
            <a:r>
              <a:rPr lang="en-GB" sz="6400" dirty="0"/>
              <a:t>. New York: Princeton Architectural Press, pp 121-173</a:t>
            </a:r>
          </a:p>
          <a:p>
            <a:r>
              <a:rPr lang="en-GB" sz="6400" dirty="0" err="1"/>
              <a:t>Johnson,P</a:t>
            </a:r>
            <a:r>
              <a:rPr lang="en-GB" sz="6400" dirty="0"/>
              <a:t>. &amp; </a:t>
            </a:r>
            <a:r>
              <a:rPr lang="en-GB" sz="6400" dirty="0" err="1"/>
              <a:t>Wigley</a:t>
            </a:r>
            <a:r>
              <a:rPr lang="en-GB" sz="6400" dirty="0"/>
              <a:t>, M. (1988) </a:t>
            </a:r>
            <a:r>
              <a:rPr lang="en-GB" sz="6400" i="1" dirty="0" err="1"/>
              <a:t>Deconstructivist</a:t>
            </a:r>
            <a:r>
              <a:rPr lang="en-GB" sz="6400" i="1" dirty="0"/>
              <a:t> Architecture</a:t>
            </a:r>
            <a:r>
              <a:rPr lang="en-GB" sz="6400" dirty="0"/>
              <a:t>. New York: Museum of Modern Art</a:t>
            </a:r>
          </a:p>
          <a:p>
            <a:r>
              <a:rPr lang="en-GB" sz="6400" dirty="0"/>
              <a:t>Project for public spaces (No date) </a:t>
            </a:r>
            <a:r>
              <a:rPr lang="en-GB" sz="6400" i="1" dirty="0"/>
              <a:t>Hall of Shame</a:t>
            </a:r>
            <a:r>
              <a:rPr lang="en-GB" sz="6400" dirty="0"/>
              <a:t>. Avail at </a:t>
            </a:r>
            <a:r>
              <a:rPr lang="en-GB" sz="6400" dirty="0">
                <a:hlinkClick r:id="rId5"/>
              </a:rPr>
              <a:t>http://www.pps.org/great_public_spaces/one?public_place_id=369</a:t>
            </a:r>
            <a:r>
              <a:rPr lang="en-GB" sz="6400" dirty="0"/>
              <a:t> [Accessed 27/09/11]</a:t>
            </a:r>
          </a:p>
          <a:p>
            <a:r>
              <a:rPr lang="en-GB" sz="6400" dirty="0"/>
              <a:t>Turner, T. (1994) </a:t>
            </a:r>
            <a:r>
              <a:rPr lang="en-GB" sz="6400" i="1" dirty="0"/>
              <a:t>A review of </a:t>
            </a:r>
            <a:r>
              <a:rPr lang="en-GB" sz="6400" i="1" dirty="0" err="1"/>
              <a:t>Parc</a:t>
            </a:r>
            <a:r>
              <a:rPr lang="en-GB" sz="6400" i="1" dirty="0"/>
              <a:t> de la Villette, Paris. Avail, at</a:t>
            </a:r>
            <a:r>
              <a:rPr lang="en-GB" sz="6400" dirty="0"/>
              <a:t> </a:t>
            </a:r>
            <a:r>
              <a:rPr lang="en-GB" sz="6400" i="1" dirty="0">
                <a:hlinkClick r:id="rId6"/>
              </a:rPr>
              <a:t>http://www.gardenvisit.com/history_theory/library_online_ebooks/architecture_city_as_landscape/review_parc_de_la_villette_tom_turner</a:t>
            </a:r>
            <a:r>
              <a:rPr lang="en-GB" sz="6400" dirty="0"/>
              <a:t>  [Accessed 27/09/11]</a:t>
            </a:r>
          </a:p>
          <a:p>
            <a:r>
              <a:rPr lang="en-GB" sz="6400" dirty="0" err="1"/>
              <a:t>Treib</a:t>
            </a:r>
            <a:r>
              <a:rPr lang="en-GB" sz="6400" dirty="0"/>
              <a:t>, M.(2001) ‘The Landscape of Loved Ones’, in  </a:t>
            </a:r>
            <a:r>
              <a:rPr lang="en-GB" sz="6400" dirty="0" err="1"/>
              <a:t>Wolschke-Bulmahn</a:t>
            </a:r>
            <a:r>
              <a:rPr lang="en-GB" sz="6400" dirty="0"/>
              <a:t>, J (</a:t>
            </a:r>
            <a:r>
              <a:rPr lang="en-GB" sz="6400" dirty="0" err="1"/>
              <a:t>ed</a:t>
            </a:r>
            <a:r>
              <a:rPr lang="en-GB" sz="6400" dirty="0"/>
              <a:t>) </a:t>
            </a:r>
            <a:r>
              <a:rPr lang="en-GB" sz="6400" i="1" dirty="0"/>
              <a:t>Places of </a:t>
            </a:r>
            <a:r>
              <a:rPr lang="en-GB" sz="6400" i="1" dirty="0" err="1"/>
              <a:t>commemoration:search</a:t>
            </a:r>
            <a:r>
              <a:rPr lang="en-GB" sz="6400" i="1" dirty="0"/>
              <a:t> for identity and landscape design</a:t>
            </a:r>
            <a:r>
              <a:rPr lang="en-GB" sz="6400" dirty="0"/>
              <a:t>. Washington: Dumbarton Oaks pp 81-105</a:t>
            </a:r>
          </a:p>
          <a:p>
            <a:pPr>
              <a:buNone/>
            </a:pPr>
            <a:endParaRPr lang="en-GB" sz="6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pic>
        <p:nvPicPr>
          <p:cNvPr id="1026" name="Picture 2">
            <a:hlinkClick r:id="rId3"/>
          </p:cNvPr>
          <p:cNvPicPr>
            <a:picLocks noGrp="1" noChangeAspect="1" noChangeArrowheads="1"/>
          </p:cNvPicPr>
          <p:nvPr>
            <p:ph idx="1"/>
          </p:nvPr>
        </p:nvPicPr>
        <p:blipFill>
          <a:blip r:embed="rId4" cstate="print"/>
          <a:srcRect/>
          <a:stretch>
            <a:fillRect/>
          </a:stretch>
        </p:blipFill>
        <p:spPr bwMode="auto">
          <a:xfrm>
            <a:off x="395536" y="260648"/>
            <a:ext cx="8525748" cy="5328592"/>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5" name="TextBox 4"/>
          <p:cNvSpPr txBox="1"/>
          <p:nvPr/>
        </p:nvSpPr>
        <p:spPr>
          <a:xfrm>
            <a:off x="251520" y="5939988"/>
            <a:ext cx="7200800" cy="369332"/>
          </a:xfrm>
          <a:prstGeom prst="rect">
            <a:avLst/>
          </a:prstGeom>
          <a:noFill/>
        </p:spPr>
        <p:txBody>
          <a:bodyPr wrap="square" rtlCol="0">
            <a:spAutoFit/>
          </a:bodyPr>
          <a:lstStyle/>
          <a:p>
            <a:r>
              <a:rPr lang="en-GB" dirty="0">
                <a:solidFill>
                  <a:srgbClr val="FF0000"/>
                </a:solidFill>
              </a:rPr>
              <a:t>Available on </a:t>
            </a:r>
            <a:r>
              <a:rPr lang="en-GB" dirty="0" err="1">
                <a:solidFill>
                  <a:srgbClr val="FF0000"/>
                </a:solidFill>
              </a:rPr>
              <a:t>Moodle</a:t>
            </a:r>
            <a:r>
              <a:rPr lang="en-GB" dirty="0">
                <a:solidFill>
                  <a:srgbClr val="FF0000"/>
                </a:solidFill>
              </a:rPr>
              <a:t> : </a:t>
            </a:r>
          </a:p>
        </p:txBody>
      </p:sp>
      <p:sp>
        <p:nvSpPr>
          <p:cNvPr id="6" name="Rectangle 5"/>
          <p:cNvSpPr/>
          <p:nvPr/>
        </p:nvSpPr>
        <p:spPr>
          <a:xfrm>
            <a:off x="2428860" y="5929330"/>
            <a:ext cx="4335354" cy="369332"/>
          </a:xfrm>
          <a:prstGeom prst="rect">
            <a:avLst/>
          </a:prstGeom>
        </p:spPr>
        <p:txBody>
          <a:bodyPr wrap="none">
            <a:spAutoFit/>
          </a:bodyPr>
          <a:lstStyle/>
          <a:p>
            <a:r>
              <a:rPr lang="en-GB" dirty="0">
                <a:hlinkClick r:id="rId5"/>
              </a:rPr>
              <a:t>http://www.citethemrightonline.com/Home</a:t>
            </a:r>
            <a:endParaRPr lang="en-GB"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dirty="0"/>
              <a:t>This covers much of the basics …and more!</a:t>
            </a:r>
          </a:p>
        </p:txBody>
      </p:sp>
      <p:sp>
        <p:nvSpPr>
          <p:cNvPr id="3" name="Content Placeholder 2"/>
          <p:cNvSpPr>
            <a:spLocks noGrp="1"/>
          </p:cNvSpPr>
          <p:nvPr>
            <p:ph idx="1"/>
          </p:nvPr>
        </p:nvSpPr>
        <p:spPr/>
        <p:txBody>
          <a:bodyPr/>
          <a:lstStyle/>
          <a:p>
            <a:r>
              <a:rPr lang="en-GB" dirty="0">
                <a:hlinkClick r:id="rId2"/>
              </a:rPr>
              <a:t>https://www.citethemrightonline.com/Basics/setting-out-citations</a:t>
            </a:r>
            <a:endParaRPr lang="en-GB" dirty="0"/>
          </a:p>
        </p:txBody>
      </p:sp>
    </p:spTree>
    <p:extLst>
      <p:ext uri="{BB962C8B-B14F-4D97-AF65-F5344CB8AC3E}">
        <p14:creationId xmlns:p14="http://schemas.microsoft.com/office/powerpoint/2010/main" val="5709124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778" name="Picture 2"/>
          <p:cNvPicPr>
            <a:picLocks noChangeAspect="1" noChangeArrowheads="1"/>
          </p:cNvPicPr>
          <p:nvPr/>
        </p:nvPicPr>
        <p:blipFill>
          <a:blip r:embed="rId3" cstate="print"/>
          <a:srcRect/>
          <a:stretch>
            <a:fillRect/>
          </a:stretch>
        </p:blipFill>
        <p:spPr bwMode="auto">
          <a:xfrm>
            <a:off x="107504" y="188640"/>
            <a:ext cx="8784976" cy="576064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
        <p:nvSpPr>
          <p:cNvPr id="4" name="TextBox 3"/>
          <p:cNvSpPr txBox="1"/>
          <p:nvPr/>
        </p:nvSpPr>
        <p:spPr>
          <a:xfrm>
            <a:off x="611560" y="6093296"/>
            <a:ext cx="8280920" cy="523220"/>
          </a:xfrm>
          <a:prstGeom prst="rect">
            <a:avLst/>
          </a:prstGeom>
          <a:noFill/>
        </p:spPr>
        <p:txBody>
          <a:bodyPr wrap="square" rtlCol="0">
            <a:spAutoFit/>
          </a:bodyPr>
          <a:lstStyle/>
          <a:p>
            <a:pPr algn="ctr"/>
            <a:r>
              <a:rPr lang="en-GB" sz="2800" b="1" dirty="0"/>
              <a:t>CITETHISFORME.COM</a:t>
            </a:r>
          </a:p>
        </p:txBody>
      </p:sp>
    </p:spTree>
    <p:extLst>
      <p:ext uri="{BB962C8B-B14F-4D97-AF65-F5344CB8AC3E}">
        <p14:creationId xmlns:p14="http://schemas.microsoft.com/office/powerpoint/2010/main" val="39291036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GB" dirty="0">
                <a:solidFill>
                  <a:srgbClr val="FF0000"/>
                </a:solidFill>
              </a:rPr>
              <a:t>Conclusion</a:t>
            </a:r>
          </a:p>
        </p:txBody>
      </p:sp>
      <p:sp>
        <p:nvSpPr>
          <p:cNvPr id="3" name="Content Placeholder 2"/>
          <p:cNvSpPr>
            <a:spLocks noGrp="1"/>
          </p:cNvSpPr>
          <p:nvPr>
            <p:ph idx="1"/>
          </p:nvPr>
        </p:nvSpPr>
        <p:spPr/>
        <p:txBody>
          <a:bodyPr/>
          <a:lstStyle/>
          <a:p>
            <a:r>
              <a:rPr lang="en-GB" dirty="0"/>
              <a:t>Direct and Indirect</a:t>
            </a:r>
          </a:p>
          <a:p>
            <a:r>
              <a:rPr lang="en-GB" dirty="0"/>
              <a:t>The 80:20 rule</a:t>
            </a:r>
          </a:p>
          <a:p>
            <a:r>
              <a:rPr lang="en-GB" dirty="0"/>
              <a:t>Always cite sources</a:t>
            </a:r>
          </a:p>
          <a:p>
            <a:r>
              <a:rPr lang="en-GB" dirty="0"/>
              <a:t>Use Harvard Ref System</a:t>
            </a:r>
          </a:p>
          <a:p>
            <a:r>
              <a:rPr lang="en-GB" dirty="0">
                <a:hlinkClick r:id="rId3"/>
              </a:rPr>
              <a:t>http://www.citethemrightonline.com/Home</a:t>
            </a:r>
            <a:endParaRPr lang="en-GB" dirty="0"/>
          </a:p>
        </p:txBody>
      </p:sp>
      <p:pic>
        <p:nvPicPr>
          <p:cNvPr id="26626" name="Picture 2" descr="http://www.clan10.com/forum_MEGAMODS/smileys/emote_Borat_thumbsUp.gif"/>
          <p:cNvPicPr>
            <a:picLocks noChangeAspect="1" noChangeArrowheads="1"/>
          </p:cNvPicPr>
          <p:nvPr/>
        </p:nvPicPr>
        <p:blipFill>
          <a:blip r:embed="rId4" cstate="print"/>
          <a:srcRect/>
          <a:stretch>
            <a:fillRect/>
          </a:stretch>
        </p:blipFill>
        <p:spPr bwMode="auto">
          <a:xfrm>
            <a:off x="6804248" y="5085184"/>
            <a:ext cx="2111261" cy="1772816"/>
          </a:xfrm>
          <a:prstGeom prst="rect">
            <a:avLst/>
          </a:prstGeom>
          <a:noFill/>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POINTS" val="1"/>
  <p:tag name="TIME" val="15"/>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4.xml><?xml version="1.0" encoding="utf-8"?>
<a:theme xmlns:a="http://schemas.openxmlformats.org/drawingml/2006/main" name="3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5.xml><?xml version="1.0" encoding="utf-8"?>
<a:theme xmlns:a="http://schemas.openxmlformats.org/drawingml/2006/main" name="4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Civic</Template>
  <TotalTime>1434</TotalTime>
  <Words>2442</Words>
  <Application>Microsoft Office PowerPoint</Application>
  <PresentationFormat>On-screen Show (4:3)</PresentationFormat>
  <Paragraphs>283</Paragraphs>
  <Slides>42</Slides>
  <Notes>26</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42</vt:i4>
      </vt:variant>
    </vt:vector>
  </HeadingPairs>
  <TitlesOfParts>
    <vt:vector size="51" baseType="lpstr">
      <vt:lpstr>Arial</vt:lpstr>
      <vt:lpstr>Calibri</vt:lpstr>
      <vt:lpstr>Cambria</vt:lpstr>
      <vt:lpstr>Open Sans</vt:lpstr>
      <vt:lpstr>Office Theme</vt:lpstr>
      <vt:lpstr>1_Office Theme</vt:lpstr>
      <vt:lpstr>2_Office Theme</vt:lpstr>
      <vt:lpstr>3_Office Theme</vt:lpstr>
      <vt:lpstr>4_Office Theme</vt:lpstr>
      <vt:lpstr>Referencing and Bibliographies </vt:lpstr>
      <vt:lpstr>PowerPoint Presentation</vt:lpstr>
      <vt:lpstr>Always cite your sources</vt:lpstr>
      <vt:lpstr>Take note of the Turnitin Similarity score!</vt:lpstr>
      <vt:lpstr>PowerPoint Presentation</vt:lpstr>
      <vt:lpstr>PowerPoint Presentation</vt:lpstr>
      <vt:lpstr>Take a look at this:</vt:lpstr>
      <vt:lpstr>Take a look at this:</vt:lpstr>
      <vt:lpstr>And Turnitin has included the reference list:</vt:lpstr>
      <vt:lpstr>PowerPoint Presentation</vt:lpstr>
      <vt:lpstr>PowerPoint Presentation</vt:lpstr>
      <vt:lpstr>PowerPoint Presentation</vt:lpstr>
      <vt:lpstr>PowerPoint Presentation</vt:lpstr>
      <vt:lpstr>How to avoid Plagiarism: Direct Quotation</vt:lpstr>
      <vt:lpstr>Quotations- different arrangements</vt:lpstr>
      <vt:lpstr>Reasons for using direct quotations:  </vt:lpstr>
      <vt:lpstr>Missing out or adding words</vt:lpstr>
      <vt:lpstr>Missing out or adding words</vt:lpstr>
      <vt:lpstr>Quote within a quote (nested quote)</vt:lpstr>
      <vt:lpstr>Long quotes: Formatting</vt:lpstr>
      <vt:lpstr>Overlong quotes do not work!</vt:lpstr>
      <vt:lpstr>Use a mix of direct, summary and paraphrase</vt:lpstr>
      <vt:lpstr>Reasons for not using quotations:  </vt:lpstr>
      <vt:lpstr>PowerPoint Presentation</vt:lpstr>
      <vt:lpstr>Indirect Quotation</vt:lpstr>
      <vt:lpstr>How to avoid Plagiarism</vt:lpstr>
      <vt:lpstr>How to avoid Plagiarism: Indirect Citation</vt:lpstr>
      <vt:lpstr>Integral</vt:lpstr>
      <vt:lpstr> Non-integral </vt:lpstr>
      <vt:lpstr>Secondary Sources</vt:lpstr>
      <vt:lpstr>PowerPoint Presentation</vt:lpstr>
      <vt:lpstr>Using internet sources</vt:lpstr>
      <vt:lpstr>Using internet sources</vt:lpstr>
      <vt:lpstr>Harvard Referencing System</vt:lpstr>
      <vt:lpstr>Reference Lists and Bibliographies</vt:lpstr>
      <vt:lpstr>Always include a reference list at the end!</vt:lpstr>
      <vt:lpstr>PowerPoint Presentation</vt:lpstr>
      <vt:lpstr>References</vt:lpstr>
      <vt:lpstr>PowerPoint Presentation</vt:lpstr>
      <vt:lpstr>This covers much of the basics …and more!</vt:lpstr>
      <vt:lpstr>PowerPoint Presentation</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Citing Sources</dc:title>
  <dc:creator>computer</dc:creator>
  <cp:lastModifiedBy>mark unwin</cp:lastModifiedBy>
  <cp:revision>88</cp:revision>
  <dcterms:created xsi:type="dcterms:W3CDTF">2009-03-19T12:02:00Z</dcterms:created>
  <dcterms:modified xsi:type="dcterms:W3CDTF">2020-10-19T08:57:13Z</dcterms:modified>
</cp:coreProperties>
</file>